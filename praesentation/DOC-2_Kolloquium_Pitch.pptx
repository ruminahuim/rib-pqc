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bis 0:45. NICHT mit Begruessung starten, direkt der Satz auf der Folie, langsam, Pause nach 'gespeichert sein'.
SPRECHTEXT: Alles, was Sie heute Morgen ueber dieses WLAN gesendet haben, kann bereits abgefangen und gespeichert worden sein. Nicht um es heute zu lesen. Sondern um es in ein paar Jahren zu entschluesseln, wenn Quantencomputer so weit sind. Das hat einen Namen: Harvest Now, Decrypt Later. Geheimdienste und Kriminelle sammeln heute verschluesselte Daten auf Vorrat. Guten Morgen, ich bin Dodoe, und ich zeige Ihnen in den naechsten 10 Minuten ein Login-System, das dagegen schon heute immun ist. Und Sie koennen es gleich selbst auf Ihrem Handy ausprobieren.
HINWEIS: Falls Publikum Expo Go noch nicht installiert hat, jetzt schon ankuendigen: 'Wer mitmachen will: Laden Sie schon mal die App Expo Go aus dem App Store, wir brauchen sie in 5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bis 1:45.
SPRECHTEXT: Warum ist das ein Problem? Praktisch alles, was heute verschluesselt ist, basiert auf RSA oder elliptischen Kurven. Deren Sicherheit beruht darauf, dass eine bestimmte Rechenaufgabe fuer normale Computer Jahrmillionen dauert. Peter Shor hat schon 1994 gezeigt: Ein Quantencomputer loest genau diese Aufgabe effizient. Solche Maschinen existieren im Labor, die Frage ist nur, wann sie gross genug sind. Und hier kommt der fiese Teil, rechts auf der Folie: Ein Angreifer muss gar nicht warten. Er schneidet heute mit, speichert billig, und entschluesselt spaeter. Alles, was heute uebers Netz geht und in zehn Jahren noch vertraulich sein soll, ist JETZT das Problem: Gesundheitsdaten, Vertraege, Identitaeten.
PUBLIKUM: einfach halten, keine Mathematik. Der Satz 'nicht ob, sondern wann' ist die Kernbotschaft.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1:45 bis 2:45.
SPRECHTEXT: Meine Semesterarbeit ist ein vollstaendiges Login-System, das gegen diese Bedrohung gebaut ist. Eine iPhone-App, ein Python-Backend, dazwischen ein TLS-Gateway. Das Besondere: Die gesamte Kryptografie basiert auf den neuen Post-Quantum-Standards, die das amerikanische NIST im Sommer 2024 nach achtjaehrigem Wettbewerb finalisiert hat. ML-KEM fuer den Schluesseltausch, ML-DSA fuer digitale Signaturen, beides basiert auf Gitter-Mathematik, an der auch Quantencomputer scheitern. Dazu AES-256, das als quantensicher gilt. Das ist keine Forschungs-Spielerei: Das sind die Standards, auf die die ganze Industrie gerade migriert. Ich habe sie in ein komplettes, funktionierendes System integriert.
FALLS FRAGE 'warum eigenes System statt Keycloak': kommt in Q&amp;A-Notizen.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2:45 bis 3:45.
SPRECHTEXT: Wie schuetzt das System konkret? Auf zwei unabhaengigen Schichten. Schicht 1 ist der Transport: TLS, das Schloss-Symbol im Browser, aber mit hybridem Post-Quantum-Schluesseltausch. Das koennen moderne Browser seit 2024, und seit iOS 26 auch das iPhone, das zeige ich Ihnen gleich live. Schicht 2 ist meine eigentliche Kernarbeit: ein eigener verschluesselter Kanal INNERHALB der App. Die App und der Server vereinbaren ueber ML-KEM-768 einen gemeinsamen Schluessel, und jede einzelne Anfrage wird damit verschluesselt, inklusive Schutz gegen Wiederholungs-Angriffe. Der Clou: Diese Schicht funktioniert auf jedem Geraet, egal ob das Betriebssystem schon PQ-TLS kann oder nicht, und sie schuetzt weiter, wo TLS endet, naemlich hinter dem Load-Balancer. Und die Identitaet selbst, der Login-Nachweis, ist mit ML-DSA-65 quantensicher signiert. Faellt eine Schicht, haelt die andere.
WICHTIG: 'Kernarbeit = Schicht 2' betonen, das ist die Eigenleistung.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3:45 bis 7:15. Der Kern der Praesentation. Ablauf strikt einhalten, max 3.5 Minuten.
VORBEREITUNG (vor der Praesi, siehe Runbook): Stack laeuft, Metro laeuft, Wireshark mitschneidend im Hintergrund, eigenes iPhone eingeloggt als Fallback.
ABLAUF:
1. (30s) QR zeigen, Experten scannen. Waehrend die App laedt WEITERSPRECHEN, nicht warten: 'Waehrend das laedt: Die App laeuft auf meinem Notebook hier vorne, Ihr Handy verbindet sich direkt damit.'
2. (60s) Experten loggen sich ein, sehen Home-Screen: Identitaet gruen (ML-DSA-65), Kanal amber. Dann sagen: 'Oeffnen Sie Ihr Profil.' Jetzt passiert der ML-KEM-Handshake live. Zurueck auf Home: Kanal gruen, ML-KEM-768 plus Session-ID. Erklaeren: 'In dem Moment hat Ihr Handy mit meinem Server einen quantensicheren Schluessel getauscht. Ihre Profildaten kamen AES-256-verschluesselt.'
3. (60s) BEWEIS am Beamer: Wireshark zeigen (naechste Folie als Ueberleitung). Den POST /api/profile suchen, Follow HTTP Stream: 'Das hier hat ein Angreifer im WLAN gesehen: die Metadaten lesbar, der Inhalt nur Rauschen.'
4. (30s) Bonus iOS-26-TLS: nginx-Log-Zeile mit X25519MLKEM768 vom Safari-Request zeigen (vorbereitet oder live).
FALLBACKS: Wenn Publikums-Handy klemmt: eigenes iPhone zeigen (ist eingeloggt). Wenn Netzwerk komplett klemmt: Screenshots aus dem Backup-Ordner plus Terminal-Demo (python -m scripts.demo_d008 im Container, zeigt alle 8 Schritte inkl. Replay-Block).
Demo-User: demo@example.com / demo-passwort-12345. Zweiter User falls noetig: demo2@example.com (vorher anlegen!).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Teil der Demo (bis 7:15). Diese Folie ist die Rueckfall-Ebene, falls du Wireshark nicht live zeigen kannst oder als Zusammenfassung NACH dem Live-Wireshark.
SPRECHTEXT: Das links ist der echte Mitschnitt: Ein Angreifer im gleichen WLAN sieht, DASS kommuniziert wird, aber der Inhalt ist reiner Ciphertext. Und das rechts ist die Log-Zeile meines Servers vom Safari-Aufruf meines iPhones: TLS 1.3 mit X25519MLKEM768, das ist der hybride Post-Quantum-Schluesseltausch. Mein iPhone mit iOS 26 spricht das bereits von Haus aus.
OPTIONAL HEUTE FRUEH: Ersetze die linke Karte durch einen echten Wireshark-Screenshot von deinem Testlauf (Bild einfach drueberlegen: Einfuegen &gt; Bild). Funktioniert aber auch stilisiert.
HINWEIS falls Log '0x11ec' statt 'X25519MLKEM768' zeigt: 0x11ec IST die offizielle Codepoint-ID von X25519MLKEM768, kannst du souveraen erklaeren (aeltere nginx-Versionen kennen den Klarnamen noch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7:15 bis 8:00.
SPRECHTEXT: Der haeufigste Einwand gegen Post-Quantum-Krypto ist: zu langsam, zu teuer. Meine Messungen sagen etwas anderes. Der komplette quantensichere Schluesseltausch: unter 5 Millisekunden, hundertmal schneller als mein Ziel. Einen Login-Nachweis pruefen: eine halbe Millisekunde. Und die Verschluesselung jeder einzelnen Anfrage kostet 0.2 Millisekunden, das ist weniger, als der Web-Server fuers reine Anfrage-Handling braucht. Quantensicherheit ist heute kein Performance-Problem mehr. Und damit das nicht nur behauptet ist: Alle Benchmark-Skripte liegen im Repository, und das ganze System ist mit 420 automatisierten Tests abgesichert, die heute Nacht alle gruen durchgelaufen sind.
ZAHLEN-HERKUNFT falls nachgefragt: Session-Init P95 4.77ms (n=100), Token-Verify P50 0.54ms inkl. Parsing (n=1000), AES-GCM P50 0.22ms encrypt+decrypt, ASGI-Baseline 0.75ms. docs/14_performance_results.md.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8:00 bis 9:00. Das ist die Reflexions-Folie, wichtig fuer Bewertungskriterium 5.
SPRECHTEXT: Jetzt die ehrliche Frage: Braucht jede App eine selbstgebaute Post-Quantum-Schicht? Nein. Und das gehoert zu einer sauberen Ingenieur-Arbeit dazu. Links: Der Markt loest das Transport-Problem gerade selbst. Browser koennen es, iOS 26 kann es, Sie haben es vorhin live gesehen. Wer eine normale App baut, faehrt am besten damit, diesen Rollout zu nutzen, eigene Krypto ist immer ein Risiko. Aber, rechts: Es gibt drei gute Gruende fuer eine eigene Schicht. Android kann es heute schlicht noch nicht. TLS endet am Load-Balancer, dahinter ist ohne eigene Schicht Schluss mit Schutz. Und wer Daten hat, die in zehn Jahren noch vertraulich sein muessen, kann nicht warten, Harvest Now, Decrypt Later. Die Referenz dafuer: Signal und Apples iMessage haben ihre Post-Quantum-Verschluesselung genau so gebaut, auf Applikationsebene. Mein Projekt demonstriert beide Wege in einem System.
Bei Nachfrage zur urspruenglichen Annahme: Als ich das Projekt plante, konnte auch iOS noch kein PQ-TLS aus Apps heraus (Befund R-T08 im Risk-Register). iOS 26 hat das waehrend der Projektlaufzeit geaendert, das habe ich diese Woche verifiziert und dokumentiert. So schnell bewegt sich das Feld.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9:00 bis 10:00. Ruhig abschliessen, Blickkontakt.
SPRECHTEXT: Ich fasse zusammen. Die Bedrohung ist real und sie betrifft Daten von heute, nicht von morgen. Die Standards sind fertig, die Performance ist kein Argument mehr, und dass es praktisch funktioniert, haben Sie nicht mir geglaubt, sondern selbst auf Ihrem Handy gesehen. Entstanden ist das in vier Scrum-Sprints als Einzelarbeit, mit ueber sechzig User Stories, 420 Tests und vollstaendiger Dokumentation im Repository. Quantensicherheit ist kein Zukunftsprojekt. Sie lief gerade auf Ihrem Handy. Vielen Dank, ich freue mich auf Ihre Fragen.
DANACH: 5 Minuten Fragen. Q&amp;A-Vorbereitungsdokument durchgehen (praesentation/QA_Fragen_Antworten.md). Backup-Folien liegen hinter dieser: B1 Handshake im Detail, B2 Qualitaet und offene Punkte, B3 Projektvorgehen.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technische Fragen (Wie funktioniert der Handshake genau? Was ist Encapsulation? Wo ist der Replay-Schutz?).
Stichworte: ML-KEM ist ein KEM, kein klassischer Diffie-Hellman: Der Server kapselt ein Shared Secret gegen den Public Key der App ein. HKDF mit Session-ID als Salt und Domain-Separation-Info 'app-session-v1'. AAD bindet den Ciphertext an die Session. Nonce-Tracking atomar in Redis (SET NX EX). Wire-Format vollstaendig spezifiziert in docs/wire_format.md.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Sicherheits- und Qualitaetsfragen. Die rechte Spalte proaktiv nutzen, wenn Experten nach Schwaechen fragen: Offenheit ist hier die Staerke.
F-142: unterschiedliche HTTP-Codes (400 vs 401) verraten, ob eine Session-ID existiert. Bewusst nicht im Endspurt gefixt (Regression-Risiko vor Demo), sauber als Jira-Story SEC-6 geplant, Impact geht ueber Server, App und Wire-Format.
Timing-Fix: Der Dummy-Passwort-Hash nutzte fixe Parameter; wenn konfigurierte Argon2-Parameter abwichen, war unbekannte-Email vs falsches-Passwort messbar (270ms vs 22ms). Gefixt: Dummy-Hash wird pro Instanz mit den echten Parametern erzeugt.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den Projektmanagement-Experten.
Stichworte bei Nachfragen: Velocity ueber die Sprints gestiegen (Hook-First-Pattern: Foundation-Story zuerst, dann laufen Folge-Stories schnell). Sprint 3 war ferienbedingt schwaecher, ehrlich in der Retro dokumentiert, Carry-Over via Day-Marathon in Sprint 4 aufgeholt. Mentor-Feedback vom 20.06 (Commit-Nachvollziehbarkeit bei AI-Arbeit) als zentrale Lesson im Reflexions-Kapitel. Zeit-Tracking pro Story in Jira-Worklogs plus Daily-Journal-Tabellen.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640080" y="868680"/>
            <a:ext cx="7863840" cy="2103120"/>
          </a:xfrm>
          <a:prstGeom prst="rect">
            <a:avLst/>
          </a:prstGeom>
          <a:noFill/>
          <a:ln/>
        </p:spPr>
        <p:txBody>
          <a:bodyPr wrap="square" rtlCol="0" anchor="t"/>
          <a:lstStyle/>
          <a:p>
            <a:pPr algn="l" indent="0" marL="0">
              <a:lnSpc>
                <a:spcPct val="115000"/>
              </a:lnSpc>
              <a:buNone/>
            </a:pPr>
            <a:r>
              <a:rPr lang="en-US" sz="2600" b="1" dirty="0">
                <a:solidFill>
                  <a:srgbClr val="FFFFFF"/>
                </a:solidFill>
                <a:latin typeface="Cambria" pitchFamily="34" charset="0"/>
                <a:ea typeface="Cambria" pitchFamily="34" charset="-122"/>
                <a:cs typeface="Cambria" pitchFamily="34" charset="-120"/>
              </a:rPr>
              <a:t>Alles, was Sie heute ueber dieses WLAN gesendet haben,</a:t>
            </a:r>
            <a:endParaRPr lang="en-US" sz="2600" dirty="0"/>
          </a:p>
          <a:p>
            <a:pPr algn="l" indent="0" marL="0">
              <a:lnSpc>
                <a:spcPct val="115000"/>
              </a:lnSpc>
              <a:buNone/>
            </a:pPr>
            <a:r>
              <a:rPr lang="en-US" sz="2600" b="1" dirty="0">
                <a:solidFill>
                  <a:srgbClr val="21C08B"/>
                </a:solidFill>
                <a:latin typeface="Cambria" pitchFamily="34" charset="0"/>
                <a:ea typeface="Cambria" pitchFamily="34" charset="-122"/>
                <a:cs typeface="Cambria" pitchFamily="34" charset="-120"/>
              </a:rPr>
              <a:t>kann bereits abgefangen und gespeichert sein.</a:t>
            </a:r>
            <a:endParaRPr lang="en-US" sz="2600" dirty="0"/>
          </a:p>
        </p:txBody>
      </p:sp>
      <p:sp>
        <p:nvSpPr>
          <p:cNvPr id="3" name="Text 1"/>
          <p:cNvSpPr/>
          <p:nvPr/>
        </p:nvSpPr>
        <p:spPr>
          <a:xfrm>
            <a:off x="640080" y="3063240"/>
            <a:ext cx="7863840" cy="457200"/>
          </a:xfrm>
          <a:prstGeom prst="rect">
            <a:avLst/>
          </a:prstGeom>
          <a:noFill/>
          <a:ln/>
        </p:spPr>
        <p:txBody>
          <a:bodyPr wrap="square" rtlCol="0" anchor="ctr"/>
          <a:lstStyle/>
          <a:p>
            <a:pPr indent="0" marL="0">
              <a:buNone/>
            </a:pPr>
            <a:r>
              <a:rPr lang="en-US" sz="1800" i="1" dirty="0">
                <a:solidFill>
                  <a:srgbClr val="C9DCF5"/>
                </a:solidFill>
                <a:latin typeface="Calibri" pitchFamily="34" charset="0"/>
                <a:ea typeface="Calibri" pitchFamily="34" charset="-122"/>
                <a:cs typeface="Calibri" pitchFamily="34" charset="-120"/>
              </a:rPr>
              <a:t>Entschluesselt wird es in ein paar Jahren.</a:t>
            </a:r>
            <a:endParaRPr lang="en-US" sz="1800" dirty="0"/>
          </a:p>
        </p:txBody>
      </p:sp>
      <p:sp>
        <p:nvSpPr>
          <p:cNvPr id="4" name="Text 2"/>
          <p:cNvSpPr/>
          <p:nvPr/>
        </p:nvSpPr>
        <p:spPr>
          <a:xfrm>
            <a:off x="640080" y="4343400"/>
            <a:ext cx="78638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Implementing Post-Quantum Cryptography</a:t>
            </a:r>
            <a:pPr indent="0" marL="0">
              <a:buNone/>
            </a:pPr>
            <a:r>
              <a:rPr lang="en-US" sz="1200" dirty="0">
                <a:solidFill>
                  <a:srgbClr val="8FA3C2"/>
                </a:solidFill>
                <a:latin typeface="Calibri" pitchFamily="34" charset="0"/>
                <a:ea typeface="Calibri" pitchFamily="34" charset="-122"/>
                <a:cs typeface="Calibri" pitchFamily="34" charset="-120"/>
              </a:rPr>
              <a:t>   Semesterarbeit ITCNE25  |  Dodoe Ruminahui Mannale  |  Kolloquium 08.07.2026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Unsere Verschluesselung hat ein Ablaufdatum</a:t>
            </a:r>
            <a:endParaRPr lang="en-US" sz="3000" dirty="0"/>
          </a:p>
        </p:txBody>
      </p:sp>
      <p:sp>
        <p:nvSpPr>
          <p:cNvPr id="3" name="Text 1"/>
          <p:cNvSpPr/>
          <p:nvPr/>
        </p:nvSpPr>
        <p:spPr>
          <a:xfrm>
            <a:off x="548640" y="1143000"/>
            <a:ext cx="3749040" cy="2926080"/>
          </a:xfrm>
          <a:prstGeom prst="rect">
            <a:avLst/>
          </a:prstGeom>
          <a:noFill/>
          <a:ln/>
        </p:spPr>
        <p:txBody>
          <a:bodyPr wrap="square" rtlCol="0" anchor="t"/>
          <a:lstStyle/>
          <a:p>
            <a:pPr indent="0" marL="0">
              <a:lnSpc>
                <a:spcPct val="112000"/>
              </a:lnSpc>
              <a:buNone/>
            </a:pPr>
            <a:r>
              <a:rPr lang="en-US" sz="1500" dirty="0">
                <a:solidFill>
                  <a:srgbClr val="17263D"/>
                </a:solidFill>
                <a:latin typeface="Calibri" pitchFamily="34" charset="0"/>
                <a:ea typeface="Calibri" pitchFamily="34" charset="-122"/>
                <a:cs typeface="Calibri" pitchFamily="34" charset="-120"/>
              </a:rPr>
              <a:t>Jedes Login, jedes E-Banking, jeder Chat ist heute durch Mathematik geschuetzt (RSA, Elliptische Kurven), die fuer normale Computer unloesbar ist.</a:t>
            </a:r>
            <a:endParaRPr lang="en-US" sz="1500" dirty="0"/>
          </a:p>
          <a:p>
            <a:pPr indent="0" marL="0">
              <a:lnSpc>
                <a:spcPct val="112000"/>
              </a:lnSpc>
              <a:buNone/>
            </a:pPr>
            <a:endParaRPr lang="en-US" sz="1500" dirty="0"/>
          </a:p>
          <a:p>
            <a:pPr indent="0" marL="0">
              <a:lnSpc>
                <a:spcPct val="112000"/>
              </a:lnSpc>
              <a:buNone/>
            </a:pPr>
            <a:r>
              <a:rPr lang="en-US" sz="1500" b="1" dirty="0">
                <a:solidFill>
                  <a:srgbClr val="17263D"/>
                </a:solidFill>
                <a:latin typeface="Calibri" pitchFamily="34" charset="0"/>
                <a:ea typeface="Calibri" pitchFamily="34" charset="-122"/>
                <a:cs typeface="Calibri" pitchFamily="34" charset="-120"/>
              </a:rPr>
              <a:t>Fuer Quantencomputer ist genau diese Mathematik einfach (Shor-Algorithmus, 1994). Die Frage ist nicht ob, sondern wann.</a:t>
            </a:r>
            <a:endParaRPr lang="en-US" sz="1500" dirty="0"/>
          </a:p>
        </p:txBody>
      </p:sp>
      <p:sp>
        <p:nvSpPr>
          <p:cNvPr id="4" name="Shape 2"/>
          <p:cNvSpPr/>
          <p:nvPr/>
        </p:nvSpPr>
        <p:spPr>
          <a:xfrm>
            <a:off x="4754880" y="1143000"/>
            <a:ext cx="3840480" cy="960120"/>
          </a:xfrm>
          <a:prstGeom prst="roundRect">
            <a:avLst>
              <a:gd name="adj" fmla="val 7619"/>
            </a:avLst>
          </a:prstGeom>
          <a:solidFill>
            <a:srgbClr val="F1F5FB"/>
          </a:solidFill>
          <a:ln/>
          <a:effectLst>
            <a:outerShdw sx="100000" sy="100000" kx="0" ky="0" algn="bl" rotWithShape="0" blurRad="101600" dist="38100" dir="2700000">
              <a:srgbClr val="1A2A44">
                <a:alpha val="18000"/>
              </a:srgbClr>
            </a:outerShdw>
          </a:effectLst>
        </p:spPr>
      </p:sp>
      <p:sp>
        <p:nvSpPr>
          <p:cNvPr id="5" name="Shape 3"/>
          <p:cNvSpPr/>
          <p:nvPr/>
        </p:nvSpPr>
        <p:spPr>
          <a:xfrm>
            <a:off x="4919472" y="1325880"/>
            <a:ext cx="128016" cy="128016"/>
          </a:xfrm>
          <a:prstGeom prst="ellipse">
            <a:avLst/>
          </a:prstGeom>
          <a:solidFill>
            <a:srgbClr val="E8A13D"/>
          </a:solidFill>
          <a:ln/>
        </p:spPr>
      </p:sp>
      <p:sp>
        <p:nvSpPr>
          <p:cNvPr id="6" name="Text 4"/>
          <p:cNvSpPr/>
          <p:nvPr/>
        </p:nvSpPr>
        <p:spPr>
          <a:xfrm>
            <a:off x="5138928" y="1207008"/>
            <a:ext cx="3291840" cy="292608"/>
          </a:xfrm>
          <a:prstGeom prst="rect">
            <a:avLst/>
          </a:prstGeom>
          <a:noFill/>
          <a:ln/>
        </p:spPr>
        <p:txBody>
          <a:bodyPr wrap="square" lIns="0" tIns="0" rIns="0" bIns="0" rtlCol="0" anchor="ctr"/>
          <a:lstStyle/>
          <a:p>
            <a:pPr indent="0" marL="0">
              <a:buNone/>
            </a:pPr>
            <a:r>
              <a:rPr lang="en-US" sz="1350" b="1" dirty="0">
                <a:solidFill>
                  <a:srgbClr val="17263D"/>
                </a:solidFill>
                <a:latin typeface="Calibri" pitchFamily="34" charset="0"/>
                <a:ea typeface="Calibri" pitchFamily="34" charset="-122"/>
                <a:cs typeface="Calibri" pitchFamily="34" charset="-120"/>
              </a:rPr>
              <a:t>Heute</a:t>
            </a:r>
            <a:endParaRPr lang="en-US" sz="1350" dirty="0"/>
          </a:p>
        </p:txBody>
      </p:sp>
      <p:sp>
        <p:nvSpPr>
          <p:cNvPr id="7" name="Text 5"/>
          <p:cNvSpPr/>
          <p:nvPr/>
        </p:nvSpPr>
        <p:spPr>
          <a:xfrm>
            <a:off x="5138928" y="1490472"/>
            <a:ext cx="3291840" cy="566928"/>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Verschluesselter Verkehr wird mitgeschnitten und billig gespeichert.</a:t>
            </a:r>
            <a:endParaRPr lang="en-US" sz="1150" dirty="0"/>
          </a:p>
        </p:txBody>
      </p:sp>
      <p:sp>
        <p:nvSpPr>
          <p:cNvPr id="8" name="Shape 6"/>
          <p:cNvSpPr/>
          <p:nvPr/>
        </p:nvSpPr>
        <p:spPr>
          <a:xfrm>
            <a:off x="4974336" y="2103120"/>
            <a:ext cx="0" cy="228600"/>
          </a:xfrm>
          <a:prstGeom prst="line">
            <a:avLst/>
          </a:prstGeom>
          <a:noFill/>
          <a:ln w="25400">
            <a:solidFill>
              <a:srgbClr val="AFC2DC"/>
            </a:solidFill>
            <a:prstDash val="dash"/>
          </a:ln>
        </p:spPr>
      </p:sp>
      <p:sp>
        <p:nvSpPr>
          <p:cNvPr id="9" name="Shape 7"/>
          <p:cNvSpPr/>
          <p:nvPr/>
        </p:nvSpPr>
        <p:spPr>
          <a:xfrm>
            <a:off x="4754880" y="2331720"/>
            <a:ext cx="3840480" cy="960120"/>
          </a:xfrm>
          <a:prstGeom prst="roundRect">
            <a:avLst>
              <a:gd name="adj" fmla="val 7619"/>
            </a:avLst>
          </a:prstGeom>
          <a:solidFill>
            <a:srgbClr val="F1F5FB"/>
          </a:solidFill>
          <a:ln/>
          <a:effectLst>
            <a:outerShdw sx="100000" sy="100000" kx="0" ky="0" algn="bl" rotWithShape="0" blurRad="101600" dist="38100" dir="2700000">
              <a:srgbClr val="1A2A44">
                <a:alpha val="18000"/>
              </a:srgbClr>
            </a:outerShdw>
          </a:effectLst>
        </p:spPr>
      </p:sp>
      <p:sp>
        <p:nvSpPr>
          <p:cNvPr id="10" name="Shape 8"/>
          <p:cNvSpPr/>
          <p:nvPr/>
        </p:nvSpPr>
        <p:spPr>
          <a:xfrm>
            <a:off x="4919472" y="2514600"/>
            <a:ext cx="128016" cy="128016"/>
          </a:xfrm>
          <a:prstGeom prst="ellipse">
            <a:avLst/>
          </a:prstGeom>
          <a:solidFill>
            <a:srgbClr val="D95757"/>
          </a:solidFill>
          <a:ln/>
        </p:spPr>
      </p:sp>
      <p:sp>
        <p:nvSpPr>
          <p:cNvPr id="11" name="Text 9"/>
          <p:cNvSpPr/>
          <p:nvPr/>
        </p:nvSpPr>
        <p:spPr>
          <a:xfrm>
            <a:off x="5138928" y="2395728"/>
            <a:ext cx="3291840" cy="292608"/>
          </a:xfrm>
          <a:prstGeom prst="rect">
            <a:avLst/>
          </a:prstGeom>
          <a:noFill/>
          <a:ln/>
        </p:spPr>
        <p:txBody>
          <a:bodyPr wrap="square" lIns="0" tIns="0" rIns="0" bIns="0" rtlCol="0" anchor="ctr"/>
          <a:lstStyle/>
          <a:p>
            <a:pPr indent="0" marL="0">
              <a:buNone/>
            </a:pPr>
            <a:r>
              <a:rPr lang="en-US" sz="1350" b="1" dirty="0">
                <a:solidFill>
                  <a:srgbClr val="17263D"/>
                </a:solidFill>
                <a:latin typeface="Calibri" pitchFamily="34" charset="0"/>
                <a:ea typeface="Calibri" pitchFamily="34" charset="-122"/>
                <a:cs typeface="Calibri" pitchFamily="34" charset="-120"/>
              </a:rPr>
              <a:t>In einigen Jahren</a:t>
            </a:r>
            <a:endParaRPr lang="en-US" sz="1350" dirty="0"/>
          </a:p>
        </p:txBody>
      </p:sp>
      <p:sp>
        <p:nvSpPr>
          <p:cNvPr id="12" name="Text 10"/>
          <p:cNvSpPr/>
          <p:nvPr/>
        </p:nvSpPr>
        <p:spPr>
          <a:xfrm>
            <a:off x="5138928" y="2679192"/>
            <a:ext cx="3291840" cy="566928"/>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Ein kryptografisch relevanter Quantencomputer knackt RSA und ECC.</a:t>
            </a:r>
            <a:endParaRPr lang="en-US" sz="1150" dirty="0"/>
          </a:p>
        </p:txBody>
      </p:sp>
      <p:sp>
        <p:nvSpPr>
          <p:cNvPr id="13" name="Shape 11"/>
          <p:cNvSpPr/>
          <p:nvPr/>
        </p:nvSpPr>
        <p:spPr>
          <a:xfrm>
            <a:off x="4974336" y="3291840"/>
            <a:ext cx="0" cy="228600"/>
          </a:xfrm>
          <a:prstGeom prst="line">
            <a:avLst/>
          </a:prstGeom>
          <a:noFill/>
          <a:ln w="25400">
            <a:solidFill>
              <a:srgbClr val="AFC2DC"/>
            </a:solidFill>
            <a:prstDash val="dash"/>
          </a:ln>
        </p:spPr>
      </p:sp>
      <p:sp>
        <p:nvSpPr>
          <p:cNvPr id="14" name="Shape 12"/>
          <p:cNvSpPr/>
          <p:nvPr/>
        </p:nvSpPr>
        <p:spPr>
          <a:xfrm>
            <a:off x="4754880" y="3520440"/>
            <a:ext cx="3840480" cy="960120"/>
          </a:xfrm>
          <a:prstGeom prst="roundRect">
            <a:avLst>
              <a:gd name="adj" fmla="val 7619"/>
            </a:avLst>
          </a:prstGeom>
          <a:solidFill>
            <a:srgbClr val="F1F5FB"/>
          </a:solidFill>
          <a:ln/>
          <a:effectLst>
            <a:outerShdw sx="100000" sy="100000" kx="0" ky="0" algn="bl" rotWithShape="0" blurRad="101600" dist="38100" dir="2700000">
              <a:srgbClr val="1A2A44">
                <a:alpha val="18000"/>
              </a:srgbClr>
            </a:outerShdw>
          </a:effectLst>
        </p:spPr>
      </p:sp>
      <p:sp>
        <p:nvSpPr>
          <p:cNvPr id="15" name="Shape 13"/>
          <p:cNvSpPr/>
          <p:nvPr/>
        </p:nvSpPr>
        <p:spPr>
          <a:xfrm>
            <a:off x="4919472" y="3703320"/>
            <a:ext cx="128016" cy="128016"/>
          </a:xfrm>
          <a:prstGeom prst="ellipse">
            <a:avLst/>
          </a:prstGeom>
          <a:solidFill>
            <a:srgbClr val="0A1F3C"/>
          </a:solidFill>
          <a:ln/>
        </p:spPr>
      </p:sp>
      <p:sp>
        <p:nvSpPr>
          <p:cNvPr id="16" name="Text 14"/>
          <p:cNvSpPr/>
          <p:nvPr/>
        </p:nvSpPr>
        <p:spPr>
          <a:xfrm>
            <a:off x="5138928" y="3584448"/>
            <a:ext cx="3291840" cy="292608"/>
          </a:xfrm>
          <a:prstGeom prst="rect">
            <a:avLst/>
          </a:prstGeom>
          <a:noFill/>
          <a:ln/>
        </p:spPr>
        <p:txBody>
          <a:bodyPr wrap="square" lIns="0" tIns="0" rIns="0" bIns="0" rtlCol="0" anchor="ctr"/>
          <a:lstStyle/>
          <a:p>
            <a:pPr indent="0" marL="0">
              <a:buNone/>
            </a:pPr>
            <a:r>
              <a:rPr lang="en-US" sz="1350" b="1" dirty="0">
                <a:solidFill>
                  <a:srgbClr val="17263D"/>
                </a:solidFill>
                <a:latin typeface="Calibri" pitchFamily="34" charset="0"/>
                <a:ea typeface="Calibri" pitchFamily="34" charset="-122"/>
                <a:cs typeface="Calibri" pitchFamily="34" charset="-120"/>
              </a:rPr>
              <a:t>Dann</a:t>
            </a:r>
            <a:endParaRPr lang="en-US" sz="1350" dirty="0"/>
          </a:p>
        </p:txBody>
      </p:sp>
      <p:sp>
        <p:nvSpPr>
          <p:cNvPr id="17" name="Text 15"/>
          <p:cNvSpPr/>
          <p:nvPr/>
        </p:nvSpPr>
        <p:spPr>
          <a:xfrm>
            <a:off x="5138928" y="3867912"/>
            <a:ext cx="3291840" cy="566928"/>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Ihre Daten von heute sind rueckwirkend lesbar: Vertraege, Gesundheit, Passwoerter.</a:t>
            </a:r>
            <a:endParaRPr lang="en-US" sz="1150" dirty="0"/>
          </a:p>
        </p:txBody>
      </p:sp>
      <p:sp>
        <p:nvSpPr>
          <p:cNvPr id="18" name="Text 16"/>
          <p:cNvSpPr/>
          <p:nvPr/>
        </p:nvSpPr>
        <p:spPr>
          <a:xfrm>
            <a:off x="548640" y="4526280"/>
            <a:ext cx="8046720" cy="320040"/>
          </a:xfrm>
          <a:prstGeom prst="rect">
            <a:avLst/>
          </a:prstGeom>
          <a:noFill/>
          <a:ln/>
        </p:spPr>
        <p:txBody>
          <a:bodyPr wrap="square" rtlCol="0" anchor="ctr"/>
          <a:lstStyle/>
          <a:p>
            <a:pPr indent="0" marL="0">
              <a:buNone/>
            </a:pPr>
            <a:r>
              <a:rPr lang="en-US" sz="1250" i="1" dirty="0">
                <a:solidFill>
                  <a:srgbClr val="5B6B82"/>
                </a:solidFill>
                <a:latin typeface="Calibri" pitchFamily="34" charset="0"/>
                <a:ea typeface="Calibri" pitchFamily="34" charset="-122"/>
                <a:cs typeface="Calibri" pitchFamily="34" charset="-120"/>
              </a:rPr>
              <a:t>Harvest Now, Decrypt Later: sammeln heute, lesen spaeter.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046720" cy="502920"/>
          </a:xfrm>
          <a:prstGeom prst="rect">
            <a:avLst/>
          </a:prstGeom>
          <a:noFill/>
          <a:ln/>
        </p:spPr>
        <p:txBody>
          <a:bodyPr wrap="square" rtlCol="0" anchor="ctr"/>
          <a:lstStyle/>
          <a:p>
            <a:pPr indent="0" marL="0">
              <a:buNone/>
            </a:pPr>
            <a:r>
              <a:rPr lang="en-US" sz="2500" b="1" dirty="0">
                <a:solidFill>
                  <a:srgbClr val="17263D"/>
                </a:solidFill>
                <a:latin typeface="Cambria" pitchFamily="34" charset="0"/>
                <a:ea typeface="Cambria" pitchFamily="34" charset="-122"/>
                <a:cs typeface="Cambria" pitchFamily="34" charset="-120"/>
              </a:rPr>
              <a:t>Meine Antwort: ein quantensicheres Login-System</a:t>
            </a:r>
            <a:endParaRPr lang="en-US" sz="2500" dirty="0"/>
          </a:p>
        </p:txBody>
      </p:sp>
      <p:sp>
        <p:nvSpPr>
          <p:cNvPr id="3" name="Text 1"/>
          <p:cNvSpPr/>
          <p:nvPr/>
        </p:nvSpPr>
        <p:spPr>
          <a:xfrm>
            <a:off x="548640" y="987552"/>
            <a:ext cx="8046720" cy="502920"/>
          </a:xfrm>
          <a:prstGeom prst="rect">
            <a:avLst/>
          </a:prstGeom>
          <a:noFill/>
          <a:ln/>
        </p:spPr>
        <p:txBody>
          <a:bodyPr wrap="square" rtlCol="0" anchor="ctr"/>
          <a:lstStyle/>
          <a:p>
            <a:pPr indent="0" marL="0">
              <a:buNone/>
            </a:pPr>
            <a:r>
              <a:rPr lang="en-US" sz="1400" dirty="0">
                <a:solidFill>
                  <a:srgbClr val="5B6B82"/>
                </a:solidFill>
                <a:latin typeface="Calibri" pitchFamily="34" charset="0"/>
                <a:ea typeface="Calibri" pitchFamily="34" charset="-122"/>
                <a:cs typeface="Calibri" pitchFamily="34" charset="-120"/>
              </a:rPr>
              <a:t>Rumis Identity Broker PQC: Python-Backend plus iPhone-App. Baut auf die neuen NIST-Standards von 2024, nicht auf Zukunftsversprechen.</a:t>
            </a:r>
            <a:endParaRPr lang="en-US" sz="1400" dirty="0"/>
          </a:p>
        </p:txBody>
      </p:sp>
      <p:sp>
        <p:nvSpPr>
          <p:cNvPr id="4" name="Shape 2"/>
          <p:cNvSpPr/>
          <p:nvPr/>
        </p:nvSpPr>
        <p:spPr>
          <a:xfrm>
            <a:off x="640080" y="1828800"/>
            <a:ext cx="2103120" cy="1051560"/>
          </a:xfrm>
          <a:prstGeom prst="roundRect">
            <a:avLst>
              <a:gd name="adj" fmla="val 7826"/>
            </a:avLst>
          </a:prstGeom>
          <a:solidFill>
            <a:srgbClr val="E6EFFB"/>
          </a:solidFill>
          <a:ln/>
          <a:effectLst>
            <a:outerShdw sx="100000" sy="100000" kx="0" ky="0" algn="bl" rotWithShape="0" blurRad="101600" dist="38100" dir="2700000">
              <a:srgbClr val="1A2A44">
                <a:alpha val="18000"/>
              </a:srgbClr>
            </a:outerShdw>
          </a:effectLst>
        </p:spPr>
      </p:sp>
      <p:sp>
        <p:nvSpPr>
          <p:cNvPr id="5" name="Text 3"/>
          <p:cNvSpPr/>
          <p:nvPr/>
        </p:nvSpPr>
        <p:spPr>
          <a:xfrm>
            <a:off x="640080" y="2007108"/>
            <a:ext cx="2103120" cy="365760"/>
          </a:xfrm>
          <a:prstGeom prst="rect">
            <a:avLst/>
          </a:prstGeom>
          <a:noFill/>
          <a:ln/>
        </p:spPr>
        <p:txBody>
          <a:bodyPr wrap="square" rtlCol="0" anchor="ctr"/>
          <a:lstStyle/>
          <a:p>
            <a:pPr algn="ctr" indent="0" marL="0">
              <a:buNone/>
            </a:pPr>
            <a:r>
              <a:rPr lang="en-US" sz="1500" b="1" dirty="0">
                <a:solidFill>
                  <a:srgbClr val="17263D"/>
                </a:solidFill>
                <a:latin typeface="Calibri" pitchFamily="34" charset="0"/>
                <a:ea typeface="Calibri" pitchFamily="34" charset="-122"/>
                <a:cs typeface="Calibri" pitchFamily="34" charset="-120"/>
              </a:rPr>
              <a:t>iPhone-App</a:t>
            </a:r>
            <a:endParaRPr lang="en-US" sz="1500" dirty="0"/>
          </a:p>
        </p:txBody>
      </p:sp>
      <p:sp>
        <p:nvSpPr>
          <p:cNvPr id="6" name="Text 4"/>
          <p:cNvSpPr/>
          <p:nvPr/>
        </p:nvSpPr>
        <p:spPr>
          <a:xfrm>
            <a:off x="640080" y="2354580"/>
            <a:ext cx="2103120" cy="347472"/>
          </a:xfrm>
          <a:prstGeom prst="rect">
            <a:avLst/>
          </a:prstGeom>
          <a:noFill/>
          <a:ln/>
        </p:spPr>
        <p:txBody>
          <a:bodyPr wrap="square"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React Native / Expo</a:t>
            </a:r>
            <a:endParaRPr lang="en-US" sz="1050" dirty="0"/>
          </a:p>
        </p:txBody>
      </p:sp>
      <p:sp>
        <p:nvSpPr>
          <p:cNvPr id="7" name="Shape 5"/>
          <p:cNvSpPr/>
          <p:nvPr/>
        </p:nvSpPr>
        <p:spPr>
          <a:xfrm>
            <a:off x="3520440" y="1828800"/>
            <a:ext cx="2103120" cy="1051560"/>
          </a:xfrm>
          <a:prstGeom prst="roundRect">
            <a:avLst>
              <a:gd name="adj" fmla="val 7826"/>
            </a:avLst>
          </a:prstGeom>
          <a:solidFill>
            <a:srgbClr val="F1F5FB"/>
          </a:solidFill>
          <a:ln/>
          <a:effectLst>
            <a:outerShdw sx="100000" sy="100000" kx="0" ky="0" algn="bl" rotWithShape="0" blurRad="101600" dist="38100" dir="2700000">
              <a:srgbClr val="1A2A44">
                <a:alpha val="18000"/>
              </a:srgbClr>
            </a:outerShdw>
          </a:effectLst>
        </p:spPr>
      </p:sp>
      <p:sp>
        <p:nvSpPr>
          <p:cNvPr id="8" name="Text 6"/>
          <p:cNvSpPr/>
          <p:nvPr/>
        </p:nvSpPr>
        <p:spPr>
          <a:xfrm>
            <a:off x="3520440" y="2007108"/>
            <a:ext cx="2103120" cy="365760"/>
          </a:xfrm>
          <a:prstGeom prst="rect">
            <a:avLst/>
          </a:prstGeom>
          <a:noFill/>
          <a:ln/>
        </p:spPr>
        <p:txBody>
          <a:bodyPr wrap="square" rtlCol="0" anchor="ctr"/>
          <a:lstStyle/>
          <a:p>
            <a:pPr algn="ctr" indent="0" marL="0">
              <a:buNone/>
            </a:pPr>
            <a:r>
              <a:rPr lang="en-US" sz="1500" b="1" dirty="0">
                <a:solidFill>
                  <a:srgbClr val="17263D"/>
                </a:solidFill>
                <a:latin typeface="Calibri" pitchFamily="34" charset="0"/>
                <a:ea typeface="Calibri" pitchFamily="34" charset="-122"/>
                <a:cs typeface="Calibri" pitchFamily="34" charset="-120"/>
              </a:rPr>
              <a:t>nginx</a:t>
            </a:r>
            <a:endParaRPr lang="en-US" sz="1500" dirty="0"/>
          </a:p>
        </p:txBody>
      </p:sp>
      <p:sp>
        <p:nvSpPr>
          <p:cNvPr id="9" name="Text 7"/>
          <p:cNvSpPr/>
          <p:nvPr/>
        </p:nvSpPr>
        <p:spPr>
          <a:xfrm>
            <a:off x="3520440" y="2354580"/>
            <a:ext cx="2103120" cy="347472"/>
          </a:xfrm>
          <a:prstGeom prst="rect">
            <a:avLst/>
          </a:prstGeom>
          <a:noFill/>
          <a:ln/>
        </p:spPr>
        <p:txBody>
          <a:bodyPr wrap="square"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TLS-Gateway</a:t>
            </a:r>
            <a:endParaRPr lang="en-US" sz="1050" dirty="0"/>
          </a:p>
        </p:txBody>
      </p:sp>
      <p:sp>
        <p:nvSpPr>
          <p:cNvPr id="10" name="Shape 8"/>
          <p:cNvSpPr/>
          <p:nvPr/>
        </p:nvSpPr>
        <p:spPr>
          <a:xfrm>
            <a:off x="6400800" y="1828800"/>
            <a:ext cx="2103120" cy="1051560"/>
          </a:xfrm>
          <a:prstGeom prst="roundRect">
            <a:avLst>
              <a:gd name="adj" fmla="val 7826"/>
            </a:avLst>
          </a:prstGeom>
          <a:solidFill>
            <a:srgbClr val="E6EFFB"/>
          </a:solidFill>
          <a:ln/>
          <a:effectLst>
            <a:outerShdw sx="100000" sy="100000" kx="0" ky="0" algn="bl" rotWithShape="0" blurRad="101600" dist="38100" dir="2700000">
              <a:srgbClr val="1A2A44">
                <a:alpha val="18000"/>
              </a:srgbClr>
            </a:outerShdw>
          </a:effectLst>
        </p:spPr>
      </p:sp>
      <p:sp>
        <p:nvSpPr>
          <p:cNvPr id="11" name="Text 9"/>
          <p:cNvSpPr/>
          <p:nvPr/>
        </p:nvSpPr>
        <p:spPr>
          <a:xfrm>
            <a:off x="6400800" y="2007108"/>
            <a:ext cx="2103120" cy="365760"/>
          </a:xfrm>
          <a:prstGeom prst="rect">
            <a:avLst/>
          </a:prstGeom>
          <a:noFill/>
          <a:ln/>
        </p:spPr>
        <p:txBody>
          <a:bodyPr wrap="square" rtlCol="0" anchor="ctr"/>
          <a:lstStyle/>
          <a:p>
            <a:pPr algn="ctr" indent="0" marL="0">
              <a:buNone/>
            </a:pPr>
            <a:r>
              <a:rPr lang="en-US" sz="1500" b="1" dirty="0">
                <a:solidFill>
                  <a:srgbClr val="17263D"/>
                </a:solidFill>
                <a:latin typeface="Calibri" pitchFamily="34" charset="0"/>
                <a:ea typeface="Calibri" pitchFamily="34" charset="-122"/>
                <a:cs typeface="Calibri" pitchFamily="34" charset="-120"/>
              </a:rPr>
              <a:t>Auth-Service</a:t>
            </a:r>
            <a:endParaRPr lang="en-US" sz="1500" dirty="0"/>
          </a:p>
        </p:txBody>
      </p:sp>
      <p:sp>
        <p:nvSpPr>
          <p:cNvPr id="12" name="Text 10"/>
          <p:cNvSpPr/>
          <p:nvPr/>
        </p:nvSpPr>
        <p:spPr>
          <a:xfrm>
            <a:off x="6400800" y="2354580"/>
            <a:ext cx="2103120" cy="347472"/>
          </a:xfrm>
          <a:prstGeom prst="rect">
            <a:avLst/>
          </a:prstGeom>
          <a:noFill/>
          <a:ln/>
        </p:spPr>
        <p:txBody>
          <a:bodyPr wrap="square"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Python / FastAPI</a:t>
            </a:r>
            <a:endParaRPr lang="en-US" sz="1050" dirty="0"/>
          </a:p>
        </p:txBody>
      </p:sp>
      <p:sp>
        <p:nvSpPr>
          <p:cNvPr id="13" name="Shape 11"/>
          <p:cNvSpPr/>
          <p:nvPr/>
        </p:nvSpPr>
        <p:spPr>
          <a:xfrm>
            <a:off x="2743200" y="2354580"/>
            <a:ext cx="777240" cy="0"/>
          </a:xfrm>
          <a:prstGeom prst="line">
            <a:avLst/>
          </a:prstGeom>
          <a:noFill/>
          <a:ln w="38100">
            <a:solidFill>
              <a:srgbClr val="0E7A57"/>
            </a:solidFill>
            <a:prstDash val="solid"/>
            <a:tailEnd type="triangle"/>
          </a:ln>
        </p:spPr>
      </p:sp>
      <p:sp>
        <p:nvSpPr>
          <p:cNvPr id="14" name="Shape 12"/>
          <p:cNvSpPr/>
          <p:nvPr/>
        </p:nvSpPr>
        <p:spPr>
          <a:xfrm>
            <a:off x="5623560" y="2354580"/>
            <a:ext cx="777240" cy="0"/>
          </a:xfrm>
          <a:prstGeom prst="line">
            <a:avLst/>
          </a:prstGeom>
          <a:noFill/>
          <a:ln w="38100">
            <a:solidFill>
              <a:srgbClr val="0E7A57"/>
            </a:solidFill>
            <a:prstDash val="solid"/>
            <a:tailEnd type="triangle"/>
          </a:ln>
        </p:spPr>
      </p:sp>
      <p:sp>
        <p:nvSpPr>
          <p:cNvPr id="15" name="Text 13"/>
          <p:cNvSpPr/>
          <p:nvPr/>
        </p:nvSpPr>
        <p:spPr>
          <a:xfrm>
            <a:off x="2194560" y="2990088"/>
            <a:ext cx="4754880" cy="274320"/>
          </a:xfrm>
          <a:prstGeom prst="rect">
            <a:avLst/>
          </a:prstGeom>
          <a:noFill/>
          <a:ln/>
        </p:spPr>
        <p:txBody>
          <a:bodyPr wrap="square" rtlCol="0" anchor="ctr"/>
          <a:lstStyle/>
          <a:p>
            <a:pPr algn="ctr" indent="0" marL="0">
              <a:buNone/>
            </a:pPr>
            <a:r>
              <a:rPr lang="en-US" sz="1150" i="1" dirty="0">
                <a:solidFill>
                  <a:srgbClr val="0E7A57"/>
                </a:solidFill>
                <a:latin typeface="Calibri" pitchFamily="34" charset="0"/>
                <a:ea typeface="Calibri" pitchFamily="34" charset="-122"/>
                <a:cs typeface="Calibri" pitchFamily="34" charset="-120"/>
              </a:rPr>
              <a:t>jede Verbindung doppelt Post-Quantum-geschuetzt</a:t>
            </a:r>
            <a:endParaRPr lang="en-US" sz="1150" dirty="0"/>
          </a:p>
        </p:txBody>
      </p:sp>
      <p:sp>
        <p:nvSpPr>
          <p:cNvPr id="16" name="Shape 14"/>
          <p:cNvSpPr/>
          <p:nvPr/>
        </p:nvSpPr>
        <p:spPr>
          <a:xfrm>
            <a:off x="640080" y="3657600"/>
            <a:ext cx="2468880" cy="868680"/>
          </a:xfrm>
          <a:prstGeom prst="roundRect">
            <a:avLst>
              <a:gd name="adj" fmla="val 9474"/>
            </a:avLst>
          </a:prstGeom>
          <a:solidFill>
            <a:srgbClr val="0A1F3C"/>
          </a:solidFill>
          <a:ln/>
        </p:spPr>
      </p:sp>
      <p:sp>
        <p:nvSpPr>
          <p:cNvPr id="17" name="Text 15"/>
          <p:cNvSpPr/>
          <p:nvPr/>
        </p:nvSpPr>
        <p:spPr>
          <a:xfrm>
            <a:off x="640080" y="3767328"/>
            <a:ext cx="2468880" cy="320040"/>
          </a:xfrm>
          <a:prstGeom prst="rect">
            <a:avLst/>
          </a:prstGeom>
          <a:noFill/>
          <a:ln/>
        </p:spPr>
        <p:txBody>
          <a:bodyPr wrap="square" rtlCol="0" anchor="ctr"/>
          <a:lstStyle/>
          <a:p>
            <a:pPr algn="ctr" indent="0" marL="0">
              <a:buNone/>
            </a:pPr>
            <a:r>
              <a:rPr lang="en-US" sz="1400" b="1" dirty="0">
                <a:solidFill>
                  <a:srgbClr val="21C08B"/>
                </a:solidFill>
                <a:latin typeface="Courier New" pitchFamily="34" charset="0"/>
                <a:ea typeface="Courier New" pitchFamily="34" charset="-122"/>
                <a:cs typeface="Courier New" pitchFamily="34" charset="-120"/>
              </a:rPr>
              <a:t>ML-KEM-768</a:t>
            </a:r>
            <a:endParaRPr lang="en-US" sz="1400" dirty="0"/>
          </a:p>
        </p:txBody>
      </p:sp>
      <p:sp>
        <p:nvSpPr>
          <p:cNvPr id="18" name="Text 16"/>
          <p:cNvSpPr/>
          <p:nvPr/>
        </p:nvSpPr>
        <p:spPr>
          <a:xfrm>
            <a:off x="640080" y="4114800"/>
            <a:ext cx="2468880" cy="292608"/>
          </a:xfrm>
          <a:prstGeom prst="rect">
            <a:avLst/>
          </a:prstGeom>
          <a:noFill/>
          <a:ln/>
        </p:spPr>
        <p:txBody>
          <a:bodyPr wrap="square" rtlCol="0" anchor="ctr"/>
          <a:lstStyle/>
          <a:p>
            <a:pPr algn="ctr" indent="0" marL="0">
              <a:buNone/>
            </a:pPr>
            <a:r>
              <a:rPr lang="en-US" sz="1050" dirty="0">
                <a:solidFill>
                  <a:srgbClr val="C9DCF5"/>
                </a:solidFill>
                <a:latin typeface="Calibri" pitchFamily="34" charset="0"/>
                <a:ea typeface="Calibri" pitchFamily="34" charset="-122"/>
                <a:cs typeface="Calibri" pitchFamily="34" charset="-120"/>
              </a:rPr>
              <a:t>Schluesseltausch (NIST FIPS 203)</a:t>
            </a:r>
            <a:endParaRPr lang="en-US" sz="1050" dirty="0"/>
          </a:p>
        </p:txBody>
      </p:sp>
      <p:sp>
        <p:nvSpPr>
          <p:cNvPr id="19" name="Shape 17"/>
          <p:cNvSpPr/>
          <p:nvPr/>
        </p:nvSpPr>
        <p:spPr>
          <a:xfrm>
            <a:off x="3337560" y="3657600"/>
            <a:ext cx="2468880" cy="868680"/>
          </a:xfrm>
          <a:prstGeom prst="roundRect">
            <a:avLst>
              <a:gd name="adj" fmla="val 9474"/>
            </a:avLst>
          </a:prstGeom>
          <a:solidFill>
            <a:srgbClr val="0A1F3C"/>
          </a:solidFill>
          <a:ln/>
        </p:spPr>
      </p:sp>
      <p:sp>
        <p:nvSpPr>
          <p:cNvPr id="20" name="Text 18"/>
          <p:cNvSpPr/>
          <p:nvPr/>
        </p:nvSpPr>
        <p:spPr>
          <a:xfrm>
            <a:off x="3337560" y="3767328"/>
            <a:ext cx="2468880" cy="320040"/>
          </a:xfrm>
          <a:prstGeom prst="rect">
            <a:avLst/>
          </a:prstGeom>
          <a:noFill/>
          <a:ln/>
        </p:spPr>
        <p:txBody>
          <a:bodyPr wrap="square" rtlCol="0" anchor="ctr"/>
          <a:lstStyle/>
          <a:p>
            <a:pPr algn="ctr" indent="0" marL="0">
              <a:buNone/>
            </a:pPr>
            <a:r>
              <a:rPr lang="en-US" sz="1400" b="1" dirty="0">
                <a:solidFill>
                  <a:srgbClr val="21C08B"/>
                </a:solidFill>
                <a:latin typeface="Courier New" pitchFamily="34" charset="0"/>
                <a:ea typeface="Courier New" pitchFamily="34" charset="-122"/>
                <a:cs typeface="Courier New" pitchFamily="34" charset="-120"/>
              </a:rPr>
              <a:t>ML-DSA-65</a:t>
            </a:r>
            <a:endParaRPr lang="en-US" sz="1400" dirty="0"/>
          </a:p>
        </p:txBody>
      </p:sp>
      <p:sp>
        <p:nvSpPr>
          <p:cNvPr id="21" name="Text 19"/>
          <p:cNvSpPr/>
          <p:nvPr/>
        </p:nvSpPr>
        <p:spPr>
          <a:xfrm>
            <a:off x="3337560" y="4114800"/>
            <a:ext cx="2468880" cy="292608"/>
          </a:xfrm>
          <a:prstGeom prst="rect">
            <a:avLst/>
          </a:prstGeom>
          <a:noFill/>
          <a:ln/>
        </p:spPr>
        <p:txBody>
          <a:bodyPr wrap="square" rtlCol="0" anchor="ctr"/>
          <a:lstStyle/>
          <a:p>
            <a:pPr algn="ctr" indent="0" marL="0">
              <a:buNone/>
            </a:pPr>
            <a:r>
              <a:rPr lang="en-US" sz="1050" dirty="0">
                <a:solidFill>
                  <a:srgbClr val="C9DCF5"/>
                </a:solidFill>
                <a:latin typeface="Calibri" pitchFamily="34" charset="0"/>
                <a:ea typeface="Calibri" pitchFamily="34" charset="-122"/>
                <a:cs typeface="Calibri" pitchFamily="34" charset="-120"/>
              </a:rPr>
              <a:t>Signaturen (NIST FIPS 204)</a:t>
            </a:r>
            <a:endParaRPr lang="en-US" sz="1050" dirty="0"/>
          </a:p>
        </p:txBody>
      </p:sp>
      <p:sp>
        <p:nvSpPr>
          <p:cNvPr id="22" name="Shape 20"/>
          <p:cNvSpPr/>
          <p:nvPr/>
        </p:nvSpPr>
        <p:spPr>
          <a:xfrm>
            <a:off x="6035040" y="3657600"/>
            <a:ext cx="2468880" cy="868680"/>
          </a:xfrm>
          <a:prstGeom prst="roundRect">
            <a:avLst>
              <a:gd name="adj" fmla="val 9474"/>
            </a:avLst>
          </a:prstGeom>
          <a:solidFill>
            <a:srgbClr val="0A1F3C"/>
          </a:solidFill>
          <a:ln/>
        </p:spPr>
      </p:sp>
      <p:sp>
        <p:nvSpPr>
          <p:cNvPr id="23" name="Text 21"/>
          <p:cNvSpPr/>
          <p:nvPr/>
        </p:nvSpPr>
        <p:spPr>
          <a:xfrm>
            <a:off x="6035040" y="3767328"/>
            <a:ext cx="2468880" cy="320040"/>
          </a:xfrm>
          <a:prstGeom prst="rect">
            <a:avLst/>
          </a:prstGeom>
          <a:noFill/>
          <a:ln/>
        </p:spPr>
        <p:txBody>
          <a:bodyPr wrap="square" rtlCol="0" anchor="ctr"/>
          <a:lstStyle/>
          <a:p>
            <a:pPr algn="ctr" indent="0" marL="0">
              <a:buNone/>
            </a:pPr>
            <a:r>
              <a:rPr lang="en-US" sz="1400" b="1" dirty="0">
                <a:solidFill>
                  <a:srgbClr val="21C08B"/>
                </a:solidFill>
                <a:latin typeface="Courier New" pitchFamily="34" charset="0"/>
                <a:ea typeface="Courier New" pitchFamily="34" charset="-122"/>
                <a:cs typeface="Courier New" pitchFamily="34" charset="-120"/>
              </a:rPr>
              <a:t>AES-256-GCM</a:t>
            </a:r>
            <a:endParaRPr lang="en-US" sz="1400" dirty="0"/>
          </a:p>
        </p:txBody>
      </p:sp>
      <p:sp>
        <p:nvSpPr>
          <p:cNvPr id="24" name="Text 22"/>
          <p:cNvSpPr/>
          <p:nvPr/>
        </p:nvSpPr>
        <p:spPr>
          <a:xfrm>
            <a:off x="6035040" y="4114800"/>
            <a:ext cx="2468880" cy="292608"/>
          </a:xfrm>
          <a:prstGeom prst="rect">
            <a:avLst/>
          </a:prstGeom>
          <a:noFill/>
          <a:ln/>
        </p:spPr>
        <p:txBody>
          <a:bodyPr wrap="square" rtlCol="0" anchor="ctr"/>
          <a:lstStyle/>
          <a:p>
            <a:pPr algn="ctr" indent="0" marL="0">
              <a:buNone/>
            </a:pPr>
            <a:r>
              <a:rPr lang="en-US" sz="1050" dirty="0">
                <a:solidFill>
                  <a:srgbClr val="C9DCF5"/>
                </a:solidFill>
                <a:latin typeface="Calibri" pitchFamily="34" charset="0"/>
                <a:ea typeface="Calibri" pitchFamily="34" charset="-122"/>
                <a:cs typeface="Calibri" pitchFamily="34" charset="-120"/>
              </a:rPr>
              <a:t>Datenverschluesselung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2900" b="1" dirty="0">
                <a:solidFill>
                  <a:srgbClr val="17263D"/>
                </a:solidFill>
                <a:latin typeface="Cambria" pitchFamily="34" charset="0"/>
                <a:ea typeface="Cambria" pitchFamily="34" charset="-122"/>
                <a:cs typeface="Cambria" pitchFamily="34" charset="-120"/>
              </a:rPr>
              <a:t>Zwei Schutzschichten, eine quantensichere Identitaet</a:t>
            </a:r>
            <a:endParaRPr lang="en-US" sz="2900" dirty="0"/>
          </a:p>
        </p:txBody>
      </p:sp>
      <p:sp>
        <p:nvSpPr>
          <p:cNvPr id="3" name="Shape 1"/>
          <p:cNvSpPr/>
          <p:nvPr/>
        </p:nvSpPr>
        <p:spPr>
          <a:xfrm>
            <a:off x="548640" y="1097280"/>
            <a:ext cx="8046720" cy="1024128"/>
          </a:xfrm>
          <a:prstGeom prst="roundRect">
            <a:avLst>
              <a:gd name="adj" fmla="val 8036"/>
            </a:avLst>
          </a:prstGeom>
          <a:solidFill>
            <a:srgbClr val="F1F5FB"/>
          </a:solidFill>
          <a:ln/>
          <a:effectLst>
            <a:outerShdw sx="100000" sy="100000" kx="0" ky="0" algn="bl" rotWithShape="0" blurRad="101600" dist="38100" dir="2700000">
              <a:srgbClr val="1A2A44">
                <a:alpha val="18000"/>
              </a:srgbClr>
            </a:outerShdw>
          </a:effectLst>
        </p:spPr>
      </p:sp>
      <p:sp>
        <p:nvSpPr>
          <p:cNvPr id="4" name="Shape 2"/>
          <p:cNvSpPr/>
          <p:nvPr/>
        </p:nvSpPr>
        <p:spPr>
          <a:xfrm>
            <a:off x="713232" y="1371600"/>
            <a:ext cx="1417320" cy="457200"/>
          </a:xfrm>
          <a:prstGeom prst="roundRect">
            <a:avLst>
              <a:gd name="adj" fmla="val 16000"/>
            </a:avLst>
          </a:prstGeom>
          <a:solidFill>
            <a:srgbClr val="0A1F3C"/>
          </a:solidFill>
          <a:ln/>
        </p:spPr>
      </p:sp>
      <p:sp>
        <p:nvSpPr>
          <p:cNvPr id="5" name="Text 3"/>
          <p:cNvSpPr/>
          <p:nvPr/>
        </p:nvSpPr>
        <p:spPr>
          <a:xfrm>
            <a:off x="713232" y="1371600"/>
            <a:ext cx="14173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Schicht 1</a:t>
            </a:r>
            <a:endParaRPr lang="en-US" sz="1200" dirty="0"/>
          </a:p>
        </p:txBody>
      </p:sp>
      <p:sp>
        <p:nvSpPr>
          <p:cNvPr id="6" name="Text 4"/>
          <p:cNvSpPr/>
          <p:nvPr/>
        </p:nvSpPr>
        <p:spPr>
          <a:xfrm>
            <a:off x="2331720" y="1207008"/>
            <a:ext cx="4846320" cy="320040"/>
          </a:xfrm>
          <a:prstGeom prst="rect">
            <a:avLst/>
          </a:prstGeom>
          <a:noFill/>
          <a:ln/>
        </p:spPr>
        <p:txBody>
          <a:bodyPr wrap="square" lIns="0" tIns="0" rIns="0" bIns="0" rtlCol="0" anchor="ctr"/>
          <a:lstStyle/>
          <a:p>
            <a:pPr indent="0" marL="0">
              <a:buNone/>
            </a:pPr>
            <a:r>
              <a:rPr lang="en-US" sz="1450" b="1" dirty="0">
                <a:solidFill>
                  <a:srgbClr val="17263D"/>
                </a:solidFill>
                <a:latin typeface="Calibri" pitchFamily="34" charset="0"/>
                <a:ea typeface="Calibri" pitchFamily="34" charset="-122"/>
                <a:cs typeface="Calibri" pitchFamily="34" charset="-120"/>
              </a:rPr>
              <a:t>Transport: Post-Quantum-TLS</a:t>
            </a:r>
            <a:endParaRPr lang="en-US" sz="1450" dirty="0"/>
          </a:p>
        </p:txBody>
      </p:sp>
      <p:sp>
        <p:nvSpPr>
          <p:cNvPr id="7" name="Text 5"/>
          <p:cNvSpPr/>
          <p:nvPr/>
        </p:nvSpPr>
        <p:spPr>
          <a:xfrm>
            <a:off x="2331720" y="1527048"/>
            <a:ext cx="4846320" cy="54864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TLS 1.3 mit hybridem Schluesseltausch (klassisch plus PQ). Browser koennen das seit 2024, iOS seit Version 26.</a:t>
            </a:r>
            <a:endParaRPr lang="en-US" sz="1150" dirty="0"/>
          </a:p>
        </p:txBody>
      </p:sp>
      <p:sp>
        <p:nvSpPr>
          <p:cNvPr id="8" name="Text 6"/>
          <p:cNvSpPr/>
          <p:nvPr/>
        </p:nvSpPr>
        <p:spPr>
          <a:xfrm>
            <a:off x="6903720" y="1207008"/>
            <a:ext cx="1600200" cy="822960"/>
          </a:xfrm>
          <a:prstGeom prst="rect">
            <a:avLst/>
          </a:prstGeom>
          <a:noFill/>
          <a:ln/>
        </p:spPr>
        <p:txBody>
          <a:bodyPr wrap="square" lIns="0" tIns="0" rIns="0" bIns="0" rtlCol="0" anchor="ctr"/>
          <a:lstStyle/>
          <a:p>
            <a:pPr algn="r" indent="0" marL="0">
              <a:buNone/>
            </a:pPr>
            <a:r>
              <a:rPr lang="en-US" sz="1050" b="1" dirty="0">
                <a:solidFill>
                  <a:srgbClr val="0E7A57"/>
                </a:solidFill>
                <a:latin typeface="Courier New" pitchFamily="34" charset="0"/>
                <a:ea typeface="Courier New" pitchFamily="34" charset="-122"/>
                <a:cs typeface="Courier New" pitchFamily="34" charset="-120"/>
              </a:rPr>
              <a:t>X25519</a:t>
            </a:r>
            <a:endParaRPr lang="en-US" sz="1050" dirty="0"/>
          </a:p>
          <a:p>
            <a:pPr algn="r" indent="0" marL="0">
              <a:buNone/>
            </a:pPr>
            <a:r>
              <a:rPr lang="en-US" sz="1050" b="1" dirty="0">
                <a:solidFill>
                  <a:srgbClr val="0E7A57"/>
                </a:solidFill>
                <a:latin typeface="Courier New" pitchFamily="34" charset="0"/>
                <a:ea typeface="Courier New" pitchFamily="34" charset="-122"/>
                <a:cs typeface="Courier New" pitchFamily="34" charset="-120"/>
              </a:rPr>
              <a:t>MLKEM768</a:t>
            </a:r>
            <a:endParaRPr lang="en-US" sz="1050" dirty="0"/>
          </a:p>
        </p:txBody>
      </p:sp>
      <p:sp>
        <p:nvSpPr>
          <p:cNvPr id="9" name="Shape 7"/>
          <p:cNvSpPr/>
          <p:nvPr/>
        </p:nvSpPr>
        <p:spPr>
          <a:xfrm>
            <a:off x="548640" y="2286000"/>
            <a:ext cx="8046720" cy="1024128"/>
          </a:xfrm>
          <a:prstGeom prst="roundRect">
            <a:avLst>
              <a:gd name="adj" fmla="val 8036"/>
            </a:avLst>
          </a:prstGeom>
          <a:solidFill>
            <a:srgbClr val="F1F5FB"/>
          </a:solidFill>
          <a:ln/>
          <a:effectLst>
            <a:outerShdw sx="100000" sy="100000" kx="0" ky="0" algn="bl" rotWithShape="0" blurRad="101600" dist="38100" dir="2700000">
              <a:srgbClr val="1A2A44">
                <a:alpha val="18000"/>
              </a:srgbClr>
            </a:outerShdw>
          </a:effectLst>
        </p:spPr>
      </p:sp>
      <p:sp>
        <p:nvSpPr>
          <p:cNvPr id="10" name="Shape 8"/>
          <p:cNvSpPr/>
          <p:nvPr/>
        </p:nvSpPr>
        <p:spPr>
          <a:xfrm>
            <a:off x="713232" y="2560320"/>
            <a:ext cx="1417320" cy="457200"/>
          </a:xfrm>
          <a:prstGeom prst="roundRect">
            <a:avLst>
              <a:gd name="adj" fmla="val 16000"/>
            </a:avLst>
          </a:prstGeom>
          <a:solidFill>
            <a:srgbClr val="0E7A57"/>
          </a:solidFill>
          <a:ln/>
        </p:spPr>
      </p:sp>
      <p:sp>
        <p:nvSpPr>
          <p:cNvPr id="11" name="Text 9"/>
          <p:cNvSpPr/>
          <p:nvPr/>
        </p:nvSpPr>
        <p:spPr>
          <a:xfrm>
            <a:off x="713232" y="2560320"/>
            <a:ext cx="14173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Schicht 2</a:t>
            </a:r>
            <a:endParaRPr lang="en-US" sz="1200" dirty="0"/>
          </a:p>
        </p:txBody>
      </p:sp>
      <p:sp>
        <p:nvSpPr>
          <p:cNvPr id="12" name="Text 10"/>
          <p:cNvSpPr/>
          <p:nvPr/>
        </p:nvSpPr>
        <p:spPr>
          <a:xfrm>
            <a:off x="2331720" y="2395728"/>
            <a:ext cx="4846320" cy="320040"/>
          </a:xfrm>
          <a:prstGeom prst="rect">
            <a:avLst/>
          </a:prstGeom>
          <a:noFill/>
          <a:ln/>
        </p:spPr>
        <p:txBody>
          <a:bodyPr wrap="square" lIns="0" tIns="0" rIns="0" bIns="0" rtlCol="0" anchor="ctr"/>
          <a:lstStyle/>
          <a:p>
            <a:pPr indent="0" marL="0">
              <a:buNone/>
            </a:pPr>
            <a:r>
              <a:rPr lang="en-US" sz="1450" b="1" dirty="0">
                <a:solidFill>
                  <a:srgbClr val="17263D"/>
                </a:solidFill>
                <a:latin typeface="Calibri" pitchFamily="34" charset="0"/>
                <a:ea typeface="Calibri" pitchFamily="34" charset="-122"/>
                <a:cs typeface="Calibri" pitchFamily="34" charset="-120"/>
              </a:rPr>
              <a:t>Applikation: eigener Ende-zu-Ende-Kanal</a:t>
            </a:r>
            <a:endParaRPr lang="en-US" sz="1450" dirty="0"/>
          </a:p>
        </p:txBody>
      </p:sp>
      <p:sp>
        <p:nvSpPr>
          <p:cNvPr id="13" name="Text 11"/>
          <p:cNvSpPr/>
          <p:nvPr/>
        </p:nvSpPr>
        <p:spPr>
          <a:xfrm>
            <a:off x="2331720" y="2715768"/>
            <a:ext cx="4846320" cy="54864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App und Server tauschen per ML-KEM-768 einen Sitzungsschluessel, jeder Request ist AES-256-GCM-verschluesselt, mit Replay-Schutz.</a:t>
            </a:r>
            <a:endParaRPr lang="en-US" sz="1150" dirty="0"/>
          </a:p>
        </p:txBody>
      </p:sp>
      <p:sp>
        <p:nvSpPr>
          <p:cNvPr id="14" name="Text 12"/>
          <p:cNvSpPr/>
          <p:nvPr/>
        </p:nvSpPr>
        <p:spPr>
          <a:xfrm>
            <a:off x="6903720" y="2395728"/>
            <a:ext cx="1600200" cy="822960"/>
          </a:xfrm>
          <a:prstGeom prst="rect">
            <a:avLst/>
          </a:prstGeom>
          <a:noFill/>
          <a:ln/>
        </p:spPr>
        <p:txBody>
          <a:bodyPr wrap="square" lIns="0" tIns="0" rIns="0" bIns="0" rtlCol="0" anchor="ctr"/>
          <a:lstStyle/>
          <a:p>
            <a:pPr algn="r" indent="0" marL="0">
              <a:buNone/>
            </a:pPr>
            <a:r>
              <a:rPr lang="en-US" sz="1050" b="1" dirty="0">
                <a:solidFill>
                  <a:srgbClr val="0E7A57"/>
                </a:solidFill>
                <a:latin typeface="Courier New" pitchFamily="34" charset="0"/>
                <a:ea typeface="Courier New" pitchFamily="34" charset="-122"/>
                <a:cs typeface="Courier New" pitchFamily="34" charset="-120"/>
              </a:rPr>
              <a:t>ML-KEM-768</a:t>
            </a:r>
            <a:endParaRPr lang="en-US" sz="1050" dirty="0"/>
          </a:p>
          <a:p>
            <a:pPr algn="r" indent="0" marL="0">
              <a:buNone/>
            </a:pPr>
            <a:r>
              <a:rPr lang="en-US" sz="1050" b="1" dirty="0">
                <a:solidFill>
                  <a:srgbClr val="0E7A57"/>
                </a:solidFill>
                <a:latin typeface="Courier New" pitchFamily="34" charset="0"/>
                <a:ea typeface="Courier New" pitchFamily="34" charset="-122"/>
                <a:cs typeface="Courier New" pitchFamily="34" charset="-120"/>
              </a:rPr>
              <a:t>AES-256-GCM</a:t>
            </a:r>
            <a:endParaRPr lang="en-US" sz="1050" dirty="0"/>
          </a:p>
        </p:txBody>
      </p:sp>
      <p:sp>
        <p:nvSpPr>
          <p:cNvPr id="15" name="Shape 13"/>
          <p:cNvSpPr/>
          <p:nvPr/>
        </p:nvSpPr>
        <p:spPr>
          <a:xfrm>
            <a:off x="548640" y="3474720"/>
            <a:ext cx="8046720" cy="1024128"/>
          </a:xfrm>
          <a:prstGeom prst="roundRect">
            <a:avLst>
              <a:gd name="adj" fmla="val 8036"/>
            </a:avLst>
          </a:prstGeom>
          <a:solidFill>
            <a:srgbClr val="F1F5FB"/>
          </a:solidFill>
          <a:ln/>
          <a:effectLst>
            <a:outerShdw sx="100000" sy="100000" kx="0" ky="0" algn="bl" rotWithShape="0" blurRad="101600" dist="38100" dir="2700000">
              <a:srgbClr val="1A2A44">
                <a:alpha val="18000"/>
              </a:srgbClr>
            </a:outerShdw>
          </a:effectLst>
        </p:spPr>
      </p:sp>
      <p:sp>
        <p:nvSpPr>
          <p:cNvPr id="16" name="Shape 14"/>
          <p:cNvSpPr/>
          <p:nvPr/>
        </p:nvSpPr>
        <p:spPr>
          <a:xfrm>
            <a:off x="713232" y="3749040"/>
            <a:ext cx="1417320" cy="457200"/>
          </a:xfrm>
          <a:prstGeom prst="roundRect">
            <a:avLst>
              <a:gd name="adj" fmla="val 16000"/>
            </a:avLst>
          </a:prstGeom>
          <a:solidFill>
            <a:srgbClr val="E8A13D"/>
          </a:solidFill>
          <a:ln/>
        </p:spPr>
      </p:sp>
      <p:sp>
        <p:nvSpPr>
          <p:cNvPr id="17" name="Text 15"/>
          <p:cNvSpPr/>
          <p:nvPr/>
        </p:nvSpPr>
        <p:spPr>
          <a:xfrm>
            <a:off x="713232" y="3749040"/>
            <a:ext cx="14173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Identitaet</a:t>
            </a:r>
            <a:endParaRPr lang="en-US" sz="1200" dirty="0"/>
          </a:p>
        </p:txBody>
      </p:sp>
      <p:sp>
        <p:nvSpPr>
          <p:cNvPr id="18" name="Text 16"/>
          <p:cNvSpPr/>
          <p:nvPr/>
        </p:nvSpPr>
        <p:spPr>
          <a:xfrm>
            <a:off x="2331720" y="3584448"/>
            <a:ext cx="4846320" cy="320040"/>
          </a:xfrm>
          <a:prstGeom prst="rect">
            <a:avLst/>
          </a:prstGeom>
          <a:noFill/>
          <a:ln/>
        </p:spPr>
        <p:txBody>
          <a:bodyPr wrap="square" lIns="0" tIns="0" rIns="0" bIns="0" rtlCol="0" anchor="ctr"/>
          <a:lstStyle/>
          <a:p>
            <a:pPr indent="0" marL="0">
              <a:buNone/>
            </a:pPr>
            <a:r>
              <a:rPr lang="en-US" sz="1450" b="1" dirty="0">
                <a:solidFill>
                  <a:srgbClr val="17263D"/>
                </a:solidFill>
                <a:latin typeface="Calibri" pitchFamily="34" charset="0"/>
                <a:ea typeface="Calibri" pitchFamily="34" charset="-122"/>
                <a:cs typeface="Calibri" pitchFamily="34" charset="-120"/>
              </a:rPr>
              <a:t>Quantensicher signierte Tokens</a:t>
            </a:r>
            <a:endParaRPr lang="en-US" sz="1450" dirty="0"/>
          </a:p>
        </p:txBody>
      </p:sp>
      <p:sp>
        <p:nvSpPr>
          <p:cNvPr id="19" name="Text 17"/>
          <p:cNvSpPr/>
          <p:nvPr/>
        </p:nvSpPr>
        <p:spPr>
          <a:xfrm>
            <a:off x="2331720" y="3904488"/>
            <a:ext cx="4846320" cy="54864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Jeder Login-Nachweis ist mit ML-DSA-65 signiert. Nicht faelschbar, auch nicht mit einem Quantencomputer.</a:t>
            </a:r>
            <a:endParaRPr lang="en-US" sz="1150" dirty="0"/>
          </a:p>
        </p:txBody>
      </p:sp>
      <p:sp>
        <p:nvSpPr>
          <p:cNvPr id="20" name="Text 18"/>
          <p:cNvSpPr/>
          <p:nvPr/>
        </p:nvSpPr>
        <p:spPr>
          <a:xfrm>
            <a:off x="6903720" y="3584448"/>
            <a:ext cx="1600200" cy="822960"/>
          </a:xfrm>
          <a:prstGeom prst="rect">
            <a:avLst/>
          </a:prstGeom>
          <a:noFill/>
          <a:ln/>
        </p:spPr>
        <p:txBody>
          <a:bodyPr wrap="square" lIns="0" tIns="0" rIns="0" bIns="0" rtlCol="0" anchor="ctr"/>
          <a:lstStyle/>
          <a:p>
            <a:pPr algn="r" indent="0" marL="0">
              <a:buNone/>
            </a:pPr>
            <a:r>
              <a:rPr lang="en-US" sz="1050" b="1" dirty="0">
                <a:solidFill>
                  <a:srgbClr val="0E7A57"/>
                </a:solidFill>
                <a:latin typeface="Courier New" pitchFamily="34" charset="0"/>
                <a:ea typeface="Courier New" pitchFamily="34" charset="-122"/>
                <a:cs typeface="Courier New" pitchFamily="34" charset="-120"/>
              </a:rPr>
              <a:t>ML-DSA-65</a:t>
            </a:r>
            <a:endParaRPr lang="en-US" sz="1050" dirty="0"/>
          </a:p>
        </p:txBody>
      </p:sp>
      <p:sp>
        <p:nvSpPr>
          <p:cNvPr id="21" name="Text 19"/>
          <p:cNvSpPr/>
          <p:nvPr/>
        </p:nvSpPr>
        <p:spPr>
          <a:xfrm>
            <a:off x="548640" y="4617720"/>
            <a:ext cx="8046720" cy="320040"/>
          </a:xfrm>
          <a:prstGeom prst="rect">
            <a:avLst/>
          </a:prstGeom>
          <a:noFill/>
          <a:ln/>
        </p:spPr>
        <p:txBody>
          <a:bodyPr wrap="square" rtlCol="0" anchor="ctr"/>
          <a:lstStyle/>
          <a:p>
            <a:pPr indent="0" marL="0">
              <a:buNone/>
            </a:pPr>
            <a:r>
              <a:rPr lang="en-US" sz="1300" b="1" i="1" dirty="0">
                <a:solidFill>
                  <a:srgbClr val="0E7A57"/>
                </a:solidFill>
                <a:latin typeface="Calibri" pitchFamily="34" charset="0"/>
                <a:ea typeface="Calibri" pitchFamily="34" charset="-122"/>
                <a:cs typeface="Calibri" pitchFamily="34" charset="-120"/>
              </a:rPr>
              <a:t>Faellt eine Schicht aus, haelt die andere: Defense in Depth.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640080" y="365760"/>
            <a:ext cx="512064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Probieren Sie es aus</a:t>
            </a:r>
            <a:endParaRPr lang="en-US" sz="3400" dirty="0"/>
          </a:p>
        </p:txBody>
      </p:sp>
      <p:sp>
        <p:nvSpPr>
          <p:cNvPr id="3" name="Text 1"/>
          <p:cNvSpPr/>
          <p:nvPr/>
        </p:nvSpPr>
        <p:spPr>
          <a:xfrm>
            <a:off x="640080" y="1005840"/>
            <a:ext cx="5120640" cy="365760"/>
          </a:xfrm>
          <a:prstGeom prst="rect">
            <a:avLst/>
          </a:prstGeom>
          <a:noFill/>
          <a:ln/>
        </p:spPr>
        <p:txBody>
          <a:bodyPr wrap="square" rtlCol="0" anchor="ctr"/>
          <a:lstStyle/>
          <a:p>
            <a:pPr indent="0" marL="0">
              <a:buNone/>
            </a:pPr>
            <a:r>
              <a:rPr lang="en-US" sz="1500" i="1" dirty="0">
                <a:solidFill>
                  <a:srgbClr val="21C08B"/>
                </a:solidFill>
                <a:latin typeface="Calibri" pitchFamily="34" charset="0"/>
                <a:ea typeface="Calibri" pitchFamily="34" charset="-122"/>
                <a:cs typeface="Calibri" pitchFamily="34" charset="-120"/>
              </a:rPr>
              <a:t>Live-Demo auf Ihrem Handy</a:t>
            </a:r>
            <a:endParaRPr lang="en-US" sz="1500" dirty="0"/>
          </a:p>
        </p:txBody>
      </p:sp>
      <p:sp>
        <p:nvSpPr>
          <p:cNvPr id="4" name="Shape 2"/>
          <p:cNvSpPr/>
          <p:nvPr/>
        </p:nvSpPr>
        <p:spPr>
          <a:xfrm>
            <a:off x="640080" y="1600200"/>
            <a:ext cx="457200" cy="457200"/>
          </a:xfrm>
          <a:prstGeom prst="ellipse">
            <a:avLst/>
          </a:prstGeom>
          <a:solidFill>
            <a:srgbClr val="21C08B"/>
          </a:solidFill>
          <a:ln/>
        </p:spPr>
      </p:sp>
      <p:sp>
        <p:nvSpPr>
          <p:cNvPr id="5" name="Text 3"/>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1800" b="1" dirty="0">
                <a:solidFill>
                  <a:srgbClr val="0A1F3C"/>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25880" y="1563624"/>
            <a:ext cx="4480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Expo Go installieren</a:t>
            </a:r>
            <a:endParaRPr lang="en-US" sz="1600" dirty="0"/>
          </a:p>
        </p:txBody>
      </p:sp>
      <p:sp>
        <p:nvSpPr>
          <p:cNvPr id="7" name="Text 5"/>
          <p:cNvSpPr/>
          <p:nvPr/>
        </p:nvSpPr>
        <p:spPr>
          <a:xfrm>
            <a:off x="1325880" y="1911096"/>
            <a:ext cx="4480560" cy="320040"/>
          </a:xfrm>
          <a:prstGeom prst="rect">
            <a:avLst/>
          </a:prstGeom>
          <a:noFill/>
          <a:ln/>
        </p:spPr>
        <p:txBody>
          <a:bodyPr wrap="square" lIns="0" tIns="0" rIns="0" bIns="0" rtlCol="0" anchor="ctr"/>
          <a:lstStyle/>
          <a:p>
            <a:pPr indent="0" marL="0">
              <a:buNone/>
            </a:pPr>
            <a:r>
              <a:rPr lang="en-US" sz="1150" dirty="0">
                <a:solidFill>
                  <a:srgbClr val="C9DCF5"/>
                </a:solidFill>
                <a:latin typeface="Courier New" pitchFamily="34" charset="0"/>
                <a:ea typeface="Courier New" pitchFamily="34" charset="-122"/>
                <a:cs typeface="Courier New" pitchFamily="34" charset="-120"/>
              </a:rPr>
              <a:t>App Store, gratis, 30 Sekunden</a:t>
            </a:r>
            <a:endParaRPr lang="en-US" sz="1150" dirty="0"/>
          </a:p>
        </p:txBody>
      </p:sp>
      <p:sp>
        <p:nvSpPr>
          <p:cNvPr id="8" name="Shape 6"/>
          <p:cNvSpPr/>
          <p:nvPr/>
        </p:nvSpPr>
        <p:spPr>
          <a:xfrm>
            <a:off x="640080" y="2560320"/>
            <a:ext cx="457200" cy="457200"/>
          </a:xfrm>
          <a:prstGeom prst="ellipse">
            <a:avLst/>
          </a:prstGeom>
          <a:solidFill>
            <a:srgbClr val="21C08B"/>
          </a:solidFill>
          <a:ln/>
        </p:spPr>
      </p:sp>
      <p:sp>
        <p:nvSpPr>
          <p:cNvPr id="9" name="Text 7"/>
          <p:cNvSpPr/>
          <p:nvPr/>
        </p:nvSpPr>
        <p:spPr>
          <a:xfrm>
            <a:off x="640080" y="2560320"/>
            <a:ext cx="457200" cy="457200"/>
          </a:xfrm>
          <a:prstGeom prst="rect">
            <a:avLst/>
          </a:prstGeom>
          <a:noFill/>
          <a:ln/>
        </p:spPr>
        <p:txBody>
          <a:bodyPr wrap="square" lIns="0" tIns="0" rIns="0" bIns="0" rtlCol="0" anchor="ctr"/>
          <a:lstStyle/>
          <a:p>
            <a:pPr algn="ctr" indent="0" marL="0">
              <a:buNone/>
            </a:pPr>
            <a:r>
              <a:rPr lang="en-US" sz="1800" b="1" dirty="0">
                <a:solidFill>
                  <a:srgbClr val="0A1F3C"/>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325880" y="2523744"/>
            <a:ext cx="4480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Mein WLAN plus QR-Code</a:t>
            </a:r>
            <a:endParaRPr lang="en-US" sz="1600" dirty="0"/>
          </a:p>
        </p:txBody>
      </p:sp>
      <p:sp>
        <p:nvSpPr>
          <p:cNvPr id="11" name="Text 9"/>
          <p:cNvSpPr/>
          <p:nvPr/>
        </p:nvSpPr>
        <p:spPr>
          <a:xfrm>
            <a:off x="1325880" y="2871216"/>
            <a:ext cx="4480560" cy="320040"/>
          </a:xfrm>
          <a:prstGeom prst="rect">
            <a:avLst/>
          </a:prstGeom>
          <a:noFill/>
          <a:ln/>
        </p:spPr>
        <p:txBody>
          <a:bodyPr wrap="square" lIns="0" tIns="0" rIns="0" bIns="0" rtlCol="0" anchor="ctr"/>
          <a:lstStyle/>
          <a:p>
            <a:pPr indent="0" marL="0">
              <a:buNone/>
            </a:pPr>
            <a:r>
              <a:rPr lang="en-US" sz="1150" dirty="0">
                <a:solidFill>
                  <a:srgbClr val="C9DCF5"/>
                </a:solidFill>
                <a:latin typeface="Courier New" pitchFamily="34" charset="0"/>
                <a:ea typeface="Courier New" pitchFamily="34" charset="-122"/>
                <a:cs typeface="Courier New" pitchFamily="34" charset="-120"/>
              </a:rPr>
              <a:t>Hotspot: RumiDemo (Passwort sage ich an)</a:t>
            </a:r>
            <a:endParaRPr lang="en-US" sz="1150" dirty="0"/>
          </a:p>
        </p:txBody>
      </p:sp>
      <p:sp>
        <p:nvSpPr>
          <p:cNvPr id="12" name="Shape 10"/>
          <p:cNvSpPr/>
          <p:nvPr/>
        </p:nvSpPr>
        <p:spPr>
          <a:xfrm>
            <a:off x="640080" y="3520440"/>
            <a:ext cx="457200" cy="457200"/>
          </a:xfrm>
          <a:prstGeom prst="ellipse">
            <a:avLst/>
          </a:prstGeom>
          <a:solidFill>
            <a:srgbClr val="21C08B"/>
          </a:solidFill>
          <a:ln/>
        </p:spPr>
      </p:sp>
      <p:sp>
        <p:nvSpPr>
          <p:cNvPr id="13" name="Text 11"/>
          <p:cNvSpPr/>
          <p:nvPr/>
        </p:nvSpPr>
        <p:spPr>
          <a:xfrm>
            <a:off x="640080" y="3520440"/>
            <a:ext cx="457200" cy="457200"/>
          </a:xfrm>
          <a:prstGeom prst="rect">
            <a:avLst/>
          </a:prstGeom>
          <a:noFill/>
          <a:ln/>
        </p:spPr>
        <p:txBody>
          <a:bodyPr wrap="square" lIns="0" tIns="0" rIns="0" bIns="0" rtlCol="0" anchor="ctr"/>
          <a:lstStyle/>
          <a:p>
            <a:pPr algn="ctr" indent="0" marL="0">
              <a:buNone/>
            </a:pPr>
            <a:r>
              <a:rPr lang="en-US" sz="1800" b="1" dirty="0">
                <a:solidFill>
                  <a:srgbClr val="0A1F3C"/>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325880" y="3483864"/>
            <a:ext cx="4480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Einloggen</a:t>
            </a:r>
            <a:endParaRPr lang="en-US" sz="1600" dirty="0"/>
          </a:p>
        </p:txBody>
      </p:sp>
      <p:sp>
        <p:nvSpPr>
          <p:cNvPr id="15" name="Text 13"/>
          <p:cNvSpPr/>
          <p:nvPr/>
        </p:nvSpPr>
        <p:spPr>
          <a:xfrm>
            <a:off x="1325880" y="3831336"/>
            <a:ext cx="4480560" cy="320040"/>
          </a:xfrm>
          <a:prstGeom prst="rect">
            <a:avLst/>
          </a:prstGeom>
          <a:noFill/>
          <a:ln/>
        </p:spPr>
        <p:txBody>
          <a:bodyPr wrap="square" lIns="0" tIns="0" rIns="0" bIns="0" rtlCol="0" anchor="ctr"/>
          <a:lstStyle/>
          <a:p>
            <a:pPr indent="0" marL="0">
              <a:buNone/>
            </a:pPr>
            <a:r>
              <a:rPr lang="en-US" sz="1150" dirty="0">
                <a:solidFill>
                  <a:srgbClr val="C9DCF5"/>
                </a:solidFill>
                <a:latin typeface="Courier New" pitchFamily="34" charset="0"/>
                <a:ea typeface="Courier New" pitchFamily="34" charset="-122"/>
                <a:cs typeface="Courier New" pitchFamily="34" charset="-120"/>
              </a:rPr>
              <a:t>demo@example.com  /  demo-passwort-12345</a:t>
            </a:r>
            <a:endParaRPr lang="en-US" sz="1150" dirty="0"/>
          </a:p>
        </p:txBody>
      </p:sp>
      <p:sp>
        <p:nvSpPr>
          <p:cNvPr id="16" name="Text 14"/>
          <p:cNvSpPr/>
          <p:nvPr/>
        </p:nvSpPr>
        <p:spPr>
          <a:xfrm>
            <a:off x="640080" y="4526280"/>
            <a:ext cx="5394960" cy="365760"/>
          </a:xfrm>
          <a:prstGeom prst="rect">
            <a:avLst/>
          </a:prstGeom>
          <a:noFill/>
          <a:ln/>
        </p:spPr>
        <p:txBody>
          <a:bodyPr wrap="square" rtlCol="0" anchor="ctr"/>
          <a:lstStyle/>
          <a:p>
            <a:pPr indent="0" marL="0">
              <a:buNone/>
            </a:pPr>
            <a:r>
              <a:rPr lang="en-US" sz="1300" i="1" dirty="0">
                <a:solidFill>
                  <a:srgbClr val="C9DCF5"/>
                </a:solidFill>
                <a:latin typeface="Calibri" pitchFamily="34" charset="0"/>
                <a:ea typeface="Calibri" pitchFamily="34" charset="-122"/>
                <a:cs typeface="Calibri" pitchFamily="34" charset="-120"/>
              </a:rPr>
              <a:t>Danach zeigt Ihr Handy: «Du bist jetzt Post-Quantum-gesichert.»</a:t>
            </a:r>
            <a:endParaRPr lang="en-US" sz="1300" dirty="0"/>
          </a:p>
        </p:txBody>
      </p:sp>
      <p:sp>
        <p:nvSpPr>
          <p:cNvPr id="17" name="Shape 15"/>
          <p:cNvSpPr/>
          <p:nvPr/>
        </p:nvSpPr>
        <p:spPr>
          <a:xfrm>
            <a:off x="6035040" y="1051560"/>
            <a:ext cx="2651760" cy="3200400"/>
          </a:xfrm>
          <a:prstGeom prst="roundRect">
            <a:avLst>
              <a:gd name="adj" fmla="val 4138"/>
            </a:avLst>
          </a:prstGeom>
          <a:solidFill>
            <a:srgbClr val="FFFFFF"/>
          </a:solidFill>
          <a:ln/>
          <a:effectLst>
            <a:outerShdw sx="100000" sy="100000" kx="0" ky="0" algn="bl" rotWithShape="0" blurRad="101600" dist="38100" dir="2700000">
              <a:srgbClr val="1A2A44">
                <a:alpha val="18000"/>
              </a:srgbClr>
            </a:outerShdw>
          </a:effectLst>
        </p:spPr>
      </p:sp>
      <p:pic>
        <p:nvPicPr>
          <p:cNvPr id="18" name="Image 0" descr="qr_expo.png">    </p:cNvPr>
          <p:cNvPicPr>
            <a:picLocks noChangeAspect="1"/>
          </p:cNvPicPr>
          <p:nvPr/>
        </p:nvPicPr>
        <p:blipFill>
          <a:blip r:embed="rId1"/>
          <a:stretch>
            <a:fillRect/>
          </a:stretch>
        </p:blipFill>
        <p:spPr>
          <a:xfrm>
            <a:off x="6263640" y="1280160"/>
            <a:ext cx="2194560" cy="2194560"/>
          </a:xfrm>
          <a:prstGeom prst="rect">
            <a:avLst/>
          </a:prstGeom>
        </p:spPr>
      </p:pic>
      <p:sp>
        <p:nvSpPr>
          <p:cNvPr id="19" name="Text 16"/>
          <p:cNvSpPr/>
          <p:nvPr/>
        </p:nvSpPr>
        <p:spPr>
          <a:xfrm>
            <a:off x="6035040" y="3566160"/>
            <a:ext cx="2651760" cy="548640"/>
          </a:xfrm>
          <a:prstGeom prst="rect">
            <a:avLst/>
          </a:prstGeom>
          <a:noFill/>
          <a:ln/>
        </p:spPr>
        <p:txBody>
          <a:bodyPr wrap="square"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QR live scannen</a:t>
            </a:r>
            <a:endParaRPr lang="en-US" sz="1100" dirty="0"/>
          </a:p>
          <a:p>
            <a:pPr algn="ctr" indent="0" marL="0">
              <a:buNone/>
            </a:pPr>
            <a:r>
              <a:rPr lang="en-US" sz="1100" dirty="0">
                <a:solidFill>
                  <a:srgbClr val="5B6B82"/>
                </a:solidFill>
                <a:latin typeface="Calibri" pitchFamily="34" charset="0"/>
                <a:ea typeface="Calibri" pitchFamily="34" charset="-122"/>
                <a:cs typeface="Calibri" pitchFamily="34" charset="-120"/>
              </a:rPr>
              <a:t>(Expo Go, gleiches Netz)</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000" b="1" dirty="0">
                <a:solidFill>
                  <a:srgbClr val="17263D"/>
                </a:solidFill>
                <a:latin typeface="Cambria" pitchFamily="34" charset="0"/>
                <a:ea typeface="Cambria" pitchFamily="34" charset="-122"/>
                <a:cs typeface="Cambria" pitchFamily="34" charset="-120"/>
              </a:rPr>
              <a:t>Was ein Angreifer sieht</a:t>
            </a:r>
            <a:endParaRPr lang="en-US" sz="3000" dirty="0"/>
          </a:p>
        </p:txBody>
      </p:sp>
      <p:sp>
        <p:nvSpPr>
          <p:cNvPr id="3" name="Shape 1"/>
          <p:cNvSpPr/>
          <p:nvPr/>
        </p:nvSpPr>
        <p:spPr>
          <a:xfrm>
            <a:off x="548640" y="1097280"/>
            <a:ext cx="4114800" cy="3200400"/>
          </a:xfrm>
          <a:prstGeom prst="roundRect">
            <a:avLst>
              <a:gd name="adj" fmla="val 2571"/>
            </a:avLst>
          </a:prstGeom>
          <a:solidFill>
            <a:srgbClr val="101826"/>
          </a:solidFill>
          <a:ln/>
          <a:effectLst>
            <a:outerShdw sx="100000" sy="100000" kx="0" ky="0" algn="bl" rotWithShape="0" blurRad="101600" dist="38100" dir="2700000">
              <a:srgbClr val="1A2A44">
                <a:alpha val="18000"/>
              </a:srgbClr>
            </a:outerShdw>
          </a:effectLst>
        </p:spPr>
      </p:sp>
      <p:sp>
        <p:nvSpPr>
          <p:cNvPr id="4" name="Text 2"/>
          <p:cNvSpPr/>
          <p:nvPr/>
        </p:nvSpPr>
        <p:spPr>
          <a:xfrm>
            <a:off x="777240" y="1234440"/>
            <a:ext cx="3657600" cy="274320"/>
          </a:xfrm>
          <a:prstGeom prst="rect">
            <a:avLst/>
          </a:prstGeom>
          <a:noFill/>
          <a:ln/>
        </p:spPr>
        <p:txBody>
          <a:bodyPr wrap="square" lIns="0" tIns="0" rIns="0" bIns="0" rtlCol="0" anchor="ctr"/>
          <a:lstStyle/>
          <a:p>
            <a:pPr indent="0" marL="0">
              <a:buNone/>
            </a:pPr>
            <a:r>
              <a:rPr lang="en-US" sz="1150" b="1" dirty="0">
                <a:solidFill>
                  <a:srgbClr val="C9DCF5"/>
                </a:solidFill>
                <a:latin typeface="Calibri" pitchFamily="34" charset="0"/>
                <a:ea typeface="Calibri" pitchFamily="34" charset="-122"/>
                <a:cs typeface="Calibri" pitchFamily="34" charset="-120"/>
              </a:rPr>
              <a:t>Mitschnitt im WLAN (Wireshark)</a:t>
            </a:r>
            <a:endParaRPr lang="en-US" sz="1150" dirty="0"/>
          </a:p>
        </p:txBody>
      </p:sp>
      <p:sp>
        <p:nvSpPr>
          <p:cNvPr id="5" name="Text 3"/>
          <p:cNvSpPr/>
          <p:nvPr/>
        </p:nvSpPr>
        <p:spPr>
          <a:xfrm>
            <a:off x="777240" y="1572768"/>
            <a:ext cx="3657600" cy="2606040"/>
          </a:xfrm>
          <a:prstGeom prst="rect">
            <a:avLst/>
          </a:prstGeom>
          <a:noFill/>
          <a:ln/>
        </p:spPr>
        <p:txBody>
          <a:bodyPr wrap="square" rtlCol="0" anchor="t"/>
          <a:lstStyle/>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POST /api/profile HTTP/1.1</a:t>
            </a:r>
            <a:endParaRPr lang="en-US" sz="1100" dirty="0"/>
          </a:p>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X-Session-Id: vJ3q...9zA</a:t>
            </a:r>
            <a:endParaRPr lang="en-US" sz="1100" dirty="0"/>
          </a:p>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X-Nonce: 8Q1f...bXw</a:t>
            </a:r>
            <a:endParaRPr lang="en-US" sz="1100" dirty="0"/>
          </a:p>
          <a:p>
            <a:pPr indent="0" marL="0">
              <a:lnSpc>
                <a:spcPct val="110000"/>
              </a:lnSpc>
              <a:buNone/>
            </a:pPr>
            <a:r>
              <a:rPr lang="en-US" sz="1100" dirty="0">
                <a:solidFill>
                  <a:srgbClr val="9FB6D9"/>
                </a:solidFill>
                <a:latin typeface="Courier New" pitchFamily="34" charset="0"/>
                <a:ea typeface="Courier New" pitchFamily="34" charset="-122"/>
                <a:cs typeface="Courier New" pitchFamily="34" charset="-120"/>
              </a:rPr>
              <a:t>Content-Type: octet-stream</a:t>
            </a:r>
            <a:endParaRPr lang="en-US" sz="1100" dirty="0"/>
          </a:p>
          <a:p>
            <a:pPr indent="0" marL="0">
              <a:lnSpc>
                <a:spcPct val="110000"/>
              </a:lnSpc>
              <a:buNone/>
            </a:pPr>
            <a:endParaRPr lang="en-US" sz="1100" dirty="0"/>
          </a:p>
          <a:p>
            <a:pPr indent="0" marL="0">
              <a:lnSpc>
                <a:spcPct val="110000"/>
              </a:lnSpc>
              <a:buNone/>
            </a:pPr>
            <a:r>
              <a:rPr lang="en-US" sz="1100" dirty="0">
                <a:solidFill>
                  <a:srgbClr val="21C08B"/>
                </a:solidFill>
                <a:latin typeface="Courier New" pitchFamily="34" charset="0"/>
                <a:ea typeface="Courier New" pitchFamily="34" charset="-122"/>
                <a:cs typeface="Courier New" pitchFamily="34" charset="-120"/>
              </a:rPr>
              <a:t>b2 f1 8e 03 5a 91 cc 47 0d ea</a:t>
            </a:r>
            <a:endParaRPr lang="en-US" sz="1100" dirty="0"/>
          </a:p>
          <a:p>
            <a:pPr indent="0" marL="0">
              <a:lnSpc>
                <a:spcPct val="110000"/>
              </a:lnSpc>
              <a:buNone/>
            </a:pPr>
            <a:r>
              <a:rPr lang="en-US" sz="1100" dirty="0">
                <a:solidFill>
                  <a:srgbClr val="21C08B"/>
                </a:solidFill>
                <a:latin typeface="Courier New" pitchFamily="34" charset="0"/>
                <a:ea typeface="Courier New" pitchFamily="34" charset="-122"/>
                <a:cs typeface="Courier New" pitchFamily="34" charset="-120"/>
              </a:rPr>
              <a:t>77 12 f9 40 8b 6e a3 d5 21 90</a:t>
            </a:r>
            <a:endParaRPr lang="en-US" sz="1100" dirty="0"/>
          </a:p>
          <a:p>
            <a:pPr indent="0" marL="0">
              <a:lnSpc>
                <a:spcPct val="110000"/>
              </a:lnSpc>
              <a:buNone/>
            </a:pPr>
            <a:r>
              <a:rPr lang="en-US" sz="1100" dirty="0">
                <a:solidFill>
                  <a:srgbClr val="21C08B"/>
                </a:solidFill>
                <a:latin typeface="Courier New" pitchFamily="34" charset="0"/>
                <a:ea typeface="Courier New" pitchFamily="34" charset="-122"/>
                <a:cs typeface="Courier New" pitchFamily="34" charset="-120"/>
              </a:rPr>
              <a:t>4c e8 07 bd 3f 66 52 aa 1b c4</a:t>
            </a:r>
            <a:endParaRPr lang="en-US" sz="1100" dirty="0"/>
          </a:p>
          <a:p>
            <a:pPr indent="0" marL="0">
              <a:lnSpc>
                <a:spcPct val="110000"/>
              </a:lnSpc>
              <a:buNone/>
            </a:pPr>
            <a:r>
              <a:rPr lang="en-US" sz="1100" i="1" dirty="0">
                <a:solidFill>
                  <a:srgbClr val="6E86A8"/>
                </a:solidFill>
                <a:latin typeface="Courier New" pitchFamily="34" charset="0"/>
                <a:ea typeface="Courier New" pitchFamily="34" charset="-122"/>
                <a:cs typeface="Courier New" pitchFamily="34" charset="-120"/>
              </a:rPr>
              <a:t>... nur Ciphertext, kein Klartext</a:t>
            </a:r>
            <a:endParaRPr lang="en-US" sz="1100" dirty="0"/>
          </a:p>
        </p:txBody>
      </p:sp>
      <p:sp>
        <p:nvSpPr>
          <p:cNvPr id="6" name="Shape 4"/>
          <p:cNvSpPr/>
          <p:nvPr/>
        </p:nvSpPr>
        <p:spPr>
          <a:xfrm>
            <a:off x="4937760" y="1097280"/>
            <a:ext cx="3657600" cy="1828800"/>
          </a:xfrm>
          <a:prstGeom prst="roundRect">
            <a:avLst>
              <a:gd name="adj" fmla="val 4500"/>
            </a:avLst>
          </a:prstGeom>
          <a:solidFill>
            <a:srgbClr val="F1F5FB"/>
          </a:solidFill>
          <a:ln/>
          <a:effectLst>
            <a:outerShdw sx="100000" sy="100000" kx="0" ky="0" algn="bl" rotWithShape="0" blurRad="101600" dist="38100" dir="2700000">
              <a:srgbClr val="1A2A44">
                <a:alpha val="18000"/>
              </a:srgbClr>
            </a:outerShdw>
          </a:effectLst>
        </p:spPr>
      </p:sp>
      <p:sp>
        <p:nvSpPr>
          <p:cNvPr id="7" name="Text 5"/>
          <p:cNvSpPr/>
          <p:nvPr/>
        </p:nvSpPr>
        <p:spPr>
          <a:xfrm>
            <a:off x="5166360" y="1234440"/>
            <a:ext cx="3200400" cy="274320"/>
          </a:xfrm>
          <a:prstGeom prst="rect">
            <a:avLst/>
          </a:prstGeom>
          <a:noFill/>
          <a:ln/>
        </p:spPr>
        <p:txBody>
          <a:bodyPr wrap="square" lIns="0" tIns="0" rIns="0" bIns="0" rtlCol="0" anchor="ctr"/>
          <a:lstStyle/>
          <a:p>
            <a:pPr indent="0" marL="0">
              <a:buNone/>
            </a:pPr>
            <a:r>
              <a:rPr lang="en-US" sz="1150" b="1" dirty="0">
                <a:solidFill>
                  <a:srgbClr val="17263D"/>
                </a:solidFill>
                <a:latin typeface="Calibri" pitchFamily="34" charset="0"/>
                <a:ea typeface="Calibri" pitchFamily="34" charset="-122"/>
                <a:cs typeface="Calibri" pitchFamily="34" charset="-120"/>
              </a:rPr>
              <a:t>TLS-Handshake meines iPhones (Server-Log)</a:t>
            </a:r>
            <a:endParaRPr lang="en-US" sz="1150" dirty="0"/>
          </a:p>
        </p:txBody>
      </p:sp>
      <p:sp>
        <p:nvSpPr>
          <p:cNvPr id="8" name="Text 6"/>
          <p:cNvSpPr/>
          <p:nvPr/>
        </p:nvSpPr>
        <p:spPr>
          <a:xfrm>
            <a:off x="5166360" y="1572768"/>
            <a:ext cx="3200400" cy="1188720"/>
          </a:xfrm>
          <a:prstGeom prst="rect">
            <a:avLst/>
          </a:prstGeom>
          <a:noFill/>
          <a:ln/>
        </p:spPr>
        <p:txBody>
          <a:bodyPr wrap="square" rtlCol="0" anchor="t"/>
          <a:lstStyle/>
          <a:p>
            <a:pPr indent="0" marL="0">
              <a:lnSpc>
                <a:spcPct val="115000"/>
              </a:lnSpc>
              <a:buNone/>
            </a:pPr>
            <a:r>
              <a:rPr lang="en-US" sz="1250" dirty="0">
                <a:solidFill>
                  <a:srgbClr val="5B6B82"/>
                </a:solidFill>
                <a:latin typeface="Courier New" pitchFamily="34" charset="0"/>
                <a:ea typeface="Courier New" pitchFamily="34" charset="-122"/>
                <a:cs typeface="Courier New" pitchFamily="34" charset="-120"/>
              </a:rPr>
              <a:t>GET /pqc-test  200</a:t>
            </a:r>
            <a:endParaRPr lang="en-US" sz="1250" dirty="0"/>
          </a:p>
          <a:p>
            <a:pPr indent="0" marL="0">
              <a:lnSpc>
                <a:spcPct val="115000"/>
              </a:lnSpc>
              <a:buNone/>
            </a:pPr>
            <a:r>
              <a:rPr lang="en-US" sz="1250" dirty="0">
                <a:solidFill>
                  <a:srgbClr val="5B6B82"/>
                </a:solidFill>
                <a:latin typeface="Courier New" pitchFamily="34" charset="0"/>
                <a:ea typeface="Courier New" pitchFamily="34" charset="-122"/>
                <a:cs typeface="Courier New" pitchFamily="34" charset="-120"/>
              </a:rPr>
              <a:t>"TLSv1.3"</a:t>
            </a:r>
            <a:endParaRPr lang="en-US" sz="1250" dirty="0"/>
          </a:p>
          <a:p>
            <a:pPr indent="0" marL="0">
              <a:lnSpc>
                <a:spcPct val="115000"/>
              </a:lnSpc>
              <a:buNone/>
            </a:pPr>
            <a:r>
              <a:rPr lang="en-US" sz="1250" b="1" dirty="0">
                <a:solidFill>
                  <a:srgbClr val="0E7A57"/>
                </a:solidFill>
                <a:latin typeface="Courier New" pitchFamily="34" charset="0"/>
                <a:ea typeface="Courier New" pitchFamily="34" charset="-122"/>
                <a:cs typeface="Courier New" pitchFamily="34" charset="-120"/>
              </a:rPr>
              <a:t>"X25519MLKEM768"</a:t>
            </a:r>
            <a:endParaRPr lang="en-US" sz="1250" dirty="0"/>
          </a:p>
        </p:txBody>
      </p:sp>
      <p:sp>
        <p:nvSpPr>
          <p:cNvPr id="9" name="Shape 7"/>
          <p:cNvSpPr/>
          <p:nvPr/>
        </p:nvSpPr>
        <p:spPr>
          <a:xfrm>
            <a:off x="4937760" y="3154680"/>
            <a:ext cx="3657600" cy="1143000"/>
          </a:xfrm>
          <a:prstGeom prst="roundRect">
            <a:avLst>
              <a:gd name="adj" fmla="val 7200"/>
            </a:avLst>
          </a:prstGeom>
          <a:solidFill>
            <a:srgbClr val="E6EFFB"/>
          </a:solidFill>
          <a:ln/>
        </p:spPr>
      </p:sp>
      <p:sp>
        <p:nvSpPr>
          <p:cNvPr id="10" name="Text 8"/>
          <p:cNvSpPr/>
          <p:nvPr/>
        </p:nvSpPr>
        <p:spPr>
          <a:xfrm>
            <a:off x="5166360" y="3310128"/>
            <a:ext cx="3200400" cy="868680"/>
          </a:xfrm>
          <a:prstGeom prst="rect">
            <a:avLst/>
          </a:prstGeom>
          <a:noFill/>
          <a:ln/>
        </p:spPr>
        <p:txBody>
          <a:bodyPr wrap="square" rtlCol="0" anchor="t"/>
          <a:lstStyle/>
          <a:p>
            <a:pPr indent="0" marL="0">
              <a:buNone/>
            </a:pPr>
            <a:r>
              <a:rPr lang="en-US" sz="1250" b="1" dirty="0">
                <a:solidFill>
                  <a:srgbClr val="17263D"/>
                </a:solidFill>
                <a:latin typeface="Calibri" pitchFamily="34" charset="0"/>
                <a:ea typeface="Calibri" pitchFamily="34" charset="-122"/>
                <a:cs typeface="Calibri" pitchFamily="34" charset="-120"/>
              </a:rPr>
              <a:t>Metadaten sichtbar, Inhalte unlesbar.</a:t>
            </a:r>
            <a:endParaRPr lang="en-US" sz="1250" dirty="0"/>
          </a:p>
          <a:p>
            <a:pPr indent="0" marL="0">
              <a:buNone/>
            </a:pPr>
            <a:r>
              <a:rPr lang="en-US" sz="1250" dirty="0">
                <a:solidFill>
                  <a:srgbClr val="17263D"/>
                </a:solidFill>
                <a:latin typeface="Calibri" pitchFamily="34" charset="0"/>
                <a:ea typeface="Calibri" pitchFamily="34" charset="-122"/>
                <a:cs typeface="Calibri" pitchFamily="34" charset="-120"/>
              </a:rPr>
              <a:t>Selbst ueber offenes WLAN, und erst recht in der Quanten-Aera.</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2800" b="1" dirty="0">
                <a:solidFill>
                  <a:srgbClr val="17263D"/>
                </a:solidFill>
                <a:latin typeface="Cambria" pitchFamily="34" charset="0"/>
                <a:ea typeface="Cambria" pitchFamily="34" charset="-122"/>
                <a:cs typeface="Cambria" pitchFamily="34" charset="-120"/>
              </a:rPr>
              <a:t>Quantensicherheit kostet weniger als eine Millisekunde</a:t>
            </a:r>
            <a:endParaRPr lang="en-US" sz="2800" dirty="0"/>
          </a:p>
        </p:txBody>
      </p:sp>
      <p:sp>
        <p:nvSpPr>
          <p:cNvPr id="3" name="Shape 1"/>
          <p:cNvSpPr/>
          <p:nvPr/>
        </p:nvSpPr>
        <p:spPr>
          <a:xfrm>
            <a:off x="548640" y="1234440"/>
            <a:ext cx="2560320" cy="2331720"/>
          </a:xfrm>
          <a:prstGeom prst="roundRect">
            <a:avLst>
              <a:gd name="adj" fmla="val 3922"/>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548640" y="1463040"/>
            <a:ext cx="2560320" cy="914400"/>
          </a:xfrm>
          <a:prstGeom prst="rect">
            <a:avLst/>
          </a:prstGeom>
          <a:noFill/>
          <a:ln/>
        </p:spPr>
        <p:txBody>
          <a:bodyPr wrap="square" rtlCol="0" anchor="ctr"/>
          <a:lstStyle/>
          <a:p>
            <a:pPr algn="ctr" indent="0" marL="0">
              <a:buNone/>
            </a:pPr>
            <a:r>
              <a:rPr lang="en-US" sz="4400" b="1" dirty="0">
                <a:solidFill>
                  <a:srgbClr val="0E7A57"/>
                </a:solidFill>
                <a:latin typeface="Cambria" pitchFamily="34" charset="0"/>
                <a:ea typeface="Cambria" pitchFamily="34" charset="-122"/>
                <a:cs typeface="Cambria" pitchFamily="34" charset="-120"/>
              </a:rPr>
              <a:t>&lt; 5 ms</a:t>
            </a:r>
            <a:endParaRPr lang="en-US" sz="4400" dirty="0"/>
          </a:p>
        </p:txBody>
      </p:sp>
      <p:sp>
        <p:nvSpPr>
          <p:cNvPr id="5" name="Text 3"/>
          <p:cNvSpPr/>
          <p:nvPr/>
        </p:nvSpPr>
        <p:spPr>
          <a:xfrm>
            <a:off x="731520" y="2423160"/>
            <a:ext cx="2194560" cy="594360"/>
          </a:xfrm>
          <a:prstGeom prst="rect">
            <a:avLst/>
          </a:prstGeom>
          <a:noFill/>
          <a:ln/>
        </p:spPr>
        <p:txBody>
          <a:bodyPr wrap="square" rtlCol="0" anchor="t"/>
          <a:lstStyle/>
          <a:p>
            <a:pPr algn="ctr" indent="0" marL="0">
              <a:buNone/>
            </a:pPr>
            <a:r>
              <a:rPr lang="en-US" sz="1250" b="1" dirty="0">
                <a:solidFill>
                  <a:srgbClr val="17263D"/>
                </a:solidFill>
                <a:latin typeface="Calibri" pitchFamily="34" charset="0"/>
                <a:ea typeface="Calibri" pitchFamily="34" charset="-122"/>
                <a:cs typeface="Calibri" pitchFamily="34" charset="-120"/>
              </a:rPr>
              <a:t>PQ-Schluesseltausch komplett</a:t>
            </a:r>
            <a:endParaRPr lang="en-US" sz="1250" dirty="0"/>
          </a:p>
        </p:txBody>
      </p:sp>
      <p:sp>
        <p:nvSpPr>
          <p:cNvPr id="6" name="Text 4"/>
          <p:cNvSpPr/>
          <p:nvPr/>
        </p:nvSpPr>
        <p:spPr>
          <a:xfrm>
            <a:off x="731520" y="3017520"/>
            <a:ext cx="2194560" cy="457200"/>
          </a:xfrm>
          <a:prstGeom prst="rect">
            <a:avLst/>
          </a:prstGeom>
          <a:noFill/>
          <a:ln/>
        </p:spPr>
        <p:txBody>
          <a:bodyPr wrap="square"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Ziel: 500 ms. 100x besser.</a:t>
            </a:r>
            <a:endParaRPr lang="en-US" sz="1050" dirty="0"/>
          </a:p>
        </p:txBody>
      </p:sp>
      <p:sp>
        <p:nvSpPr>
          <p:cNvPr id="7" name="Shape 5"/>
          <p:cNvSpPr/>
          <p:nvPr/>
        </p:nvSpPr>
        <p:spPr>
          <a:xfrm>
            <a:off x="3337560" y="1234440"/>
            <a:ext cx="2560320" cy="2331720"/>
          </a:xfrm>
          <a:prstGeom prst="roundRect">
            <a:avLst>
              <a:gd name="adj" fmla="val 3922"/>
            </a:avLst>
          </a:prstGeom>
          <a:solidFill>
            <a:srgbClr val="F1F5FB"/>
          </a:solidFill>
          <a:ln/>
          <a:effectLst>
            <a:outerShdw sx="100000" sy="100000" kx="0" ky="0" algn="bl" rotWithShape="0" blurRad="101600" dist="38100" dir="2700000">
              <a:srgbClr val="1A2A44">
                <a:alpha val="18000"/>
              </a:srgbClr>
            </a:outerShdw>
          </a:effectLst>
        </p:spPr>
      </p:sp>
      <p:sp>
        <p:nvSpPr>
          <p:cNvPr id="8" name="Text 6"/>
          <p:cNvSpPr/>
          <p:nvPr/>
        </p:nvSpPr>
        <p:spPr>
          <a:xfrm>
            <a:off x="3337560" y="1463040"/>
            <a:ext cx="2560320" cy="914400"/>
          </a:xfrm>
          <a:prstGeom prst="rect">
            <a:avLst/>
          </a:prstGeom>
          <a:noFill/>
          <a:ln/>
        </p:spPr>
        <p:txBody>
          <a:bodyPr wrap="square" rtlCol="0" anchor="ctr"/>
          <a:lstStyle/>
          <a:p>
            <a:pPr algn="ctr" indent="0" marL="0">
              <a:buNone/>
            </a:pPr>
            <a:r>
              <a:rPr lang="en-US" sz="4400" b="1" dirty="0">
                <a:solidFill>
                  <a:srgbClr val="0A1F3C"/>
                </a:solidFill>
                <a:latin typeface="Cambria" pitchFamily="34" charset="0"/>
                <a:ea typeface="Cambria" pitchFamily="34" charset="-122"/>
                <a:cs typeface="Cambria" pitchFamily="34" charset="-120"/>
              </a:rPr>
              <a:t>0.5 ms</a:t>
            </a:r>
            <a:endParaRPr lang="en-US" sz="4400" dirty="0"/>
          </a:p>
        </p:txBody>
      </p:sp>
      <p:sp>
        <p:nvSpPr>
          <p:cNvPr id="9" name="Text 7"/>
          <p:cNvSpPr/>
          <p:nvPr/>
        </p:nvSpPr>
        <p:spPr>
          <a:xfrm>
            <a:off x="3520440" y="2423160"/>
            <a:ext cx="2194560" cy="594360"/>
          </a:xfrm>
          <a:prstGeom prst="rect">
            <a:avLst/>
          </a:prstGeom>
          <a:noFill/>
          <a:ln/>
        </p:spPr>
        <p:txBody>
          <a:bodyPr wrap="square" rtlCol="0" anchor="t"/>
          <a:lstStyle/>
          <a:p>
            <a:pPr algn="ctr" indent="0" marL="0">
              <a:buNone/>
            </a:pPr>
            <a:r>
              <a:rPr lang="en-US" sz="1250" b="1" dirty="0">
                <a:solidFill>
                  <a:srgbClr val="17263D"/>
                </a:solidFill>
                <a:latin typeface="Calibri" pitchFamily="34" charset="0"/>
                <a:ea typeface="Calibri" pitchFamily="34" charset="-122"/>
                <a:cs typeface="Calibri" pitchFamily="34" charset="-120"/>
              </a:rPr>
              <a:t>Login-Nachweis pruefen (ML-DSA-65)</a:t>
            </a:r>
            <a:endParaRPr lang="en-US" sz="1250" dirty="0"/>
          </a:p>
        </p:txBody>
      </p:sp>
      <p:sp>
        <p:nvSpPr>
          <p:cNvPr id="10" name="Text 8"/>
          <p:cNvSpPr/>
          <p:nvPr/>
        </p:nvSpPr>
        <p:spPr>
          <a:xfrm>
            <a:off x="3520440" y="3017520"/>
            <a:ext cx="2194560" cy="457200"/>
          </a:xfrm>
          <a:prstGeom prst="rect">
            <a:avLst/>
          </a:prstGeom>
          <a:noFill/>
          <a:ln/>
        </p:spPr>
        <p:txBody>
          <a:bodyPr wrap="square"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Ziel: 10 ms. 20x besser.</a:t>
            </a:r>
            <a:endParaRPr lang="en-US" sz="1050" dirty="0"/>
          </a:p>
        </p:txBody>
      </p:sp>
      <p:sp>
        <p:nvSpPr>
          <p:cNvPr id="11" name="Shape 9"/>
          <p:cNvSpPr/>
          <p:nvPr/>
        </p:nvSpPr>
        <p:spPr>
          <a:xfrm>
            <a:off x="6126480" y="1234440"/>
            <a:ext cx="2560320" cy="2331720"/>
          </a:xfrm>
          <a:prstGeom prst="roundRect">
            <a:avLst>
              <a:gd name="adj" fmla="val 3922"/>
            </a:avLst>
          </a:prstGeom>
          <a:solidFill>
            <a:srgbClr val="F1F5FB"/>
          </a:solidFill>
          <a:ln/>
          <a:effectLst>
            <a:outerShdw sx="100000" sy="100000" kx="0" ky="0" algn="bl" rotWithShape="0" blurRad="101600" dist="38100" dir="2700000">
              <a:srgbClr val="1A2A44">
                <a:alpha val="18000"/>
              </a:srgbClr>
            </a:outerShdw>
          </a:effectLst>
        </p:spPr>
      </p:sp>
      <p:sp>
        <p:nvSpPr>
          <p:cNvPr id="12" name="Text 10"/>
          <p:cNvSpPr/>
          <p:nvPr/>
        </p:nvSpPr>
        <p:spPr>
          <a:xfrm>
            <a:off x="6126480" y="1463040"/>
            <a:ext cx="2560320" cy="914400"/>
          </a:xfrm>
          <a:prstGeom prst="rect">
            <a:avLst/>
          </a:prstGeom>
          <a:noFill/>
          <a:ln/>
        </p:spPr>
        <p:txBody>
          <a:bodyPr wrap="square" rtlCol="0" anchor="ctr"/>
          <a:lstStyle/>
          <a:p>
            <a:pPr algn="ctr" indent="0" marL="0">
              <a:buNone/>
            </a:pPr>
            <a:r>
              <a:rPr lang="en-US" sz="4400" b="1" dirty="0">
                <a:solidFill>
                  <a:srgbClr val="E8A13D"/>
                </a:solidFill>
                <a:latin typeface="Cambria" pitchFamily="34" charset="0"/>
                <a:ea typeface="Cambria" pitchFamily="34" charset="-122"/>
                <a:cs typeface="Cambria" pitchFamily="34" charset="-120"/>
              </a:rPr>
              <a:t>0.2 ms</a:t>
            </a:r>
            <a:endParaRPr lang="en-US" sz="4400" dirty="0"/>
          </a:p>
        </p:txBody>
      </p:sp>
      <p:sp>
        <p:nvSpPr>
          <p:cNvPr id="13" name="Text 11"/>
          <p:cNvSpPr/>
          <p:nvPr/>
        </p:nvSpPr>
        <p:spPr>
          <a:xfrm>
            <a:off x="6309360" y="2423160"/>
            <a:ext cx="2194560" cy="594360"/>
          </a:xfrm>
          <a:prstGeom prst="rect">
            <a:avLst/>
          </a:prstGeom>
          <a:noFill/>
          <a:ln/>
        </p:spPr>
        <p:txBody>
          <a:bodyPr wrap="square" rtlCol="0" anchor="t"/>
          <a:lstStyle/>
          <a:p>
            <a:pPr algn="ctr" indent="0" marL="0">
              <a:buNone/>
            </a:pPr>
            <a:r>
              <a:rPr lang="en-US" sz="1250" b="1" dirty="0">
                <a:solidFill>
                  <a:srgbClr val="17263D"/>
                </a:solidFill>
                <a:latin typeface="Calibri" pitchFamily="34" charset="0"/>
                <a:ea typeface="Calibri" pitchFamily="34" charset="-122"/>
                <a:cs typeface="Calibri" pitchFamily="34" charset="-120"/>
              </a:rPr>
              <a:t>Verschluesselung pro Anfrage</a:t>
            </a:r>
            <a:endParaRPr lang="en-US" sz="1250" dirty="0"/>
          </a:p>
        </p:txBody>
      </p:sp>
      <p:sp>
        <p:nvSpPr>
          <p:cNvPr id="14" name="Text 12"/>
          <p:cNvSpPr/>
          <p:nvPr/>
        </p:nvSpPr>
        <p:spPr>
          <a:xfrm>
            <a:off x="6309360" y="3017520"/>
            <a:ext cx="2194560" cy="457200"/>
          </a:xfrm>
          <a:prstGeom prst="rect">
            <a:avLst/>
          </a:prstGeom>
          <a:noFill/>
          <a:ln/>
        </p:spPr>
        <p:txBody>
          <a:bodyPr wrap="square" rtlCol="0" anchor="t"/>
          <a:lstStyle/>
          <a:p>
            <a:pPr algn="ctr" indent="0" marL="0">
              <a:buNone/>
            </a:pPr>
            <a:r>
              <a:rPr lang="en-US" sz="1050" dirty="0">
                <a:solidFill>
                  <a:srgbClr val="5B6B82"/>
                </a:solidFill>
                <a:latin typeface="Calibri" pitchFamily="34" charset="0"/>
                <a:ea typeface="Calibri" pitchFamily="34" charset="-122"/>
                <a:cs typeface="Calibri" pitchFamily="34" charset="-120"/>
              </a:rPr>
              <a:t>Weniger als der Web-Server selbst braucht.</a:t>
            </a:r>
            <a:endParaRPr lang="en-US" sz="1050" dirty="0"/>
          </a:p>
        </p:txBody>
      </p:sp>
      <p:sp>
        <p:nvSpPr>
          <p:cNvPr id="15" name="Text 13"/>
          <p:cNvSpPr/>
          <p:nvPr/>
        </p:nvSpPr>
        <p:spPr>
          <a:xfrm>
            <a:off x="548640" y="3977640"/>
            <a:ext cx="8046720" cy="365760"/>
          </a:xfrm>
          <a:prstGeom prst="rect">
            <a:avLst/>
          </a:prstGeom>
          <a:noFill/>
          <a:ln/>
        </p:spPr>
        <p:txBody>
          <a:bodyPr wrap="square" rtlCol="0" anchor="ctr"/>
          <a:lstStyle/>
          <a:p>
            <a:pPr algn="ctr" indent="0" marL="0">
              <a:buNone/>
            </a:pPr>
            <a:r>
              <a:rPr lang="en-US" sz="1300" dirty="0">
                <a:solidFill>
                  <a:srgbClr val="5B6B82"/>
                </a:solidFill>
                <a:latin typeface="Calibri" pitchFamily="34" charset="0"/>
                <a:ea typeface="Calibri" pitchFamily="34" charset="-122"/>
                <a:cs typeface="Calibri" pitchFamily="34" charset="-120"/>
              </a:rPr>
              <a:t>Reproduzierbare Benchmarks (P95/P50), Skripte im Repo.  </a:t>
            </a:r>
            <a:pPr algn="ctr" indent="0" marL="0">
              <a:buNone/>
            </a:pPr>
            <a:r>
              <a:rPr lang="en-US" sz="1300" b="1" dirty="0">
                <a:solidFill>
                  <a:srgbClr val="0E7A57"/>
                </a:solidFill>
                <a:latin typeface="Calibri" pitchFamily="34" charset="0"/>
                <a:ea typeface="Calibri" pitchFamily="34" charset="-122"/>
                <a:cs typeface="Calibri" pitchFamily="34" charset="-120"/>
              </a:rPr>
              <a:t>420 automatisierte Tests, alle gruen.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2900" b="1" dirty="0">
                <a:solidFill>
                  <a:srgbClr val="17263D"/>
                </a:solidFill>
                <a:latin typeface="Cambria" pitchFamily="34" charset="0"/>
                <a:ea typeface="Cambria" pitchFamily="34" charset="-122"/>
                <a:cs typeface="Cambria" pitchFamily="34" charset="-120"/>
              </a:rPr>
              <a:t>Ehrliche Einordnung: Wann braucht es das?</a:t>
            </a:r>
            <a:endParaRPr lang="en-US" sz="2900" dirty="0"/>
          </a:p>
        </p:txBody>
      </p:sp>
      <p:sp>
        <p:nvSpPr>
          <p:cNvPr id="3" name="Shape 1"/>
          <p:cNvSpPr/>
          <p:nvPr/>
        </p:nvSpPr>
        <p:spPr>
          <a:xfrm>
            <a:off x="548640" y="1143000"/>
            <a:ext cx="3931920" cy="3063240"/>
          </a:xfrm>
          <a:prstGeom prst="roundRect">
            <a:avLst>
              <a:gd name="adj" fmla="val 2985"/>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777240" y="1325880"/>
            <a:ext cx="3474720" cy="320040"/>
          </a:xfrm>
          <a:prstGeom prst="rect">
            <a:avLst/>
          </a:prstGeom>
          <a:noFill/>
          <a:ln/>
        </p:spPr>
        <p:txBody>
          <a:bodyPr wrap="square" lIns="0" tIns="0" rIns="0" bIns="0" rtlCol="0" anchor="ctr"/>
          <a:lstStyle/>
          <a:p>
            <a:pPr indent="0" marL="0">
              <a:buNone/>
            </a:pPr>
            <a:r>
              <a:rPr lang="en-US" sz="1500" b="1" dirty="0">
                <a:solidFill>
                  <a:srgbClr val="17263D"/>
                </a:solidFill>
                <a:latin typeface="Calibri" pitchFamily="34" charset="0"/>
                <a:ea typeface="Calibri" pitchFamily="34" charset="-122"/>
                <a:cs typeface="Calibri" pitchFamily="34" charset="-120"/>
              </a:rPr>
              <a:t>Der Markt loest es gerade selbst</a:t>
            </a:r>
            <a:endParaRPr lang="en-US" sz="1500" dirty="0"/>
          </a:p>
        </p:txBody>
      </p:sp>
      <p:sp>
        <p:nvSpPr>
          <p:cNvPr id="5" name="Text 3"/>
          <p:cNvSpPr/>
          <p:nvPr/>
        </p:nvSpPr>
        <p:spPr>
          <a:xfrm>
            <a:off x="777240" y="1737360"/>
            <a:ext cx="3474720" cy="2286000"/>
          </a:xfrm>
          <a:prstGeom prst="rect">
            <a:avLst/>
          </a:prstGeom>
          <a:noFill/>
          <a:ln/>
        </p:spPr>
        <p:txBody>
          <a:bodyPr wrap="square" rtlCol="0" anchor="t"/>
          <a:lstStyle/>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Browser sprechen PQ-TLS seit 2024</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iOS 26: von Haus aus dabei (live gezeigt)</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Android: noch offen, ohne Zeitplan</a:t>
            </a:r>
            <a:endParaRPr lang="en-US" sz="1250" dirty="0"/>
          </a:p>
          <a:p>
            <a:pPr marL="342900" indent="-342900">
              <a:spcAft>
                <a:spcPts val="800"/>
              </a:spcAft>
              <a:buSzPct val="100000"/>
              <a:buChar char="•"/>
            </a:pPr>
            <a:r>
              <a:rPr lang="en-US" sz="1250" b="1" dirty="0">
                <a:solidFill>
                  <a:srgbClr val="17263D"/>
                </a:solidFill>
                <a:latin typeface="Calibri" pitchFamily="34" charset="0"/>
                <a:ea typeface="Calibri" pitchFamily="34" charset="-122"/>
                <a:cs typeface="Calibri" pitchFamily="34" charset="-120"/>
              </a:rPr>
              <a:t>Fuer die meisten Apps gilt: Plattform-Rollout nutzen statt eigene Krypto bauen</a:t>
            </a:r>
            <a:endParaRPr lang="en-US" sz="1250" dirty="0"/>
          </a:p>
        </p:txBody>
      </p:sp>
      <p:sp>
        <p:nvSpPr>
          <p:cNvPr id="6" name="Shape 4"/>
          <p:cNvSpPr/>
          <p:nvPr/>
        </p:nvSpPr>
        <p:spPr>
          <a:xfrm>
            <a:off x="4663440" y="1143000"/>
            <a:ext cx="3931920" cy="3063240"/>
          </a:xfrm>
          <a:prstGeom prst="roundRect">
            <a:avLst>
              <a:gd name="adj" fmla="val 2985"/>
            </a:avLst>
          </a:prstGeom>
          <a:solidFill>
            <a:srgbClr val="EAF7F1"/>
          </a:solidFill>
          <a:ln/>
          <a:effectLst>
            <a:outerShdw sx="100000" sy="100000" kx="0" ky="0" algn="bl" rotWithShape="0" blurRad="101600" dist="38100" dir="2700000">
              <a:srgbClr val="1A2A44">
                <a:alpha val="18000"/>
              </a:srgbClr>
            </a:outerShdw>
          </a:effectLst>
        </p:spPr>
      </p:sp>
      <p:sp>
        <p:nvSpPr>
          <p:cNvPr id="7" name="Text 5"/>
          <p:cNvSpPr/>
          <p:nvPr/>
        </p:nvSpPr>
        <p:spPr>
          <a:xfrm>
            <a:off x="4892040" y="1325880"/>
            <a:ext cx="3474720" cy="320040"/>
          </a:xfrm>
          <a:prstGeom prst="rect">
            <a:avLst/>
          </a:prstGeom>
          <a:noFill/>
          <a:ln/>
        </p:spPr>
        <p:txBody>
          <a:bodyPr wrap="square" lIns="0" tIns="0" rIns="0" bIns="0" rtlCol="0" anchor="ctr"/>
          <a:lstStyle/>
          <a:p>
            <a:pPr indent="0" marL="0">
              <a:buNone/>
            </a:pPr>
            <a:r>
              <a:rPr lang="en-US" sz="1500" b="1" dirty="0">
                <a:solidFill>
                  <a:srgbClr val="0E7A57"/>
                </a:solidFill>
                <a:latin typeface="Calibri" pitchFamily="34" charset="0"/>
                <a:ea typeface="Calibri" pitchFamily="34" charset="-122"/>
                <a:cs typeface="Calibri" pitchFamily="34" charset="-120"/>
              </a:rPr>
              <a:t>Wann eine eigene Schicht richtig ist</a:t>
            </a:r>
            <a:endParaRPr lang="en-US" sz="1500" dirty="0"/>
          </a:p>
        </p:txBody>
      </p:sp>
      <p:sp>
        <p:nvSpPr>
          <p:cNvPr id="8" name="Text 6"/>
          <p:cNvSpPr/>
          <p:nvPr/>
        </p:nvSpPr>
        <p:spPr>
          <a:xfrm>
            <a:off x="4892040" y="1737360"/>
            <a:ext cx="3474720" cy="2286000"/>
          </a:xfrm>
          <a:prstGeom prst="rect">
            <a:avLst/>
          </a:prstGeom>
          <a:noFill/>
          <a:ln/>
        </p:spPr>
        <p:txBody>
          <a:bodyPr wrap="square" rtlCol="0" anchor="t"/>
          <a:lstStyle/>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Heute schon alle Geraete abdecken (Android-Luecke)</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Schutz ueber das TLS-Ende hinaus (Ende-zu-Ende)</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Daten, die 2035 noch geheim sein muessen</a:t>
            </a:r>
            <a:endParaRPr lang="en-US" sz="1250" dirty="0"/>
          </a:p>
          <a:p>
            <a:pPr marL="342900" indent="-342900">
              <a:spcAft>
                <a:spcPts val="800"/>
              </a:spcAft>
              <a:buSzPct val="100000"/>
              <a:buChar char="•"/>
            </a:pPr>
            <a:r>
              <a:rPr lang="en-US" sz="1250" b="1" dirty="0">
                <a:solidFill>
                  <a:srgbClr val="17263D"/>
                </a:solidFill>
                <a:latin typeface="Calibri" pitchFamily="34" charset="0"/>
                <a:ea typeface="Calibri" pitchFamily="34" charset="-122"/>
                <a:cs typeface="Calibri" pitchFamily="34" charset="-120"/>
              </a:rPr>
              <a:t>Genau so machen es Signal und Apple iMessage</a:t>
            </a:r>
            <a:endParaRPr lang="en-US" sz="1250" dirty="0"/>
          </a:p>
        </p:txBody>
      </p:sp>
      <p:sp>
        <p:nvSpPr>
          <p:cNvPr id="9" name="Text 7"/>
          <p:cNvSpPr/>
          <p:nvPr/>
        </p:nvSpPr>
        <p:spPr>
          <a:xfrm>
            <a:off x="548640" y="4434840"/>
            <a:ext cx="8046720" cy="365760"/>
          </a:xfrm>
          <a:prstGeom prst="rect">
            <a:avLst/>
          </a:prstGeom>
          <a:noFill/>
          <a:ln/>
        </p:spPr>
        <p:txBody>
          <a:bodyPr wrap="square" rtlCol="0" anchor="ctr"/>
          <a:lstStyle/>
          <a:p>
            <a:pPr algn="ctr" indent="0" marL="0">
              <a:buNone/>
            </a:pPr>
            <a:r>
              <a:rPr lang="en-US" sz="1300" i="1" dirty="0">
                <a:solidFill>
                  <a:srgbClr val="5B6B82"/>
                </a:solidFill>
                <a:latin typeface="Calibri" pitchFamily="34" charset="0"/>
                <a:ea typeface="Calibri" pitchFamily="34" charset="-122"/>
                <a:cs typeface="Calibri" pitchFamily="34" charset="-120"/>
              </a:rPr>
              <a:t>Mein System zeigt beides: den Plattform-Weg (Schicht 1) und den Ende-zu-Ende-Weg (Schicht 2).</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640080" y="1371600"/>
            <a:ext cx="7863840" cy="1554480"/>
          </a:xfrm>
          <a:prstGeom prst="rect">
            <a:avLst/>
          </a:prstGeom>
          <a:noFill/>
          <a:ln/>
        </p:spPr>
        <p:txBody>
          <a:bodyPr wrap="square" rtlCol="0" anchor="ctr"/>
          <a:lstStyle/>
          <a:p>
            <a:pPr indent="0" marL="0">
              <a:lnSpc>
                <a:spcPct val="120000"/>
              </a:lnSpc>
              <a:buNone/>
            </a:pPr>
            <a:r>
              <a:rPr lang="en-US" sz="3200" b="1" dirty="0">
                <a:solidFill>
                  <a:srgbClr val="FFFFFF"/>
                </a:solidFill>
                <a:latin typeface="Cambria" pitchFamily="34" charset="0"/>
                <a:ea typeface="Cambria" pitchFamily="34" charset="-122"/>
                <a:cs typeface="Cambria" pitchFamily="34" charset="-120"/>
              </a:rPr>
              <a:t>Quantensicherheit ist kein Zukunftsprojekt.</a:t>
            </a:r>
            <a:endParaRPr lang="en-US" sz="3200" dirty="0"/>
          </a:p>
          <a:p>
            <a:pPr indent="0" marL="0">
              <a:lnSpc>
                <a:spcPct val="120000"/>
              </a:lnSpc>
              <a:buNone/>
            </a:pPr>
            <a:r>
              <a:rPr lang="en-US" sz="3200" b="1" dirty="0">
                <a:solidFill>
                  <a:srgbClr val="21C08B"/>
                </a:solidFill>
                <a:latin typeface="Cambria" pitchFamily="34" charset="0"/>
                <a:ea typeface="Cambria" pitchFamily="34" charset="-122"/>
                <a:cs typeface="Cambria" pitchFamily="34" charset="-120"/>
              </a:rPr>
              <a:t>Sie lief gerade auf Ihrem Handy.</a:t>
            </a:r>
            <a:endParaRPr lang="en-US" sz="3200" dirty="0"/>
          </a:p>
        </p:txBody>
      </p:sp>
      <p:sp>
        <p:nvSpPr>
          <p:cNvPr id="3" name="Text 1"/>
          <p:cNvSpPr/>
          <p:nvPr/>
        </p:nvSpPr>
        <p:spPr>
          <a:xfrm>
            <a:off x="640080" y="3200400"/>
            <a:ext cx="7863840" cy="365760"/>
          </a:xfrm>
          <a:prstGeom prst="rect">
            <a:avLst/>
          </a:prstGeom>
          <a:noFill/>
          <a:ln/>
        </p:spPr>
        <p:txBody>
          <a:bodyPr wrap="square" rtlCol="0" anchor="ctr"/>
          <a:lstStyle/>
          <a:p>
            <a:pPr indent="0" marL="0">
              <a:buNone/>
            </a:pPr>
            <a:r>
              <a:rPr lang="en-US" sz="1300" dirty="0">
                <a:solidFill>
                  <a:srgbClr val="8FA3C2"/>
                </a:solidFill>
                <a:latin typeface="Calibri" pitchFamily="34" charset="0"/>
                <a:ea typeface="Calibri" pitchFamily="34" charset="-122"/>
                <a:cs typeface="Calibri" pitchFamily="34" charset="-120"/>
              </a:rPr>
              <a:t>4 Sprints Scrum  |  60+ User Stories  |  420 Tests  |  vollstaendig dokumentiert im Repo</a:t>
            </a:r>
            <a:endParaRPr lang="en-US" sz="1300" dirty="0"/>
          </a:p>
        </p:txBody>
      </p:sp>
      <p:sp>
        <p:nvSpPr>
          <p:cNvPr id="4" name="Text 2"/>
          <p:cNvSpPr/>
          <p:nvPr/>
        </p:nvSpPr>
        <p:spPr>
          <a:xfrm>
            <a:off x="640080" y="3977640"/>
            <a:ext cx="786384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Fragen?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7263D"/>
                </a:solidFill>
                <a:latin typeface="Cambria" pitchFamily="34" charset="0"/>
                <a:ea typeface="Cambria" pitchFamily="34" charset="-122"/>
                <a:cs typeface="Cambria" pitchFamily="34" charset="-120"/>
              </a:rPr>
              <a:t>Backup: Der PQ-Handshake im Detail</a:t>
            </a:r>
            <a:endParaRPr lang="en-US" sz="2600" dirty="0"/>
          </a:p>
        </p:txBody>
      </p:sp>
      <p:sp>
        <p:nvSpPr>
          <p:cNvPr id="3" name="Shape 1"/>
          <p:cNvSpPr/>
          <p:nvPr/>
        </p:nvSpPr>
        <p:spPr>
          <a:xfrm>
            <a:off x="548640" y="960120"/>
            <a:ext cx="3931920" cy="804672"/>
          </a:xfrm>
          <a:prstGeom prst="roundRect">
            <a:avLst>
              <a:gd name="adj" fmla="val 9091"/>
            </a:avLst>
          </a:prstGeom>
          <a:solidFill>
            <a:srgbClr val="F1F5FB"/>
          </a:solidFill>
          <a:ln/>
        </p:spPr>
      </p:sp>
      <p:sp>
        <p:nvSpPr>
          <p:cNvPr id="4" name="Text 2"/>
          <p:cNvSpPr/>
          <p:nvPr/>
        </p:nvSpPr>
        <p:spPr>
          <a:xfrm>
            <a:off x="658368" y="1161288"/>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115568" y="1051560"/>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Login mit Email und Passwort (Argon2id-gehasht)</a:t>
            </a:r>
            <a:endParaRPr lang="en-US" sz="1150" dirty="0"/>
          </a:p>
        </p:txBody>
      </p:sp>
      <p:sp>
        <p:nvSpPr>
          <p:cNvPr id="6" name="Shape 4"/>
          <p:cNvSpPr/>
          <p:nvPr/>
        </p:nvSpPr>
        <p:spPr>
          <a:xfrm>
            <a:off x="548640" y="1892808"/>
            <a:ext cx="3931920" cy="804672"/>
          </a:xfrm>
          <a:prstGeom prst="roundRect">
            <a:avLst>
              <a:gd name="adj" fmla="val 9091"/>
            </a:avLst>
          </a:prstGeom>
          <a:solidFill>
            <a:srgbClr val="F1F5FB"/>
          </a:solidFill>
          <a:ln/>
        </p:spPr>
      </p:sp>
      <p:sp>
        <p:nvSpPr>
          <p:cNvPr id="7" name="Text 5"/>
          <p:cNvSpPr/>
          <p:nvPr/>
        </p:nvSpPr>
        <p:spPr>
          <a:xfrm>
            <a:off x="658368" y="2093976"/>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2</a:t>
            </a:r>
            <a:endParaRPr lang="en-US" sz="2000" dirty="0"/>
          </a:p>
        </p:txBody>
      </p:sp>
      <p:sp>
        <p:nvSpPr>
          <p:cNvPr id="8" name="Text 6"/>
          <p:cNvSpPr/>
          <p:nvPr/>
        </p:nvSpPr>
        <p:spPr>
          <a:xfrm>
            <a:off x="1115568" y="1984248"/>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Server stellt ML-DSA-65-signierten Broker-Token aus</a:t>
            </a:r>
            <a:endParaRPr lang="en-US" sz="1150" dirty="0"/>
          </a:p>
        </p:txBody>
      </p:sp>
      <p:sp>
        <p:nvSpPr>
          <p:cNvPr id="9" name="Shape 7"/>
          <p:cNvSpPr/>
          <p:nvPr/>
        </p:nvSpPr>
        <p:spPr>
          <a:xfrm>
            <a:off x="548640" y="2825496"/>
            <a:ext cx="3931920" cy="804672"/>
          </a:xfrm>
          <a:prstGeom prst="roundRect">
            <a:avLst>
              <a:gd name="adj" fmla="val 9091"/>
            </a:avLst>
          </a:prstGeom>
          <a:solidFill>
            <a:srgbClr val="F1F5FB"/>
          </a:solidFill>
          <a:ln/>
        </p:spPr>
      </p:sp>
      <p:sp>
        <p:nvSpPr>
          <p:cNvPr id="10" name="Text 8"/>
          <p:cNvSpPr/>
          <p:nvPr/>
        </p:nvSpPr>
        <p:spPr>
          <a:xfrm>
            <a:off x="658368" y="3026664"/>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3</a:t>
            </a:r>
            <a:endParaRPr lang="en-US" sz="2000" dirty="0"/>
          </a:p>
        </p:txBody>
      </p:sp>
      <p:sp>
        <p:nvSpPr>
          <p:cNvPr id="11" name="Text 9"/>
          <p:cNvSpPr/>
          <p:nvPr/>
        </p:nvSpPr>
        <p:spPr>
          <a:xfrm>
            <a:off x="1115568" y="2916936"/>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App erzeugt ML-KEM-768-Schluesselpaar, sendet Public Key</a:t>
            </a:r>
            <a:endParaRPr lang="en-US" sz="1150" dirty="0"/>
          </a:p>
        </p:txBody>
      </p:sp>
      <p:sp>
        <p:nvSpPr>
          <p:cNvPr id="12" name="Shape 10"/>
          <p:cNvSpPr/>
          <p:nvPr/>
        </p:nvSpPr>
        <p:spPr>
          <a:xfrm>
            <a:off x="548640" y="3758184"/>
            <a:ext cx="3931920" cy="804672"/>
          </a:xfrm>
          <a:prstGeom prst="roundRect">
            <a:avLst>
              <a:gd name="adj" fmla="val 9091"/>
            </a:avLst>
          </a:prstGeom>
          <a:solidFill>
            <a:srgbClr val="F1F5FB"/>
          </a:solidFill>
          <a:ln/>
        </p:spPr>
      </p:sp>
      <p:sp>
        <p:nvSpPr>
          <p:cNvPr id="13" name="Text 11"/>
          <p:cNvSpPr/>
          <p:nvPr/>
        </p:nvSpPr>
        <p:spPr>
          <a:xfrm>
            <a:off x="658368" y="3959352"/>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4</a:t>
            </a:r>
            <a:endParaRPr lang="en-US" sz="2000" dirty="0"/>
          </a:p>
        </p:txBody>
      </p:sp>
      <p:sp>
        <p:nvSpPr>
          <p:cNvPr id="14" name="Text 12"/>
          <p:cNvSpPr/>
          <p:nvPr/>
        </p:nvSpPr>
        <p:spPr>
          <a:xfrm>
            <a:off x="1115568" y="3849624"/>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Server kapselt Shared Secret ein (Encapsulation), sendet Ciphertext</a:t>
            </a:r>
            <a:endParaRPr lang="en-US" sz="1150" dirty="0"/>
          </a:p>
        </p:txBody>
      </p:sp>
      <p:sp>
        <p:nvSpPr>
          <p:cNvPr id="15" name="Shape 13"/>
          <p:cNvSpPr/>
          <p:nvPr/>
        </p:nvSpPr>
        <p:spPr>
          <a:xfrm>
            <a:off x="4709160" y="960120"/>
            <a:ext cx="3931920" cy="804672"/>
          </a:xfrm>
          <a:prstGeom prst="roundRect">
            <a:avLst>
              <a:gd name="adj" fmla="val 9091"/>
            </a:avLst>
          </a:prstGeom>
          <a:solidFill>
            <a:srgbClr val="F1F5FB"/>
          </a:solidFill>
          <a:ln/>
        </p:spPr>
      </p:sp>
      <p:sp>
        <p:nvSpPr>
          <p:cNvPr id="16" name="Text 14"/>
          <p:cNvSpPr/>
          <p:nvPr/>
        </p:nvSpPr>
        <p:spPr>
          <a:xfrm>
            <a:off x="4818888" y="1161288"/>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5</a:t>
            </a:r>
            <a:endParaRPr lang="en-US" sz="2000" dirty="0"/>
          </a:p>
        </p:txBody>
      </p:sp>
      <p:sp>
        <p:nvSpPr>
          <p:cNvPr id="17" name="Text 15"/>
          <p:cNvSpPr/>
          <p:nvPr/>
        </p:nvSpPr>
        <p:spPr>
          <a:xfrm>
            <a:off x="5276088" y="1051560"/>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App entkapselt, beide leiten per HKDF den AES-256-Schluessel ab</a:t>
            </a:r>
            <a:endParaRPr lang="en-US" sz="1150" dirty="0"/>
          </a:p>
        </p:txBody>
      </p:sp>
      <p:sp>
        <p:nvSpPr>
          <p:cNvPr id="18" name="Shape 16"/>
          <p:cNvSpPr/>
          <p:nvPr/>
        </p:nvSpPr>
        <p:spPr>
          <a:xfrm>
            <a:off x="4709160" y="1892808"/>
            <a:ext cx="3931920" cy="804672"/>
          </a:xfrm>
          <a:prstGeom prst="roundRect">
            <a:avLst>
              <a:gd name="adj" fmla="val 9091"/>
            </a:avLst>
          </a:prstGeom>
          <a:solidFill>
            <a:srgbClr val="F1F5FB"/>
          </a:solidFill>
          <a:ln/>
        </p:spPr>
      </p:sp>
      <p:sp>
        <p:nvSpPr>
          <p:cNvPr id="19" name="Text 17"/>
          <p:cNvSpPr/>
          <p:nvPr/>
        </p:nvSpPr>
        <p:spPr>
          <a:xfrm>
            <a:off x="4818888" y="2093976"/>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6</a:t>
            </a:r>
            <a:endParaRPr lang="en-US" sz="2000" dirty="0"/>
          </a:p>
        </p:txBody>
      </p:sp>
      <p:sp>
        <p:nvSpPr>
          <p:cNvPr id="20" name="Text 18"/>
          <p:cNvSpPr/>
          <p:nvPr/>
        </p:nvSpPr>
        <p:spPr>
          <a:xfrm>
            <a:off x="5276088" y="1984248"/>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Jeder Request: AES-256-GCM mit frischer Nonce, Session-ID als AAD</a:t>
            </a:r>
            <a:endParaRPr lang="en-US" sz="1150" dirty="0"/>
          </a:p>
        </p:txBody>
      </p:sp>
      <p:sp>
        <p:nvSpPr>
          <p:cNvPr id="21" name="Shape 19"/>
          <p:cNvSpPr/>
          <p:nvPr/>
        </p:nvSpPr>
        <p:spPr>
          <a:xfrm>
            <a:off x="4709160" y="2825496"/>
            <a:ext cx="3931920" cy="804672"/>
          </a:xfrm>
          <a:prstGeom prst="roundRect">
            <a:avLst>
              <a:gd name="adj" fmla="val 9091"/>
            </a:avLst>
          </a:prstGeom>
          <a:solidFill>
            <a:srgbClr val="EAF7F1"/>
          </a:solidFill>
          <a:ln/>
        </p:spPr>
      </p:sp>
      <p:sp>
        <p:nvSpPr>
          <p:cNvPr id="22" name="Text 20"/>
          <p:cNvSpPr/>
          <p:nvPr/>
        </p:nvSpPr>
        <p:spPr>
          <a:xfrm>
            <a:off x="4818888" y="3026664"/>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7</a:t>
            </a:r>
            <a:endParaRPr lang="en-US" sz="2000" dirty="0"/>
          </a:p>
        </p:txBody>
      </p:sp>
      <p:sp>
        <p:nvSpPr>
          <p:cNvPr id="23" name="Text 21"/>
          <p:cNvSpPr/>
          <p:nvPr/>
        </p:nvSpPr>
        <p:spPr>
          <a:xfrm>
            <a:off x="5276088" y="2916936"/>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Server prueft Nonce gegen Redis: Wiederholung wird geblockt (HTTP 400)</a:t>
            </a:r>
            <a:endParaRPr lang="en-US" sz="1150" dirty="0"/>
          </a:p>
        </p:txBody>
      </p:sp>
      <p:sp>
        <p:nvSpPr>
          <p:cNvPr id="24" name="Shape 22"/>
          <p:cNvSpPr/>
          <p:nvPr/>
        </p:nvSpPr>
        <p:spPr>
          <a:xfrm>
            <a:off x="4709160" y="3758184"/>
            <a:ext cx="3931920" cy="804672"/>
          </a:xfrm>
          <a:prstGeom prst="roundRect">
            <a:avLst>
              <a:gd name="adj" fmla="val 9091"/>
            </a:avLst>
          </a:prstGeom>
          <a:solidFill>
            <a:srgbClr val="F1F5FB"/>
          </a:solidFill>
          <a:ln/>
        </p:spPr>
      </p:sp>
      <p:sp>
        <p:nvSpPr>
          <p:cNvPr id="25" name="Text 23"/>
          <p:cNvSpPr/>
          <p:nvPr/>
        </p:nvSpPr>
        <p:spPr>
          <a:xfrm>
            <a:off x="4818888" y="3959352"/>
            <a:ext cx="411480" cy="411480"/>
          </a:xfrm>
          <a:prstGeom prst="rect">
            <a:avLst/>
          </a:prstGeom>
          <a:noFill/>
          <a:ln/>
        </p:spPr>
        <p:txBody>
          <a:bodyPr wrap="square" lIns="0" tIns="0" rIns="0" bIns="0" rtlCol="0" anchor="ctr"/>
          <a:lstStyle/>
          <a:p>
            <a:pPr indent="0" marL="0">
              <a:buNone/>
            </a:pPr>
            <a:r>
              <a:rPr lang="en-US" sz="2000" b="1" dirty="0">
                <a:solidFill>
                  <a:srgbClr val="0E7A57"/>
                </a:solidFill>
                <a:latin typeface="Cambria" pitchFamily="34" charset="0"/>
                <a:ea typeface="Cambria" pitchFamily="34" charset="-122"/>
                <a:cs typeface="Cambria" pitchFamily="34" charset="-120"/>
              </a:rPr>
              <a:t>8</a:t>
            </a:r>
            <a:endParaRPr lang="en-US" sz="2000" dirty="0"/>
          </a:p>
        </p:txBody>
      </p:sp>
      <p:sp>
        <p:nvSpPr>
          <p:cNvPr id="26" name="Text 24"/>
          <p:cNvSpPr/>
          <p:nvPr/>
        </p:nvSpPr>
        <p:spPr>
          <a:xfrm>
            <a:off x="5276088" y="3849624"/>
            <a:ext cx="3246120" cy="640080"/>
          </a:xfrm>
          <a:prstGeom prst="rect">
            <a:avLst/>
          </a:prstGeom>
          <a:noFill/>
          <a:ln/>
        </p:spPr>
        <p:txBody>
          <a:bodyPr wrap="square" lIns="0" tIns="0" rIns="0" bIns="0" rtlCol="0" anchor="ctr"/>
          <a:lstStyle/>
          <a:p>
            <a:pPr indent="0" marL="0">
              <a:buNone/>
            </a:pPr>
            <a:r>
              <a:rPr lang="en-US" sz="1150" dirty="0">
                <a:solidFill>
                  <a:srgbClr val="17263D"/>
                </a:solidFill>
                <a:latin typeface="Calibri" pitchFamily="34" charset="0"/>
                <a:ea typeface="Calibri" pitchFamily="34" charset="-122"/>
                <a:cs typeface="Calibri" pitchFamily="34" charset="-120"/>
              </a:rPr>
              <a:t>Session laeuft nach TTL ab, neuer Handshake noetig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7263D"/>
                </a:solidFill>
                <a:latin typeface="Cambria" pitchFamily="34" charset="0"/>
                <a:ea typeface="Cambria" pitchFamily="34" charset="-122"/>
                <a:cs typeface="Cambria" pitchFamily="34" charset="-120"/>
              </a:rPr>
              <a:t>Backup: Qualitaet, Sicherheit, offene Punkte</a:t>
            </a:r>
            <a:endParaRPr lang="en-US" sz="2600" dirty="0"/>
          </a:p>
        </p:txBody>
      </p:sp>
      <p:sp>
        <p:nvSpPr>
          <p:cNvPr id="3" name="Shape 1"/>
          <p:cNvSpPr/>
          <p:nvPr/>
        </p:nvSpPr>
        <p:spPr>
          <a:xfrm>
            <a:off x="548640" y="960120"/>
            <a:ext cx="3931920" cy="3383280"/>
          </a:xfrm>
          <a:prstGeom prst="roundRect">
            <a:avLst>
              <a:gd name="adj" fmla="val 2703"/>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777240" y="1097280"/>
            <a:ext cx="3474720" cy="320040"/>
          </a:xfrm>
          <a:prstGeom prst="rect">
            <a:avLst/>
          </a:prstGeom>
          <a:noFill/>
          <a:ln/>
        </p:spPr>
        <p:txBody>
          <a:bodyPr wrap="square" lIns="0" tIns="0" rIns="0" bIns="0" rtlCol="0" anchor="ctr"/>
          <a:lstStyle/>
          <a:p>
            <a:pPr indent="0" marL="0">
              <a:buNone/>
            </a:pPr>
            <a:r>
              <a:rPr lang="en-US" sz="1400" b="1" dirty="0">
                <a:solidFill>
                  <a:srgbClr val="0E7A57"/>
                </a:solidFill>
                <a:latin typeface="Calibri" pitchFamily="34" charset="0"/>
                <a:ea typeface="Calibri" pitchFamily="34" charset="-122"/>
                <a:cs typeface="Calibri" pitchFamily="34" charset="-120"/>
              </a:rPr>
              <a:t>Abgesichert</a:t>
            </a:r>
            <a:endParaRPr lang="en-US" sz="1400" dirty="0"/>
          </a:p>
        </p:txBody>
      </p:sp>
      <p:sp>
        <p:nvSpPr>
          <p:cNvPr id="5" name="Text 3"/>
          <p:cNvSpPr/>
          <p:nvPr/>
        </p:nvSpPr>
        <p:spPr>
          <a:xfrm>
            <a:off x="777240" y="1463040"/>
            <a:ext cx="3474720" cy="2743200"/>
          </a:xfrm>
          <a:prstGeom prst="rect">
            <a:avLst/>
          </a:prstGeom>
          <a:noFill/>
          <a:ln/>
        </p:spPr>
        <p:txBody>
          <a:bodyPr wrap="square" rtlCol="0" anchor="t"/>
          <a:lstStyle/>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420 Tests, davon 9 Integrationstests fuer OIDC-Broker und End-to-End-Kette</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Docker-Testrunner mit echter liboqs-Krypto (kein Mock)</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Schluessel-Rotation plus JWKS-Endpoint umgesetzt</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Timing-Angriff auf Login (User-Enumeration) getestet und gefixt</a:t>
            </a:r>
            <a:endParaRPr lang="en-US" sz="1150" dirty="0"/>
          </a:p>
        </p:txBody>
      </p:sp>
      <p:sp>
        <p:nvSpPr>
          <p:cNvPr id="6" name="Shape 4"/>
          <p:cNvSpPr/>
          <p:nvPr/>
        </p:nvSpPr>
        <p:spPr>
          <a:xfrm>
            <a:off x="4663440" y="960120"/>
            <a:ext cx="3931920" cy="3383280"/>
          </a:xfrm>
          <a:prstGeom prst="roundRect">
            <a:avLst>
              <a:gd name="adj" fmla="val 2703"/>
            </a:avLst>
          </a:prstGeom>
          <a:solidFill>
            <a:srgbClr val="FDF3E6"/>
          </a:solidFill>
          <a:ln/>
          <a:effectLst>
            <a:outerShdw sx="100000" sy="100000" kx="0" ky="0" algn="bl" rotWithShape="0" blurRad="101600" dist="38100" dir="2700000">
              <a:srgbClr val="1A2A44">
                <a:alpha val="18000"/>
              </a:srgbClr>
            </a:outerShdw>
          </a:effectLst>
        </p:spPr>
      </p:sp>
      <p:sp>
        <p:nvSpPr>
          <p:cNvPr id="7" name="Text 5"/>
          <p:cNvSpPr/>
          <p:nvPr/>
        </p:nvSpPr>
        <p:spPr>
          <a:xfrm>
            <a:off x="4892040" y="1097280"/>
            <a:ext cx="3474720" cy="320040"/>
          </a:xfrm>
          <a:prstGeom prst="rect">
            <a:avLst/>
          </a:prstGeom>
          <a:noFill/>
          <a:ln/>
        </p:spPr>
        <p:txBody>
          <a:bodyPr wrap="square" lIns="0" tIns="0" rIns="0" bIns="0" rtlCol="0" anchor="ctr"/>
          <a:lstStyle/>
          <a:p>
            <a:pPr indent="0" marL="0">
              <a:buNone/>
            </a:pPr>
            <a:r>
              <a:rPr lang="en-US" sz="1400" b="1" dirty="0">
                <a:solidFill>
                  <a:srgbClr val="B07818"/>
                </a:solidFill>
                <a:latin typeface="Calibri" pitchFamily="34" charset="0"/>
                <a:ea typeface="Calibri" pitchFamily="34" charset="-122"/>
                <a:cs typeface="Calibri" pitchFamily="34" charset="-120"/>
              </a:rPr>
              <a:t>Offen und dokumentiert</a:t>
            </a:r>
            <a:endParaRPr lang="en-US" sz="1400" dirty="0"/>
          </a:p>
        </p:txBody>
      </p:sp>
      <p:sp>
        <p:nvSpPr>
          <p:cNvPr id="8" name="Text 6"/>
          <p:cNvSpPr/>
          <p:nvPr/>
        </p:nvSpPr>
        <p:spPr>
          <a:xfrm>
            <a:off x="4892040" y="1463040"/>
            <a:ext cx="3474720" cy="2743200"/>
          </a:xfrm>
          <a:prstGeom prst="rect">
            <a:avLst/>
          </a:prstGeom>
          <a:noFill/>
          <a:ln/>
        </p:spPr>
        <p:txBody>
          <a:bodyPr wrap="square" rtlCol="0" anchor="t"/>
          <a:lstStyle/>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Response-Codes erlauben Session-ID-Enumeration (Finding F-142, Fix geplant als SEC-6)</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Mobile PQ-TLS: iOS 26 ja, Android nein (R-T08)</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Demo-Pfad Publikum laeuft ueber HTTP: Vertraulichkeit traegt dort allein Schicht 2</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Federation in-App: Redirect-Design offen (F-086), Broker server-seitig voll getestet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7263D"/>
                </a:solidFill>
                <a:latin typeface="Cambria" pitchFamily="34" charset="0"/>
                <a:ea typeface="Cambria" pitchFamily="34" charset="-122"/>
                <a:cs typeface="Cambria" pitchFamily="34" charset="-120"/>
              </a:rPr>
              <a:t>Backup: Projektvorgehen</a:t>
            </a:r>
            <a:endParaRPr lang="en-US" sz="2600" dirty="0"/>
          </a:p>
        </p:txBody>
      </p:sp>
      <p:sp>
        <p:nvSpPr>
          <p:cNvPr id="3" name="Shape 1"/>
          <p:cNvSpPr/>
          <p:nvPr/>
        </p:nvSpPr>
        <p:spPr>
          <a:xfrm>
            <a:off x="548640" y="96012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4" name="Text 2"/>
          <p:cNvSpPr/>
          <p:nvPr/>
        </p:nvSpPr>
        <p:spPr>
          <a:xfrm>
            <a:off x="749808" y="106984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Scrum, solo adaptiert</a:t>
            </a:r>
            <a:endParaRPr lang="en-US" sz="1350" dirty="0"/>
          </a:p>
        </p:txBody>
      </p:sp>
      <p:sp>
        <p:nvSpPr>
          <p:cNvPr id="5" name="Text 3"/>
          <p:cNvSpPr/>
          <p:nvPr/>
        </p:nvSpPr>
        <p:spPr>
          <a:xfrm>
            <a:off x="749808" y="139903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4 Sprints plus Setup-Sprint. Sprint-Goals, Planning, Review, Retro pro Sprint dokumentiert. Jira-Board mit 60+ Stories, MoSCoW-priorisiert, Fibonacci-Schaetzung.</a:t>
            </a:r>
            <a:endParaRPr lang="en-US" sz="1050" dirty="0"/>
          </a:p>
        </p:txBody>
      </p:sp>
      <p:sp>
        <p:nvSpPr>
          <p:cNvPr id="6" name="Shape 4"/>
          <p:cNvSpPr/>
          <p:nvPr/>
        </p:nvSpPr>
        <p:spPr>
          <a:xfrm>
            <a:off x="4709160" y="96012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7" name="Text 5"/>
          <p:cNvSpPr/>
          <p:nvPr/>
        </p:nvSpPr>
        <p:spPr>
          <a:xfrm>
            <a:off x="4910328" y="106984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Risiko-getrieben</a:t>
            </a:r>
            <a:endParaRPr lang="en-US" sz="1350" dirty="0"/>
          </a:p>
        </p:txBody>
      </p:sp>
      <p:sp>
        <p:nvSpPr>
          <p:cNvPr id="8" name="Text 6"/>
          <p:cNvSpPr/>
          <p:nvPr/>
        </p:nvSpPr>
        <p:spPr>
          <a:xfrm>
            <a:off x="4910328" y="139903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Risk-Register mit Scores und Massnahmen, kritisches Risiko R-S04 (Doku-Zeit) aktiv gesteuert: Halbzeit-Check, harte Defer-Regeln, Demo vor Feature-Vollstaendigkeit.</a:t>
            </a:r>
            <a:endParaRPr lang="en-US" sz="1050" dirty="0"/>
          </a:p>
        </p:txBody>
      </p:sp>
      <p:sp>
        <p:nvSpPr>
          <p:cNvPr id="9" name="Shape 7"/>
          <p:cNvSpPr/>
          <p:nvPr/>
        </p:nvSpPr>
        <p:spPr>
          <a:xfrm>
            <a:off x="548640" y="269748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10" name="Text 8"/>
          <p:cNvSpPr/>
          <p:nvPr/>
        </p:nvSpPr>
        <p:spPr>
          <a:xfrm>
            <a:off x="749808" y="280720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AI als Werkzeug, gemessen</a:t>
            </a:r>
            <a:endParaRPr lang="en-US" sz="1350" dirty="0"/>
          </a:p>
        </p:txBody>
      </p:sp>
      <p:sp>
        <p:nvSpPr>
          <p:cNvPr id="11" name="Text 9"/>
          <p:cNvSpPr/>
          <p:nvPr/>
        </p:nvSpPr>
        <p:spPr>
          <a:xfrm>
            <a:off x="749808" y="313639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Pair-Engineering mit AI, pro Story Zeit erfasst: Multiplier 2.8x bis 10x je nach Story-Typ. Lesson: Commit-Granularitaet litt, fuers naechste Projekt kleinere Schritte.</a:t>
            </a:r>
            <a:endParaRPr lang="en-US" sz="1050" dirty="0"/>
          </a:p>
        </p:txBody>
      </p:sp>
      <p:sp>
        <p:nvSpPr>
          <p:cNvPr id="12" name="Shape 10"/>
          <p:cNvSpPr/>
          <p:nvPr/>
        </p:nvSpPr>
        <p:spPr>
          <a:xfrm>
            <a:off x="4709160" y="2697480"/>
            <a:ext cx="3931920" cy="1554480"/>
          </a:xfrm>
          <a:prstGeom prst="roundRect">
            <a:avLst>
              <a:gd name="adj" fmla="val 5882"/>
            </a:avLst>
          </a:prstGeom>
          <a:solidFill>
            <a:srgbClr val="F1F5FB"/>
          </a:solidFill>
          <a:ln/>
          <a:effectLst>
            <a:outerShdw sx="100000" sy="100000" kx="0" ky="0" algn="bl" rotWithShape="0" blurRad="101600" dist="38100" dir="2700000">
              <a:srgbClr val="1A2A44">
                <a:alpha val="18000"/>
              </a:srgbClr>
            </a:outerShdw>
          </a:effectLst>
        </p:spPr>
      </p:sp>
      <p:sp>
        <p:nvSpPr>
          <p:cNvPr id="13" name="Text 11"/>
          <p:cNvSpPr/>
          <p:nvPr/>
        </p:nvSpPr>
        <p:spPr>
          <a:xfrm>
            <a:off x="4910328" y="2807208"/>
            <a:ext cx="3566160" cy="301752"/>
          </a:xfrm>
          <a:prstGeom prst="rect">
            <a:avLst/>
          </a:prstGeom>
          <a:noFill/>
          <a:ln/>
        </p:spPr>
        <p:txBody>
          <a:bodyPr wrap="square" lIns="0" tIns="0" rIns="0" bIns="0" rtlCol="0" anchor="ctr"/>
          <a:lstStyle/>
          <a:p>
            <a:pPr indent="0" marL="0">
              <a:buNone/>
            </a:pPr>
            <a:r>
              <a:rPr lang="en-US" sz="1350" b="1" dirty="0">
                <a:solidFill>
                  <a:srgbClr val="0A1F3C"/>
                </a:solidFill>
                <a:latin typeface="Calibri" pitchFamily="34" charset="0"/>
                <a:ea typeface="Calibri" pitchFamily="34" charset="-122"/>
                <a:cs typeface="Calibri" pitchFamily="34" charset="-120"/>
              </a:rPr>
              <a:t>Transparenz</a:t>
            </a:r>
            <a:endParaRPr lang="en-US" sz="1350" dirty="0"/>
          </a:p>
        </p:txBody>
      </p:sp>
      <p:sp>
        <p:nvSpPr>
          <p:cNvPr id="14" name="Text 12"/>
          <p:cNvSpPr/>
          <p:nvPr/>
        </p:nvSpPr>
        <p:spPr>
          <a:xfrm>
            <a:off x="4910328" y="3136392"/>
            <a:ext cx="3566160" cy="1051560"/>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Alles im Repo: Sprint-Journale, Evidence pro Story, Demos D-001 bis D-009, Findings-Log mit 145 Eintraegen, Mentoren hatten jederzeit Einblick.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Post-Quantum Cryptography</dc:title>
  <dc:subject>PptxGenJS Presentation</dc:subject>
  <dc:creator>Dodoe Ruminahui Mannale</dc:creator>
  <cp:lastModifiedBy>Dodoe Ruminahui Mannale</cp:lastModifiedBy>
  <cp:revision>1</cp:revision>
  <dcterms:created xsi:type="dcterms:W3CDTF">2026-07-07T23:23:31Z</dcterms:created>
  <dcterms:modified xsi:type="dcterms:W3CDTF">2026-07-07T23:23:31Z</dcterms:modified>
</cp:coreProperties>
</file>