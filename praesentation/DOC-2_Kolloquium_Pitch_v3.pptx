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8472" autoAdjust="0"/>
  </p:normalViewPr>
  <p:slideViewPr>
    <p:cSldViewPr snapToGrid="0" snapToObjects="1">
      <p:cViewPr>
        <p:scale>
          <a:sx n="80" d="100"/>
          <a:sy n="80" d="100"/>
        </p:scale>
        <p:origin x="1448"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3878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bis 0:45. NICHT mit Begruessung starten, direkt der Satz auf der Folie, langsam, Pause nach 'gespeichert sein'.
SPRECHTEXT: Alles, was Sie </a:t>
            </a:r>
            <a:r>
              <a:rPr lang="en-US" dirty="0" err="1"/>
              <a:t>heute</a:t>
            </a:r>
            <a:r>
              <a:rPr lang="en-US" dirty="0"/>
              <a:t> </a:t>
            </a:r>
            <a:r>
              <a:rPr lang="en-US" dirty="0" err="1"/>
              <a:t>über</a:t>
            </a:r>
            <a:r>
              <a:rPr lang="en-US" dirty="0"/>
              <a:t> das Internet </a:t>
            </a:r>
            <a:r>
              <a:rPr lang="en-US" dirty="0" err="1"/>
              <a:t>gesendet</a:t>
            </a:r>
            <a:r>
              <a:rPr lang="en-US" dirty="0"/>
              <a:t> haben, kann bereits abgefangen und gespeichert worden sein. Nicht um es heute zu lesen. Sondern um es in ein paar Jahren zu entschluesseln, wenn Quantencomputer so weit sind. Das hat einen Namen: Harvest Now, Decrypt Later. Geheimdienste und Kriminelle sammeln heute verschluesselte Daten auf </a:t>
            </a:r>
            <a:r>
              <a:rPr lang="en-US" dirty="0" err="1"/>
              <a:t>Vorrat</a:t>
            </a:r>
            <a:r>
              <a:rPr lang="en-US" dirty="0"/>
              <a:t> um </a:t>
            </a:r>
            <a:r>
              <a:rPr lang="en-US" dirty="0" err="1"/>
              <a:t>diese</a:t>
            </a:r>
            <a:r>
              <a:rPr lang="en-US" dirty="0"/>
              <a:t> </a:t>
            </a:r>
            <a:r>
              <a:rPr lang="en-US" dirty="0" err="1"/>
              <a:t>später</a:t>
            </a:r>
            <a:r>
              <a:rPr lang="en-US" dirty="0"/>
              <a:t> </a:t>
            </a:r>
            <a:r>
              <a:rPr lang="en-US" dirty="0" err="1"/>
              <a:t>zu</a:t>
            </a:r>
            <a:r>
              <a:rPr lang="en-US" dirty="0"/>
              <a:t> </a:t>
            </a:r>
            <a:r>
              <a:rPr lang="en-US" dirty="0" err="1"/>
              <a:t>entschlüsseln</a:t>
            </a:r>
            <a:r>
              <a:rPr lang="en-US" dirty="0"/>
              <a:t>. Ich </a:t>
            </a:r>
            <a:r>
              <a:rPr lang="en-US" dirty="0" err="1"/>
              <a:t>zeige</a:t>
            </a:r>
            <a:r>
              <a:rPr lang="en-US" dirty="0"/>
              <a:t> </a:t>
            </a:r>
            <a:r>
              <a:rPr lang="en-US" dirty="0" err="1"/>
              <a:t>euch</a:t>
            </a:r>
            <a:r>
              <a:rPr lang="en-US" dirty="0"/>
              <a:t> in den naechsten 10 Minuten ein Login-System, das </a:t>
            </a:r>
            <a:r>
              <a:rPr lang="en-US" dirty="0" err="1"/>
              <a:t>theoretisch</a:t>
            </a:r>
            <a:r>
              <a:rPr lang="en-US" dirty="0"/>
              <a:t> </a:t>
            </a:r>
            <a:r>
              <a:rPr lang="en-US" dirty="0" err="1"/>
              <a:t>dagegen</a:t>
            </a:r>
            <a:r>
              <a:rPr lang="en-US" dirty="0"/>
              <a:t> schon heute immun ist. Und Sie koennen es gleich selbst auf Ihrem Handy ausprobieren.
HINWEIS: Falls Publikum Expo Go noch nicht installiert hat, jetzt schon ankuendigen: 'Wer mitmachen will: Laden Sie schon mal die App Expo Go aus dem App Store, wir brauchen sie in 5 Minuten.'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 bis 1:45.
SPRECHTEXT: Warum ist das ein Problem? Praktisch alles, was heute verschluesselt ist, basiert auf RSA oder elliptischen Kurven. Deren Sicherheit beruht darauf, dass eine bestimmte Rechenaufgabe fuer normale Computer Jahrmillionen dauert. Peter Shor hat schon 1994 gezeigt: Ein Quantencomputer loest genau diese Aufgabe effizient. Solche Maschinen existieren im Labor, die Frage ist nur, wann sie gross genug sind. Und hier kommt der fiese Teil, rechts auf der Folie: Ein Angreifer muss gar nicht warten. Er schneidet heute mit, speichert billig, und entschluesselt spaeter. Alles, was heute uebers Netz geht und in zehn Jahren noch vertraulich sein soll, ist JETZT das Problem: Gesundheitsdaten, Vertraege, Identitaeten.
PUBLIKUM: einfach halten, keine Mathematik. Der Satz 'nicht ob, sondern wann' ist die Kernbotschaft.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1:45 bis 2:45. Publikum ist technisch, hier darf Substanz rein, aber Tempo halten: Details kommen in Demo und Backup-Folien.
SPRECHTEXT: Meine Semesterarbeit ist ein vollstaendiges Login-System gegen diese Bedrohung. Rechts der Auth-Service: Python, FastAPI, Post-Quantum-Krypto ueber liboqs. Links die iPhone-App: Expo, mit einem eigenen Crypto-Layer in JavaScript, weil liboqs auf Mobile nicht laeuft. Dazwischen nginx mit dem oqs-provider als TLS-Gateway. Und jetzt der wichtigste Teil der Folie, die zwei Schichten: Unten, Schicht 1, der Transport: TLS 1.3 mit der hybriden Gruppe X25519MLKEM768, das terminiert am Gateway. Oben, die gruene Klammer, Schicht 2: ein Ende-zu-Ende-Kanal von der App bis in den Service, eigener ML-KEM-768-Handshake, AES-256-GCM pro Request. Der laeuft auch dann, wenn der TLS-Stack des Geraets noch kein PQ kann, und er schuetzt auch hinter dem Gateway. Sessions und Replay-Nonces liegen in Redis mit TTL, User und Federation-Identitaeten in SQLite. Die drei Bausteine unten sind die NIST-Standards von 2024, alle hinter einer Crypto-Agility-Registry, also austauschbar konfiguriert.
Bei Zeitdruck: Datastores nicht erwaehnen, stehen auf der Folie. Gesamtarchitektur im Detail: Backup-Folie B4.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2:45 bis 3:45.
SPRECHTEXT: Wie schuetzt das System konkret? Auf zwei unabhaengigen Schichten. Schicht 1 ist der Transport: TLS, das Schloss-Symbol im Browser, aber mit hybridem Post-Quantum-Schluesseltausch. Das koennen moderne Browser seit 2024, und seit iOS 26 auch das iPhone, das zeige ich </a:t>
            </a:r>
            <a:r>
              <a:rPr lang="en-US" dirty="0" err="1"/>
              <a:t>euch</a:t>
            </a:r>
            <a:r>
              <a:rPr lang="en-US" dirty="0"/>
              <a:t> gleich live. Schicht 2 ist meine eigentliche Kernarbeit: ein eigener verschluesselter Kanal INNERHALB der App. Die App und der Server vereinbaren ueber ML-KEM-768 einen gemeinsamen Schluessel, und jede einzelne Anfrage wird damit verschluesselt, inklusive Schutz gegen Wiederholungs-Angriffe. Der Clou: Diese Schicht funktioniert auf jedem Geraet, egal ob das Betriebssystem schon PQ-TLS kann oder nicht, und sie schuetzt weiter, wo TLS endet, naemlich hinter dem Load-Balancer. Und die Identitaet selbst, der Login-Nachweis, ist mit ML-DSA-65 quantensicher signiert. Faellt eine Schicht, haelt die andere.
WICHTIG: 'Kernarbeit = Schicht 2' betonen, das ist die Eigenleistung.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3:45 bis 7:15. Der Kern der Praesentation. Ablauf strikt einhalten, max 3.5 Minuten.
VORBEREITUNG (vor der Praesi, siehe Runbook): Stack laeuft, Metro laeuft, Wireshark mitschneidend im Hintergrund, eigenes iPhone eingeloggt als Fallback.
ABLAUF:
1. (30s) QR zeigen, Experten scannen. Waehrend die App laedt WEITERSPRECHEN, nicht warten: 'Waehrend das laedt: Die App laeuft auf meinem Notebook hier vorne, Ihr Handy verbindet sich direkt damit.'
2. (60s) Experten loggen sich ein, sehen Home-Screen: Identitaet gruen (ML-DSA-65), Kanal amber. Dann sagen: 'Oeffnen Sie Ihr Profil.' Jetzt passiert der ML-KEM-Handshake live. Zurueck auf Home: Kanal gruen, ML-KEM-768 plus Session-ID. Erklaeren: 'In dem Moment hat Ihr Handy mit meinem Server einen quantensicheren Schluessel getauscht. Ihre Profildaten kamen AES-256-verschluesselt.'
3. (60s) BEWEIS am Beamer: Wireshark zeigen (naechste Folie als Ueberleitung). Den POST /api/profile suchen, Follow HTTP Stream: 'Das hier hat ein Angreifer im WLAN gesehen: die Metadaten lesbar, der Inhalt nur Rauschen.'
4. (30s) Bonus iOS-26-TLS: nginx-Log-Zeile mit X25519MLKEM768 vom Safari-Request zeigen (vorbereitet oder live).
FALLBACKS: Wenn Publikums-Handy klemmt: eigenes iPhone zeigen (ist eingeloggt). Wenn Netzwerk komplett klemmt: Screenshots aus dem Backup-Ordner plus Terminal-Demo (python -m scripts.demo_d008 im Container, zeigt alle 8 Schritte inkl. Replay-Block).
Demo-User: demo@example.com / demo-passwort-12345. Zweiter User falls noetig: demo2@example.com (vorher anlegen!).
PLATZHALTER: Die gestrichelte Box ersetzt du morgen frueh durch einen echten Screenshot deines Home-Screens (Post-Quantum-gesichert, Kanal gruen): iPhone-Screenshot, per AirDrop/Kabel auf Notebook, in PowerPoint Einfuegen &gt; Bild, auf die Box ziehen, Box loeschen.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Teil der Demo (bis 7:15). Diese Folie ist die Rueckfall-Ebene, falls du Wireshark nicht live zeigen kannst oder als Zusammenfassung NACH dem Live-Wireshark.
SPRECHTEXT: Das links ist der echte Mitschnitt: Ein Angreifer im gleichen WLAN sieht, DASS kommuniziert wird, aber der Inhalt ist reiner Ciphertext. Und das rechts ist die Log-Zeile meines Servers vom Safari-Aufruf meines iPhones: TLS 1.3 mit X25519MLKEM768, das ist der hybride Post-Quantum-Schluesseltausch. Mein iPhone mit iOS 26 spricht das bereits von Haus aus.
OPTIONAL HEUTE FRUEH: Ersetze die linke Karte durch einen echten Wireshark-Screenshot von deinem Testlauf (Bild einfach drueberlegen: Einfuegen &gt; Bild). Funktioniert aber auch stilisiert.
HINWEIS falls Log '0x11ec' statt 'X25519MLKEM768' zeigt: 0x11ec IST die offizielle Codepoint-ID von X25519MLKEM768, kannst du souveraen erklaeren (aeltere nginx-Versionen kennen den Klarnamen noch nicht).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7:15 bis 8:00.
SPRECHTEXT: Der haeufigste Einwand gegen Post-Quantum-Krypto ist: zu langsam, zu teuer. Meine Messungen sagen etwas anderes. Der komplette quantensichere Schluesseltausch: unter 5 Millisekunden, hundertmal schneller </a:t>
            </a:r>
            <a:r>
              <a:rPr lang="en-US" dirty="0" err="1"/>
              <a:t>als</a:t>
            </a:r>
            <a:r>
              <a:rPr lang="en-US" dirty="0"/>
              <a:t> </a:t>
            </a:r>
            <a:r>
              <a:rPr lang="en-US" dirty="0" err="1"/>
              <a:t>meine</a:t>
            </a:r>
            <a:r>
              <a:rPr lang="en-US" dirty="0"/>
              <a:t> Recherche am Anfang </a:t>
            </a:r>
            <a:r>
              <a:rPr lang="en-US" dirty="0" err="1"/>
              <a:t>ergab</a:t>
            </a:r>
            <a:r>
              <a:rPr lang="en-US" dirty="0"/>
              <a:t>. Einen Login-Nachweis pruefen: eine halbe Millisekunde. Und die Verschluesselung jeder einzelnen Anfrage kostet 0.2 Millisekunden, das ist weniger, als der Web-Server fuers reine Anfrage-Handling braucht. Quantensicherheit ist heute kein Performance-Problem mehr. Und damit das nicht nur behauptet ist: Alle Benchmark-Skripte liegen im Repository, und das ganze System ist mit 420 automatisierten Tests abgesichert, die heute Nacht alle gruen durchgelaufen sind.
ZAHLEN-HERKUNFT falls nachgefragt: Session-Init P95 4.77ms (n=100), Token-Verify P50 0.54ms inkl. Parsing (n=1000), AES-GCM P50 0.22ms encrypt+decrypt, ASGI-Baseline 0.75ms. docs/14_performance_results.md.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8:00 bis 9:00. Das ist die Reflexions-Folie, wichtig fuer Bewertungskriterium 5.
SPRECHTEXT: Jetzt die ehrliche Frage: Braucht jede App eine </a:t>
            </a:r>
            <a:r>
              <a:rPr lang="en-US" dirty="0" err="1"/>
              <a:t>selbstgebaute</a:t>
            </a:r>
            <a:r>
              <a:rPr lang="en-US" dirty="0"/>
              <a:t> </a:t>
            </a:r>
            <a:r>
              <a:rPr lang="en-US" dirty="0" err="1"/>
              <a:t>Wer</a:t>
            </a:r>
            <a:r>
              <a:rPr lang="en-US" dirty="0"/>
              <a:t> eine normale App baut, faehrt am besten damit, diesen Rollout zu nutzen, eigene Krypto ist immer ein Risiko. Aber, rechts: Es gibt drei gute Gruende fuer eine eigene Schicht. </a:t>
            </a:r>
            <a:r>
              <a:rPr lang="en-US" dirty="0" err="1"/>
              <a:t>AndPost</a:t>
            </a:r>
            <a:r>
              <a:rPr lang="en-US" dirty="0"/>
              <a:t>-Quantum-</a:t>
            </a:r>
            <a:r>
              <a:rPr lang="en-US" dirty="0" err="1"/>
              <a:t>Schicht</a:t>
            </a:r>
            <a:r>
              <a:rPr lang="en-US" dirty="0"/>
              <a:t>? </a:t>
            </a:r>
            <a:r>
              <a:rPr lang="en-US" dirty="0" err="1"/>
              <a:t>Nein.nicht</a:t>
            </a:r>
            <a:r>
              <a:rPr lang="en-US" dirty="0"/>
              <a:t> </a:t>
            </a:r>
            <a:r>
              <a:rPr lang="en-US" dirty="0" err="1"/>
              <a:t>wirklich</a:t>
            </a:r>
            <a:r>
              <a:rPr lang="en-US" dirty="0"/>
              <a:t>. Links: Der Markt </a:t>
            </a:r>
            <a:r>
              <a:rPr lang="en-US" dirty="0" err="1"/>
              <a:t>loest</a:t>
            </a:r>
            <a:r>
              <a:rPr lang="en-US" dirty="0"/>
              <a:t> das Transport-Problem </a:t>
            </a:r>
            <a:r>
              <a:rPr lang="en-US" dirty="0" err="1"/>
              <a:t>gerade</a:t>
            </a:r>
            <a:r>
              <a:rPr lang="en-US" dirty="0"/>
              <a:t> </a:t>
            </a:r>
            <a:r>
              <a:rPr lang="en-US" dirty="0" err="1"/>
              <a:t>selbst</a:t>
            </a:r>
            <a:r>
              <a:rPr lang="en-US" dirty="0"/>
              <a:t>. Browser </a:t>
            </a:r>
            <a:r>
              <a:rPr lang="en-US" dirty="0" err="1"/>
              <a:t>koennen</a:t>
            </a:r>
            <a:r>
              <a:rPr lang="en-US" dirty="0"/>
              <a:t> es, iOS 26 </a:t>
            </a:r>
            <a:r>
              <a:rPr lang="en-US" dirty="0" err="1"/>
              <a:t>kann</a:t>
            </a:r>
            <a:r>
              <a:rPr lang="en-US" dirty="0"/>
              <a:t> es, man muss </a:t>
            </a:r>
            <a:r>
              <a:rPr lang="en-US" dirty="0" err="1"/>
              <a:t>nur</a:t>
            </a:r>
            <a:r>
              <a:rPr lang="en-US" dirty="0"/>
              <a:t> die webserver </a:t>
            </a:r>
            <a:r>
              <a:rPr lang="en-US" dirty="0" err="1"/>
              <a:t>richtig</a:t>
            </a:r>
            <a:r>
              <a:rPr lang="en-US" dirty="0"/>
              <a:t> </a:t>
            </a:r>
            <a:r>
              <a:rPr lang="en-US" dirty="0" err="1"/>
              <a:t>einstellen</a:t>
            </a:r>
            <a:r>
              <a:rPr lang="en-US" dirty="0"/>
              <a:t>, Android </a:t>
            </a:r>
            <a:r>
              <a:rPr lang="en-US" dirty="0" err="1"/>
              <a:t>müsste</a:t>
            </a:r>
            <a:r>
              <a:rPr lang="en-US" dirty="0"/>
              <a:t> </a:t>
            </a:r>
            <a:r>
              <a:rPr lang="en-US" dirty="0" err="1"/>
              <a:t>auch</a:t>
            </a:r>
            <a:r>
              <a:rPr lang="en-US" dirty="0"/>
              <a:t> bald </a:t>
            </a:r>
            <a:r>
              <a:rPr lang="en-US" dirty="0" err="1"/>
              <a:t>nachziehen</a:t>
            </a:r>
            <a:r>
              <a:rPr lang="en-US" dirty="0"/>
              <a:t>. . Android kann es heute schlicht noch nicht. TLS endet am Load-Balancer, dahinter ist ohne eigene Schicht Schluss mit Schutz. Und wer Daten hat, die in zehn Jahren noch vertraulich sein muessen, kann nicht warten, Harvest Now, Decrypt Later. Die Referenz dafuer: Signal und Apples iMessage haben ihre Post-Quantum-Verschluesselung genau so gebaut, auf Applikationsebene. Mein Projekt demonstriert beide Wege in einem System.
Bei Nachfrage zur urspruenglichen Annahme: Als ich das Projekt plante, konnte auch iOS noch kein PQ-TLS aus Apps heraus (Befund R-T08 im Risk-Register). iOS 26 hat das waehrend der Projektlaufzeit geaendert, das habe ich diese Woche verifiziert und dokumentiert. So schnell bewegt sich das Feld.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9:00 bis 10:00. Ruhig abschliessen, Blickkontakt.
SPRECHTEXT: Ich fasse zusammen. Die Bedrohung ist real und sie betrifft Daten von heute, nicht von morgen. Die Standards sind fertig, die Performance ist kein Argument mehr, und dass es praktisch funktioniert, haben Sie nicht mir geglaubt, sondern selbst auf Ihrem Handy gesehen. Entstanden ist das in vier Scrum-Sprints als Einzelarbeit, mit ueber sechzig User Stories, 420 Tests und vollstaendiger Dokumentation im Repository. Quantensicherheit ist kein Zukunftsprojekt. Sie lief gerade auf Ihrem Handy. Vielen Dank, ich freue mich auf Ihre Fragen.
DANACH: 5 Minuten Fragen. Q&amp;A-Vorbereitungsdokument durchgehen (praesentation/QA_Fragen_Antworten.md). Backup-Folien liegen hinter dieser: B1 Handshake im Detail, B2 Qualitaet und offene Punkte, B3 Projektvorgehen, B4 Gesamtarchitektur, B5 Algorithmen.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technische Fragen (Wie funktioniert der Handshake genau? Was ist Encapsulation? Wo ist der Replay-Schutz?).
Diagramm lesen: links die App, rechts der Server, Farben sind die Phasen (Legende unten). Schritt 3 passiert nur in der App, Schritt 6 auf beiden Seiten gleichzeitig, ohne dass der Schluessel je uebers Netz geht. Das ist der Kernpunkt: Uebertragen werden nur Public Key und Ciphertext, beides darf ein Angreifer sehen.
Stichworte: ML-KEM ist ein KEM, kein klassischer Diffie-Hellman: Der Server kapselt ein Shared Secret gegen den Public Key der App ein. HKDF mit Session-ID als Salt und Domain-Separation-Info 'app-session-v1'. AAD bindet den Ciphertext an die Session. Nonce-Tracking atomar in Redis (SET NX EX). Wire-Format vollstaendig spezifiziert in docs/wire_format.md.
Das Diagramm besteht aus nativen PowerPoint-Shapes: direkt umfaerbbar, oder als Vorlage fuer die Figma-Version.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Sicherheits- und Qualitaetsfragen. Die rechte Spalte proaktiv nutzen, wenn Experten nach Schwaechen fragen: Offenheit ist hier die Staerke.
F-142: unterschiedliche HTTP-Codes (400 vs 401) verraten, ob eine Session-ID existiert. Bewusst nicht im Endspurt gefixt (Regression-Risiko vor Demo), sauber als Jira-Story SEC-6 geplant, Impact geht ueber Server, App und Wire-Format.
Timing-Fix: Der Dummy-Passwort-Hash nutzte fixe Parameter; wenn konfigurierte Argon2-Parameter abwichen, war unbekannte-Email vs falsches-Passwort messbar (270ms vs 22ms). Gefixt: Dummy-Hash wird pro Instanz mit den echten Parametern erzeugt.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den Projektmanagement-Experten.
Stichworte bei Nachfragen: Velocity ueber die Sprints gestiegen (Hook-First-Pattern: Foundation-Story zuerst, dann laufen Folge-Stories schnell). Sprint 3 war ferienbedingt schwaecher, ehrlich in der Retro dokumentiert, Carry-Over via Day-Marathon in Sprint 4 aufgeholt. Mentor-Feedback vom 20.06 (Commit-Nachvollziehbarkeit bei AI-Arbeit) als zentrale Lesson im Reflexions-Kapitel. Zeit-Tracking pro Story in Jira-Worklogs plus Daily-Journal-Tabellen.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Gesamtarchitektur, fuer Architektur-Fragen des Fachexperten.
Sprech-Reihenfolge: links die App mit eigenem Crypto-Layer (JS, noble-post-quantum, weil liboqs auf Mobile nicht laeuft). In der Mitte nginx als TLS-Terminierung mit oqs-provider (Schicht 1). Rechts der FastAPI-Service in drei Schichten: Router, Services, CryptoFacade. Die Facade mit Registry ist der Crypto-Agility-Punkt: Algorithmen sind austauschbar konfiguriert, nicht hardcodiert. Redis haelt Sessions und Nonces mit TTL (kein Logout-Endpoint noetig, Sessions verfallen), SQLite die User- und Federation-Identitaeten. Google/Microsoft haengen als externe IdPs am Broker, gestrichelt weil optionaler Pfad.
Hinweis: Diese Folie ist die vereinfachte Sicht von docs/07_design.md; bei Detailfragen dorthin verweisen.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fuer die Frage 'Wie funktionieren diese Algorithmen eigentlich?'.
SPRECHTEXT-KERN: Beide Standards basieren auf Gitter-Problemen. Stellen Sie sich ein Punkteraster vor, nicht in 2, sondern in hunderten Dimensionen. Die Aufgabe, zu einem beliebigen Punkt den naechsten Gitterpunkt zu finden, ist dort selbst fuer Quantencomputer praktisch unloesbar, es gibt schlicht keinen bekannten effizienten Algorithmus, weder klassisch noch quantum. Der Preis ist Groesse: Schluessel und Signaturen sind 30- bis 50-mal groesser als bei elliptischen Kurven. Das kostet Bandbreite, aber keine Rechenzeit, wie meine Messungen zeigen.
GENAUER (falls tief nachgefragt): ML-KEM basiert auf Module-LWE (Learning With Errors): Gleichungssysteme mit absichtlichem Rauschen. ML-DSA (Dilithium) nutzt dieselbe Problemfamilie fuer Signaturen (Fiat-Shamir with Aborts). Beide 2024 vom NIST nach 8 Jahren Wettbewerb standardisiert.
FALLS DU EINE SCHOENERE GRAFIK IN FIGMA BAUEN WILLST, gute Vorlagen: Wikipedia 'ML-KEM' (Diagramme), qramm.org/learn/ml-kem-kyber-explained.html, thibautprobst.fr/en/posts/ml-kem/ (Ablauf-Diagramme). Quelle dann auf der Folie angeben!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C"/>
        </a:solidFill>
        <a:effectLst/>
      </p:bgPr>
    </p:bg>
    <p:spTree>
      <p:nvGrpSpPr>
        <p:cNvPr id="1" name=""/>
        <p:cNvGrpSpPr/>
        <p:nvPr/>
      </p:nvGrpSpPr>
      <p:grpSpPr>
        <a:xfrm>
          <a:off x="0" y="0"/>
          <a:ext cx="0" cy="0"/>
          <a:chOff x="0" y="0"/>
          <a:chExt cx="0" cy="0"/>
        </a:xfrm>
      </p:grpSpPr>
      <p:sp>
        <p:nvSpPr>
          <p:cNvPr id="2" name="Text 0"/>
          <p:cNvSpPr/>
          <p:nvPr/>
        </p:nvSpPr>
        <p:spPr>
          <a:xfrm>
            <a:off x="640080" y="868680"/>
            <a:ext cx="7863840" cy="2103120"/>
          </a:xfrm>
          <a:prstGeom prst="rect">
            <a:avLst/>
          </a:prstGeom>
          <a:noFill/>
          <a:ln/>
        </p:spPr>
        <p:txBody>
          <a:bodyPr wrap="square" rtlCol="0" anchor="t"/>
          <a:lstStyle/>
          <a:p>
            <a:pPr marL="0" indent="0" algn="l">
              <a:lnSpc>
                <a:spcPct val="115000"/>
              </a:lnSpc>
              <a:buNone/>
            </a:pPr>
            <a:r>
              <a:rPr lang="en-US" sz="2600" b="1" dirty="0">
                <a:solidFill>
                  <a:srgbClr val="FFFFFF"/>
                </a:solidFill>
                <a:latin typeface="Cambria" pitchFamily="34" charset="0"/>
                <a:ea typeface="Cambria" pitchFamily="34" charset="-122"/>
                <a:cs typeface="Cambria" pitchFamily="34" charset="-120"/>
              </a:rPr>
              <a:t>Alles, was Sie </a:t>
            </a:r>
            <a:r>
              <a:rPr lang="en-US" sz="2600" b="1" dirty="0" err="1">
                <a:solidFill>
                  <a:srgbClr val="FFFFFF"/>
                </a:solidFill>
                <a:latin typeface="Cambria" pitchFamily="34" charset="0"/>
                <a:ea typeface="Cambria" pitchFamily="34" charset="-122"/>
                <a:cs typeface="Cambria" pitchFamily="34" charset="-120"/>
              </a:rPr>
              <a:t>heute</a:t>
            </a:r>
            <a:r>
              <a:rPr lang="en-US" sz="2600" b="1" dirty="0">
                <a:solidFill>
                  <a:srgbClr val="FFFFFF"/>
                </a:solidFill>
                <a:latin typeface="Cambria" pitchFamily="34" charset="0"/>
                <a:ea typeface="Cambria" pitchFamily="34" charset="-122"/>
                <a:cs typeface="Cambria" pitchFamily="34" charset="-120"/>
              </a:rPr>
              <a:t> </a:t>
            </a:r>
            <a:r>
              <a:rPr lang="en-US" sz="2600" b="1" dirty="0" err="1">
                <a:solidFill>
                  <a:srgbClr val="FFFFFF"/>
                </a:solidFill>
                <a:latin typeface="Cambria" pitchFamily="34" charset="0"/>
                <a:ea typeface="Cambria" pitchFamily="34" charset="-122"/>
                <a:cs typeface="Cambria" pitchFamily="34" charset="-120"/>
              </a:rPr>
              <a:t>über</a:t>
            </a:r>
            <a:r>
              <a:rPr lang="en-US" sz="2600" b="1" dirty="0">
                <a:solidFill>
                  <a:srgbClr val="FFFFFF"/>
                </a:solidFill>
                <a:latin typeface="Cambria" pitchFamily="34" charset="0"/>
                <a:ea typeface="Cambria" pitchFamily="34" charset="-122"/>
                <a:cs typeface="Cambria" pitchFamily="34" charset="-120"/>
              </a:rPr>
              <a:t> das Internet </a:t>
            </a:r>
            <a:r>
              <a:rPr lang="en-US" sz="2600" b="1" dirty="0" err="1">
                <a:solidFill>
                  <a:srgbClr val="FFFFFF"/>
                </a:solidFill>
                <a:latin typeface="Cambria" pitchFamily="34" charset="0"/>
                <a:ea typeface="Cambria" pitchFamily="34" charset="-122"/>
                <a:cs typeface="Cambria" pitchFamily="34" charset="-120"/>
              </a:rPr>
              <a:t>gesendet</a:t>
            </a:r>
            <a:r>
              <a:rPr lang="en-US" sz="2600" b="1" dirty="0">
                <a:solidFill>
                  <a:srgbClr val="FFFFFF"/>
                </a:solidFill>
                <a:latin typeface="Cambria" pitchFamily="34" charset="0"/>
                <a:ea typeface="Cambria" pitchFamily="34" charset="-122"/>
                <a:cs typeface="Cambria" pitchFamily="34" charset="-120"/>
              </a:rPr>
              <a:t> </a:t>
            </a:r>
            <a:r>
              <a:rPr lang="en-US" sz="2600" b="1" dirty="0" err="1">
                <a:solidFill>
                  <a:srgbClr val="FFFFFF"/>
                </a:solidFill>
                <a:latin typeface="Cambria" pitchFamily="34" charset="0"/>
                <a:ea typeface="Cambria" pitchFamily="34" charset="-122"/>
                <a:cs typeface="Cambria" pitchFamily="34" charset="-120"/>
              </a:rPr>
              <a:t>haben</a:t>
            </a:r>
            <a:r>
              <a:rPr lang="en-US" sz="2600" b="1" dirty="0">
                <a:solidFill>
                  <a:srgbClr val="FFFFFF"/>
                </a:solidFill>
                <a:latin typeface="Cambria" pitchFamily="34" charset="0"/>
                <a:ea typeface="Cambria" pitchFamily="34" charset="-122"/>
                <a:cs typeface="Cambria" pitchFamily="34" charset="-120"/>
              </a:rPr>
              <a:t>, </a:t>
            </a:r>
            <a:r>
              <a:rPr lang="en-US" sz="2600" b="1" dirty="0" err="1">
                <a:solidFill>
                  <a:schemeClr val="bg1"/>
                </a:solidFill>
                <a:latin typeface="Cambria" pitchFamily="34" charset="0"/>
                <a:ea typeface="Cambria" pitchFamily="34" charset="-122"/>
                <a:cs typeface="Cambria" pitchFamily="34" charset="-120"/>
              </a:rPr>
              <a:t>kann</a:t>
            </a:r>
            <a:r>
              <a:rPr lang="en-US" sz="2600" b="1" dirty="0">
                <a:solidFill>
                  <a:schemeClr val="bg1"/>
                </a:solidFill>
                <a:latin typeface="Cambria" pitchFamily="34" charset="0"/>
                <a:ea typeface="Cambria" pitchFamily="34" charset="-122"/>
                <a:cs typeface="Cambria" pitchFamily="34" charset="-120"/>
              </a:rPr>
              <a:t> bereits abgefangen und gespeichert sein.</a:t>
            </a:r>
            <a:br>
              <a:rPr lang="en-US" sz="2600" b="1" dirty="0">
                <a:solidFill>
                  <a:schemeClr val="bg1"/>
                </a:solidFill>
                <a:latin typeface="Cambria" pitchFamily="34" charset="0"/>
                <a:ea typeface="Cambria" pitchFamily="34" charset="-122"/>
                <a:cs typeface="Cambria" pitchFamily="34" charset="-120"/>
              </a:rPr>
            </a:br>
            <a:endParaRPr lang="en-US" sz="2600" b="1" dirty="0">
              <a:solidFill>
                <a:schemeClr val="bg1"/>
              </a:solidFill>
              <a:latin typeface="Cambria" pitchFamily="34" charset="0"/>
              <a:ea typeface="Cambria" pitchFamily="34" charset="-122"/>
              <a:cs typeface="Cambria" pitchFamily="34" charset="-120"/>
            </a:endParaRPr>
          </a:p>
          <a:p>
            <a:pPr marL="0" indent="0" algn="l">
              <a:lnSpc>
                <a:spcPct val="115000"/>
              </a:lnSpc>
              <a:buNone/>
            </a:pPr>
            <a:r>
              <a:rPr lang="en-US" sz="2600" b="1" dirty="0">
                <a:solidFill>
                  <a:srgbClr val="21C08B"/>
                </a:solidFill>
                <a:latin typeface="Cambria" pitchFamily="34" charset="0"/>
                <a:ea typeface="Cambria" pitchFamily="34" charset="-122"/>
              </a:rPr>
              <a:t>Harvest Now, Decrypt Later!</a:t>
            </a:r>
            <a:endParaRPr lang="en-US" sz="2600" dirty="0"/>
          </a:p>
        </p:txBody>
      </p:sp>
      <p:sp>
        <p:nvSpPr>
          <p:cNvPr id="3" name="Text 1"/>
          <p:cNvSpPr/>
          <p:nvPr/>
        </p:nvSpPr>
        <p:spPr>
          <a:xfrm>
            <a:off x="640080" y="3063240"/>
            <a:ext cx="7863840" cy="457200"/>
          </a:xfrm>
          <a:prstGeom prst="rect">
            <a:avLst/>
          </a:prstGeom>
          <a:noFill/>
          <a:ln/>
        </p:spPr>
        <p:txBody>
          <a:bodyPr wrap="square" rtlCol="0" anchor="ctr"/>
          <a:lstStyle/>
          <a:p>
            <a:pPr marL="0" indent="0">
              <a:buNone/>
            </a:pPr>
            <a:r>
              <a:rPr lang="en-US" sz="1800" i="1" dirty="0" err="1">
                <a:solidFill>
                  <a:srgbClr val="C9DCF5"/>
                </a:solidFill>
                <a:latin typeface="Calibri" pitchFamily="34" charset="0"/>
                <a:ea typeface="Calibri" pitchFamily="34" charset="-122"/>
                <a:cs typeface="Calibri" pitchFamily="34" charset="-120"/>
              </a:rPr>
              <a:t>Entschlüsselt</a:t>
            </a:r>
            <a:r>
              <a:rPr lang="en-US" sz="1800" i="1" dirty="0">
                <a:solidFill>
                  <a:srgbClr val="C9DCF5"/>
                </a:solidFill>
                <a:latin typeface="Calibri" pitchFamily="34" charset="0"/>
                <a:ea typeface="Calibri" pitchFamily="34" charset="-122"/>
                <a:cs typeface="Calibri" pitchFamily="34" charset="-120"/>
              </a:rPr>
              <a:t> wird es in ein paar Jahren.</a:t>
            </a:r>
            <a:endParaRPr lang="en-US" sz="1800" dirty="0"/>
          </a:p>
        </p:txBody>
      </p:sp>
      <p:sp>
        <p:nvSpPr>
          <p:cNvPr id="4" name="Text 2"/>
          <p:cNvSpPr/>
          <p:nvPr/>
        </p:nvSpPr>
        <p:spPr>
          <a:xfrm>
            <a:off x="640080" y="4343400"/>
            <a:ext cx="786384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Implementing Post-Quantum Cryptography</a:t>
            </a:r>
            <a:r>
              <a:rPr lang="en-US" sz="1200" dirty="0">
                <a:solidFill>
                  <a:srgbClr val="8FA3C2"/>
                </a:solidFill>
                <a:latin typeface="Calibri" pitchFamily="34" charset="0"/>
                <a:ea typeface="Calibri" pitchFamily="34" charset="-122"/>
                <a:cs typeface="Calibri" pitchFamily="34" charset="-120"/>
              </a:rPr>
              <a:t>   Semesterarbeit ITCNE25  |  Dodoe Ruminahui Mannale  |  Kolloquium 08.07.2026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marL="0" indent="0">
              <a:buNone/>
            </a:pPr>
            <a:r>
              <a:rPr lang="en-US" sz="3000" b="1" dirty="0">
                <a:solidFill>
                  <a:srgbClr val="17263D"/>
                </a:solidFill>
                <a:latin typeface="Cambria" pitchFamily="34" charset="0"/>
                <a:ea typeface="Cambria" pitchFamily="34" charset="-122"/>
                <a:cs typeface="Cambria" pitchFamily="34" charset="-120"/>
              </a:rPr>
              <a:t>Unsere Verschluesselung hat ein Ablaufdatum</a:t>
            </a:r>
            <a:endParaRPr lang="en-US" sz="3000" dirty="0"/>
          </a:p>
        </p:txBody>
      </p:sp>
      <p:sp>
        <p:nvSpPr>
          <p:cNvPr id="3" name="Text 1"/>
          <p:cNvSpPr/>
          <p:nvPr/>
        </p:nvSpPr>
        <p:spPr>
          <a:xfrm>
            <a:off x="548640" y="1143000"/>
            <a:ext cx="3749040" cy="2926080"/>
          </a:xfrm>
          <a:prstGeom prst="rect">
            <a:avLst/>
          </a:prstGeom>
          <a:noFill/>
          <a:ln/>
        </p:spPr>
        <p:txBody>
          <a:bodyPr wrap="square" rtlCol="0" anchor="t"/>
          <a:lstStyle/>
          <a:p>
            <a:pPr marL="0" indent="0">
              <a:lnSpc>
                <a:spcPct val="112000"/>
              </a:lnSpc>
              <a:buNone/>
            </a:pPr>
            <a:r>
              <a:rPr lang="en-US" sz="1500" dirty="0">
                <a:solidFill>
                  <a:srgbClr val="17263D"/>
                </a:solidFill>
                <a:latin typeface="Calibri" pitchFamily="34" charset="0"/>
                <a:ea typeface="Calibri" pitchFamily="34" charset="-122"/>
                <a:cs typeface="Calibri" pitchFamily="34" charset="-120"/>
              </a:rPr>
              <a:t>Jedes Login, jedes E-Banking, jeder Chat ist heute durch Mathematik geschuetzt (RSA, Elliptische Kurven), die für normale Computer </a:t>
            </a:r>
            <a:r>
              <a:rPr lang="en-US" sz="1500" dirty="0" err="1">
                <a:solidFill>
                  <a:srgbClr val="17263D"/>
                </a:solidFill>
                <a:latin typeface="Calibri" pitchFamily="34" charset="0"/>
                <a:ea typeface="Calibri" pitchFamily="34" charset="-122"/>
                <a:cs typeface="Calibri" pitchFamily="34" charset="-120"/>
              </a:rPr>
              <a:t>unlösbar</a:t>
            </a:r>
            <a:r>
              <a:rPr lang="en-US" sz="1500" dirty="0">
                <a:solidFill>
                  <a:srgbClr val="17263D"/>
                </a:solidFill>
                <a:latin typeface="Calibri" pitchFamily="34" charset="0"/>
                <a:ea typeface="Calibri" pitchFamily="34" charset="-122"/>
                <a:cs typeface="Calibri" pitchFamily="34" charset="-120"/>
              </a:rPr>
              <a:t> ist.</a:t>
            </a:r>
            <a:endParaRPr lang="en-US" sz="1500" dirty="0"/>
          </a:p>
          <a:p>
            <a:pPr marL="0" indent="0">
              <a:lnSpc>
                <a:spcPct val="112000"/>
              </a:lnSpc>
              <a:buNone/>
            </a:pPr>
            <a:endParaRPr lang="en-US" sz="1500" dirty="0"/>
          </a:p>
          <a:p>
            <a:pPr marL="0" indent="0">
              <a:lnSpc>
                <a:spcPct val="112000"/>
              </a:lnSpc>
              <a:buNone/>
            </a:pPr>
            <a:r>
              <a:rPr lang="en-US" sz="1500" b="1" dirty="0">
                <a:solidFill>
                  <a:srgbClr val="17263D"/>
                </a:solidFill>
                <a:latin typeface="Calibri" pitchFamily="34" charset="0"/>
                <a:ea typeface="Calibri" pitchFamily="34" charset="-122"/>
                <a:cs typeface="Calibri" pitchFamily="34" charset="-120"/>
              </a:rPr>
              <a:t>Für Quantencomputer ist genau diese </a:t>
            </a:r>
            <a:r>
              <a:rPr lang="en-US" sz="1500" b="1" dirty="0" err="1">
                <a:solidFill>
                  <a:srgbClr val="17263D"/>
                </a:solidFill>
                <a:latin typeface="Calibri" pitchFamily="34" charset="0"/>
                <a:ea typeface="Calibri" pitchFamily="34" charset="-122"/>
                <a:cs typeface="Calibri" pitchFamily="34" charset="-120"/>
              </a:rPr>
              <a:t>Mathematik</a:t>
            </a:r>
            <a:r>
              <a:rPr lang="en-US" sz="1500" b="1" dirty="0">
                <a:solidFill>
                  <a:srgbClr val="17263D"/>
                </a:solidFill>
                <a:latin typeface="Calibri" pitchFamily="34" charset="0"/>
                <a:ea typeface="Calibri" pitchFamily="34" charset="-122"/>
                <a:cs typeface="Calibri" pitchFamily="34" charset="-120"/>
              </a:rPr>
              <a:t> </a:t>
            </a:r>
            <a:r>
              <a:rPr lang="en-US" sz="1500" b="1" dirty="0" err="1">
                <a:solidFill>
                  <a:srgbClr val="17263D"/>
                </a:solidFill>
                <a:latin typeface="Calibri" pitchFamily="34" charset="0"/>
                <a:ea typeface="Calibri" pitchFamily="34" charset="-122"/>
                <a:cs typeface="Calibri" pitchFamily="34" charset="-120"/>
              </a:rPr>
              <a:t>einfach</a:t>
            </a:r>
            <a:r>
              <a:rPr lang="en-US" sz="1500" b="1" dirty="0">
                <a:solidFill>
                  <a:srgbClr val="17263D"/>
                </a:solidFill>
                <a:latin typeface="Calibri" pitchFamily="34" charset="0"/>
                <a:ea typeface="Calibri" pitchFamily="34" charset="-122"/>
                <a:cs typeface="Calibri" pitchFamily="34" charset="-120"/>
              </a:rPr>
              <a:t> (Shor-Algorithmus, 1994). Die Frage ist nicht ob, sondern wann.</a:t>
            </a:r>
            <a:endParaRPr lang="en-US" sz="1500" dirty="0"/>
          </a:p>
        </p:txBody>
      </p:sp>
      <p:sp>
        <p:nvSpPr>
          <p:cNvPr id="4" name="Shape 2"/>
          <p:cNvSpPr/>
          <p:nvPr/>
        </p:nvSpPr>
        <p:spPr>
          <a:xfrm>
            <a:off x="4754880" y="1143000"/>
            <a:ext cx="3840480" cy="960120"/>
          </a:xfrm>
          <a:prstGeom prst="roundRect">
            <a:avLst>
              <a:gd name="adj" fmla="val 7619"/>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5" name="Shape 3"/>
          <p:cNvSpPr/>
          <p:nvPr/>
        </p:nvSpPr>
        <p:spPr>
          <a:xfrm>
            <a:off x="4919472" y="1325880"/>
            <a:ext cx="128016" cy="128016"/>
          </a:xfrm>
          <a:prstGeom prst="ellipse">
            <a:avLst/>
          </a:prstGeom>
          <a:solidFill>
            <a:srgbClr val="E8A13D"/>
          </a:solidFill>
          <a:ln/>
        </p:spPr>
        <p:txBody>
          <a:bodyPr/>
          <a:lstStyle/>
          <a:p>
            <a:endParaRPr lang="en-GB"/>
          </a:p>
        </p:txBody>
      </p:sp>
      <p:sp>
        <p:nvSpPr>
          <p:cNvPr id="6" name="Text 4"/>
          <p:cNvSpPr/>
          <p:nvPr/>
        </p:nvSpPr>
        <p:spPr>
          <a:xfrm>
            <a:off x="5138928" y="1207008"/>
            <a:ext cx="3291840" cy="292608"/>
          </a:xfrm>
          <a:prstGeom prst="rect">
            <a:avLst/>
          </a:prstGeom>
          <a:noFill/>
          <a:ln/>
        </p:spPr>
        <p:txBody>
          <a:bodyPr wrap="square" lIns="0" tIns="0" rIns="0" bIns="0" rtlCol="0" anchor="ctr"/>
          <a:lstStyle/>
          <a:p>
            <a:pPr marL="0" indent="0">
              <a:buNone/>
            </a:pPr>
            <a:r>
              <a:rPr lang="en-US" sz="1350" b="1" dirty="0">
                <a:solidFill>
                  <a:srgbClr val="17263D"/>
                </a:solidFill>
                <a:latin typeface="Calibri" pitchFamily="34" charset="0"/>
                <a:ea typeface="Calibri" pitchFamily="34" charset="-122"/>
                <a:cs typeface="Calibri" pitchFamily="34" charset="-120"/>
              </a:rPr>
              <a:t>Heute</a:t>
            </a:r>
            <a:endParaRPr lang="en-US" sz="1350" dirty="0"/>
          </a:p>
        </p:txBody>
      </p:sp>
      <p:sp>
        <p:nvSpPr>
          <p:cNvPr id="7" name="Text 5"/>
          <p:cNvSpPr/>
          <p:nvPr/>
        </p:nvSpPr>
        <p:spPr>
          <a:xfrm>
            <a:off x="5138928" y="1490472"/>
            <a:ext cx="3291840" cy="566928"/>
          </a:xfrm>
          <a:prstGeom prst="rect">
            <a:avLst/>
          </a:prstGeom>
          <a:noFill/>
          <a:ln/>
        </p:spPr>
        <p:txBody>
          <a:bodyPr wrap="square" lIns="0" tIns="0" rIns="0" bIns="0" rtlCol="0" anchor="t"/>
          <a:lstStyle/>
          <a:p>
            <a:pPr marL="0" indent="0">
              <a:buNone/>
            </a:pPr>
            <a:r>
              <a:rPr lang="en-US" sz="1150" dirty="0" err="1">
                <a:solidFill>
                  <a:srgbClr val="5B6B82"/>
                </a:solidFill>
                <a:latin typeface="Calibri" pitchFamily="34" charset="0"/>
                <a:ea typeface="Calibri" pitchFamily="34" charset="-122"/>
                <a:cs typeface="Calibri" pitchFamily="34" charset="-120"/>
              </a:rPr>
              <a:t>Verschlüsselter</a:t>
            </a:r>
            <a:r>
              <a:rPr lang="en-US" sz="1150" dirty="0">
                <a:solidFill>
                  <a:srgbClr val="5B6B82"/>
                </a:solidFill>
                <a:latin typeface="Calibri" pitchFamily="34" charset="0"/>
                <a:ea typeface="Calibri" pitchFamily="34" charset="-122"/>
                <a:cs typeface="Calibri" pitchFamily="34" charset="-120"/>
              </a:rPr>
              <a:t> Verkehr wird mitgeschnitten und billig gespeichert.</a:t>
            </a:r>
            <a:endParaRPr lang="en-US" sz="1150" dirty="0"/>
          </a:p>
        </p:txBody>
      </p:sp>
      <p:sp>
        <p:nvSpPr>
          <p:cNvPr id="8" name="Shape 6"/>
          <p:cNvSpPr/>
          <p:nvPr/>
        </p:nvSpPr>
        <p:spPr>
          <a:xfrm>
            <a:off x="4974336" y="2103120"/>
            <a:ext cx="0" cy="228600"/>
          </a:xfrm>
          <a:prstGeom prst="line">
            <a:avLst/>
          </a:prstGeom>
          <a:noFill/>
          <a:ln w="25400">
            <a:solidFill>
              <a:srgbClr val="AFC2DC"/>
            </a:solidFill>
            <a:prstDash val="dash"/>
          </a:ln>
        </p:spPr>
        <p:txBody>
          <a:bodyPr/>
          <a:lstStyle/>
          <a:p>
            <a:endParaRPr lang="en-GB"/>
          </a:p>
        </p:txBody>
      </p:sp>
      <p:sp>
        <p:nvSpPr>
          <p:cNvPr id="9" name="Shape 7"/>
          <p:cNvSpPr/>
          <p:nvPr/>
        </p:nvSpPr>
        <p:spPr>
          <a:xfrm>
            <a:off x="4754880" y="2331720"/>
            <a:ext cx="3840480" cy="960120"/>
          </a:xfrm>
          <a:prstGeom prst="roundRect">
            <a:avLst>
              <a:gd name="adj" fmla="val 7619"/>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10" name="Shape 8"/>
          <p:cNvSpPr/>
          <p:nvPr/>
        </p:nvSpPr>
        <p:spPr>
          <a:xfrm>
            <a:off x="4919472" y="2514600"/>
            <a:ext cx="128016" cy="128016"/>
          </a:xfrm>
          <a:prstGeom prst="ellipse">
            <a:avLst/>
          </a:prstGeom>
          <a:solidFill>
            <a:srgbClr val="D95757"/>
          </a:solidFill>
          <a:ln/>
        </p:spPr>
        <p:txBody>
          <a:bodyPr/>
          <a:lstStyle/>
          <a:p>
            <a:endParaRPr lang="en-GB"/>
          </a:p>
        </p:txBody>
      </p:sp>
      <p:sp>
        <p:nvSpPr>
          <p:cNvPr id="11" name="Text 9"/>
          <p:cNvSpPr/>
          <p:nvPr/>
        </p:nvSpPr>
        <p:spPr>
          <a:xfrm>
            <a:off x="5138928" y="2395728"/>
            <a:ext cx="3291840" cy="292608"/>
          </a:xfrm>
          <a:prstGeom prst="rect">
            <a:avLst/>
          </a:prstGeom>
          <a:noFill/>
          <a:ln/>
        </p:spPr>
        <p:txBody>
          <a:bodyPr wrap="square" lIns="0" tIns="0" rIns="0" bIns="0" rtlCol="0" anchor="ctr"/>
          <a:lstStyle/>
          <a:p>
            <a:pPr marL="0" indent="0">
              <a:buNone/>
            </a:pPr>
            <a:r>
              <a:rPr lang="en-US" sz="1350" b="1" dirty="0">
                <a:solidFill>
                  <a:srgbClr val="17263D"/>
                </a:solidFill>
                <a:latin typeface="Calibri" pitchFamily="34" charset="0"/>
                <a:ea typeface="Calibri" pitchFamily="34" charset="-122"/>
                <a:cs typeface="Calibri" pitchFamily="34" charset="-120"/>
              </a:rPr>
              <a:t>In einigen Jahren</a:t>
            </a:r>
            <a:endParaRPr lang="en-US" sz="1350" dirty="0"/>
          </a:p>
        </p:txBody>
      </p:sp>
      <p:sp>
        <p:nvSpPr>
          <p:cNvPr id="12" name="Text 10"/>
          <p:cNvSpPr/>
          <p:nvPr/>
        </p:nvSpPr>
        <p:spPr>
          <a:xfrm>
            <a:off x="5138928" y="2679192"/>
            <a:ext cx="3291840" cy="566928"/>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Ein kryptografisch relevanter Quantencomputer knackt RSA und ECC.</a:t>
            </a:r>
            <a:endParaRPr lang="en-US" sz="1150" dirty="0"/>
          </a:p>
        </p:txBody>
      </p:sp>
      <p:sp>
        <p:nvSpPr>
          <p:cNvPr id="13" name="Shape 11"/>
          <p:cNvSpPr/>
          <p:nvPr/>
        </p:nvSpPr>
        <p:spPr>
          <a:xfrm>
            <a:off x="4974336" y="3291840"/>
            <a:ext cx="0" cy="228600"/>
          </a:xfrm>
          <a:prstGeom prst="line">
            <a:avLst/>
          </a:prstGeom>
          <a:noFill/>
          <a:ln w="25400">
            <a:solidFill>
              <a:srgbClr val="AFC2DC"/>
            </a:solidFill>
            <a:prstDash val="dash"/>
          </a:ln>
        </p:spPr>
        <p:txBody>
          <a:bodyPr/>
          <a:lstStyle/>
          <a:p>
            <a:endParaRPr lang="en-GB"/>
          </a:p>
        </p:txBody>
      </p:sp>
      <p:sp>
        <p:nvSpPr>
          <p:cNvPr id="14" name="Shape 12"/>
          <p:cNvSpPr/>
          <p:nvPr/>
        </p:nvSpPr>
        <p:spPr>
          <a:xfrm>
            <a:off x="4754880" y="3520440"/>
            <a:ext cx="3840480" cy="960120"/>
          </a:xfrm>
          <a:prstGeom prst="roundRect">
            <a:avLst>
              <a:gd name="adj" fmla="val 7619"/>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15" name="Shape 13"/>
          <p:cNvSpPr/>
          <p:nvPr/>
        </p:nvSpPr>
        <p:spPr>
          <a:xfrm>
            <a:off x="4919472" y="3703320"/>
            <a:ext cx="128016" cy="128016"/>
          </a:xfrm>
          <a:prstGeom prst="ellipse">
            <a:avLst/>
          </a:prstGeom>
          <a:solidFill>
            <a:srgbClr val="0A1F3C"/>
          </a:solidFill>
          <a:ln/>
        </p:spPr>
        <p:txBody>
          <a:bodyPr/>
          <a:lstStyle/>
          <a:p>
            <a:endParaRPr lang="en-GB"/>
          </a:p>
        </p:txBody>
      </p:sp>
      <p:sp>
        <p:nvSpPr>
          <p:cNvPr id="16" name="Text 14"/>
          <p:cNvSpPr/>
          <p:nvPr/>
        </p:nvSpPr>
        <p:spPr>
          <a:xfrm>
            <a:off x="5138928" y="3584448"/>
            <a:ext cx="3291840" cy="292608"/>
          </a:xfrm>
          <a:prstGeom prst="rect">
            <a:avLst/>
          </a:prstGeom>
          <a:noFill/>
          <a:ln/>
        </p:spPr>
        <p:txBody>
          <a:bodyPr wrap="square" lIns="0" tIns="0" rIns="0" bIns="0" rtlCol="0" anchor="ctr"/>
          <a:lstStyle/>
          <a:p>
            <a:pPr marL="0" indent="0">
              <a:buNone/>
            </a:pPr>
            <a:r>
              <a:rPr lang="en-US" sz="1350" b="1" dirty="0">
                <a:solidFill>
                  <a:srgbClr val="17263D"/>
                </a:solidFill>
                <a:latin typeface="Calibri" pitchFamily="34" charset="0"/>
                <a:ea typeface="Calibri" pitchFamily="34" charset="-122"/>
                <a:cs typeface="Calibri" pitchFamily="34" charset="-120"/>
              </a:rPr>
              <a:t>Dann</a:t>
            </a:r>
            <a:endParaRPr lang="en-US" sz="1350" dirty="0"/>
          </a:p>
        </p:txBody>
      </p:sp>
      <p:sp>
        <p:nvSpPr>
          <p:cNvPr id="17" name="Text 15"/>
          <p:cNvSpPr/>
          <p:nvPr/>
        </p:nvSpPr>
        <p:spPr>
          <a:xfrm>
            <a:off x="5138928" y="3867912"/>
            <a:ext cx="3291840" cy="566928"/>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Ihre Daten von heute </a:t>
            </a:r>
            <a:r>
              <a:rPr lang="en-US" sz="1150" dirty="0" err="1">
                <a:solidFill>
                  <a:srgbClr val="5B6B82"/>
                </a:solidFill>
                <a:latin typeface="Calibri" pitchFamily="34" charset="0"/>
                <a:ea typeface="Calibri" pitchFamily="34" charset="-122"/>
                <a:cs typeface="Calibri" pitchFamily="34" charset="-120"/>
              </a:rPr>
              <a:t>sind</a:t>
            </a:r>
            <a:r>
              <a:rPr lang="en-US" sz="1150" dirty="0">
                <a:solidFill>
                  <a:srgbClr val="5B6B82"/>
                </a:solidFill>
                <a:latin typeface="Calibri" pitchFamily="34" charset="0"/>
                <a:ea typeface="Calibri" pitchFamily="34" charset="-122"/>
                <a:cs typeface="Calibri" pitchFamily="34" charset="-120"/>
              </a:rPr>
              <a:t> </a:t>
            </a:r>
            <a:r>
              <a:rPr lang="en-US" sz="1150" dirty="0" err="1">
                <a:solidFill>
                  <a:srgbClr val="5B6B82"/>
                </a:solidFill>
                <a:latin typeface="Calibri" pitchFamily="34" charset="0"/>
                <a:ea typeface="Calibri" pitchFamily="34" charset="-122"/>
                <a:cs typeface="Calibri" pitchFamily="34" charset="-120"/>
              </a:rPr>
              <a:t>rückwirkend</a:t>
            </a:r>
            <a:r>
              <a:rPr lang="en-US" sz="1150" dirty="0">
                <a:solidFill>
                  <a:srgbClr val="5B6B82"/>
                </a:solidFill>
                <a:latin typeface="Calibri" pitchFamily="34" charset="0"/>
                <a:ea typeface="Calibri" pitchFamily="34" charset="-122"/>
                <a:cs typeface="Calibri" pitchFamily="34" charset="-120"/>
              </a:rPr>
              <a:t> lesbar: </a:t>
            </a:r>
            <a:r>
              <a:rPr lang="en-US" sz="1150" dirty="0" err="1">
                <a:solidFill>
                  <a:srgbClr val="5B6B82"/>
                </a:solidFill>
                <a:latin typeface="Calibri" pitchFamily="34" charset="0"/>
                <a:ea typeface="Calibri" pitchFamily="34" charset="-122"/>
                <a:cs typeface="Calibri" pitchFamily="34" charset="-120"/>
              </a:rPr>
              <a:t>Verträge</a:t>
            </a:r>
            <a:r>
              <a:rPr lang="en-US" sz="1150" dirty="0">
                <a:solidFill>
                  <a:srgbClr val="5B6B82"/>
                </a:solidFill>
                <a:latin typeface="Calibri" pitchFamily="34" charset="0"/>
                <a:ea typeface="Calibri" pitchFamily="34" charset="-122"/>
                <a:cs typeface="Calibri" pitchFamily="34" charset="-120"/>
              </a:rPr>
              <a:t>, Gesundheit, </a:t>
            </a:r>
            <a:r>
              <a:rPr lang="en-US" sz="1150" dirty="0" err="1">
                <a:solidFill>
                  <a:srgbClr val="5B6B82"/>
                </a:solidFill>
                <a:latin typeface="Calibri" pitchFamily="34" charset="0"/>
                <a:ea typeface="Calibri" pitchFamily="34" charset="-122"/>
                <a:cs typeface="Calibri" pitchFamily="34" charset="-120"/>
              </a:rPr>
              <a:t>Passwörter</a:t>
            </a:r>
            <a:r>
              <a:rPr lang="en-US" sz="1150" dirty="0">
                <a:solidFill>
                  <a:srgbClr val="5B6B82"/>
                </a:solidFill>
                <a:latin typeface="Calibri" pitchFamily="34" charset="0"/>
                <a:ea typeface="Calibri" pitchFamily="34" charset="-122"/>
                <a:cs typeface="Calibri" pitchFamily="34" charset="-120"/>
              </a:rPr>
              <a:t>.</a:t>
            </a:r>
            <a:endParaRPr lang="en-US" sz="1150" dirty="0"/>
          </a:p>
        </p:txBody>
      </p:sp>
      <p:sp>
        <p:nvSpPr>
          <p:cNvPr id="18" name="Text 16"/>
          <p:cNvSpPr/>
          <p:nvPr/>
        </p:nvSpPr>
        <p:spPr>
          <a:xfrm>
            <a:off x="548640" y="4526280"/>
            <a:ext cx="8046720" cy="320040"/>
          </a:xfrm>
          <a:prstGeom prst="rect">
            <a:avLst/>
          </a:prstGeom>
          <a:noFill/>
          <a:ln/>
        </p:spPr>
        <p:txBody>
          <a:bodyPr wrap="square" rtlCol="0" anchor="ctr"/>
          <a:lstStyle/>
          <a:p>
            <a:pPr marL="0" indent="0">
              <a:buNone/>
            </a:pPr>
            <a:r>
              <a:rPr lang="en-US" sz="1250" i="1" dirty="0">
                <a:solidFill>
                  <a:srgbClr val="5B6B82"/>
                </a:solidFill>
                <a:latin typeface="Calibri" pitchFamily="34" charset="0"/>
                <a:ea typeface="Calibri" pitchFamily="34" charset="-122"/>
                <a:cs typeface="Calibri" pitchFamily="34" charset="-120"/>
              </a:rPr>
              <a:t>Harvest Now, Decrypt Later: sammeln heute, lesen spaeter.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marL="0" indent="0">
              <a:buNone/>
            </a:pPr>
            <a:r>
              <a:rPr lang="en-US" sz="2500" b="1" dirty="0">
                <a:solidFill>
                  <a:srgbClr val="17263D"/>
                </a:solidFill>
                <a:latin typeface="Cambria" pitchFamily="34" charset="0"/>
                <a:ea typeface="Cambria" pitchFamily="34" charset="-122"/>
                <a:cs typeface="Cambria" pitchFamily="34" charset="-120"/>
              </a:rPr>
              <a:t>Die Antwort: ein quantensicheres Login-System</a:t>
            </a:r>
            <a:endParaRPr lang="en-US" sz="2500" dirty="0"/>
          </a:p>
        </p:txBody>
      </p:sp>
      <p:sp>
        <p:nvSpPr>
          <p:cNvPr id="3" name="Text 1"/>
          <p:cNvSpPr/>
          <p:nvPr/>
        </p:nvSpPr>
        <p:spPr>
          <a:xfrm>
            <a:off x="548640" y="868680"/>
            <a:ext cx="8046720" cy="457200"/>
          </a:xfrm>
          <a:prstGeom prst="rect">
            <a:avLst/>
          </a:prstGeom>
          <a:noFill/>
          <a:ln/>
        </p:spPr>
        <p:txBody>
          <a:bodyPr wrap="square" rtlCol="0" anchor="ctr"/>
          <a:lstStyle/>
          <a:p>
            <a:pPr marL="0" indent="0">
              <a:buNone/>
            </a:pPr>
            <a:r>
              <a:rPr lang="en-US" sz="1350" dirty="0">
                <a:solidFill>
                  <a:srgbClr val="5B6B82"/>
                </a:solidFill>
                <a:latin typeface="Calibri" pitchFamily="34" charset="0"/>
                <a:ea typeface="Calibri" pitchFamily="34" charset="-122"/>
                <a:cs typeface="Calibri" pitchFamily="34" charset="-120"/>
              </a:rPr>
              <a:t>Identity Broker PQC: FastAPI-Backend mit liboqs, Expo-App mit eigenem Crypto-Layer (noble-post-quantum). NIST-Standards von 2024.</a:t>
            </a:r>
            <a:endParaRPr lang="en-US" sz="1350" dirty="0"/>
          </a:p>
        </p:txBody>
      </p:sp>
      <p:sp>
        <p:nvSpPr>
          <p:cNvPr id="4" name="Text 2"/>
          <p:cNvSpPr/>
          <p:nvPr/>
        </p:nvSpPr>
        <p:spPr>
          <a:xfrm>
            <a:off x="1371600" y="1371600"/>
            <a:ext cx="6400800" cy="256032"/>
          </a:xfrm>
          <a:prstGeom prst="rect">
            <a:avLst/>
          </a:prstGeom>
          <a:noFill/>
          <a:ln/>
        </p:spPr>
        <p:txBody>
          <a:bodyPr wrap="square" lIns="0" tIns="0" rIns="0" bIns="0" rtlCol="0" anchor="ctr"/>
          <a:lstStyle/>
          <a:p>
            <a:pPr marL="0" indent="0" algn="ctr">
              <a:buNone/>
            </a:pPr>
            <a:r>
              <a:rPr lang="en-US" sz="1050" b="1" dirty="0">
                <a:solidFill>
                  <a:srgbClr val="0E7A57"/>
                </a:solidFill>
                <a:latin typeface="Calibri" pitchFamily="34" charset="0"/>
                <a:ea typeface="Calibri" pitchFamily="34" charset="-122"/>
                <a:cs typeface="Calibri" pitchFamily="34" charset="-120"/>
              </a:rPr>
              <a:t>Schicht 2: Ende-zu-Ende-Kanal, ML-KEM-768-Session + AES-256-GCM</a:t>
            </a:r>
            <a:endParaRPr lang="en-US" sz="1050" dirty="0"/>
          </a:p>
        </p:txBody>
      </p:sp>
      <p:sp>
        <p:nvSpPr>
          <p:cNvPr id="5" name="Shape 3"/>
          <p:cNvSpPr/>
          <p:nvPr/>
        </p:nvSpPr>
        <p:spPr>
          <a:xfrm>
            <a:off x="1691640" y="1719072"/>
            <a:ext cx="5760720" cy="0"/>
          </a:xfrm>
          <a:prstGeom prst="line">
            <a:avLst/>
          </a:prstGeom>
          <a:noFill/>
          <a:ln w="25400">
            <a:solidFill>
              <a:srgbClr val="0E7A57"/>
            </a:solidFill>
            <a:prstDash val="dash"/>
          </a:ln>
        </p:spPr>
        <p:txBody>
          <a:bodyPr/>
          <a:lstStyle/>
          <a:p>
            <a:endParaRPr lang="en-GB"/>
          </a:p>
        </p:txBody>
      </p:sp>
      <p:sp>
        <p:nvSpPr>
          <p:cNvPr id="6" name="Shape 4"/>
          <p:cNvSpPr/>
          <p:nvPr/>
        </p:nvSpPr>
        <p:spPr>
          <a:xfrm>
            <a:off x="1627632" y="1655064"/>
            <a:ext cx="128016" cy="128016"/>
          </a:xfrm>
          <a:prstGeom prst="ellipse">
            <a:avLst/>
          </a:prstGeom>
          <a:solidFill>
            <a:srgbClr val="0E7A57"/>
          </a:solidFill>
          <a:ln/>
        </p:spPr>
        <p:txBody>
          <a:bodyPr/>
          <a:lstStyle/>
          <a:p>
            <a:endParaRPr lang="en-GB"/>
          </a:p>
        </p:txBody>
      </p:sp>
      <p:sp>
        <p:nvSpPr>
          <p:cNvPr id="7" name="Shape 5"/>
          <p:cNvSpPr/>
          <p:nvPr/>
        </p:nvSpPr>
        <p:spPr>
          <a:xfrm>
            <a:off x="7388352" y="1655064"/>
            <a:ext cx="128016" cy="128016"/>
          </a:xfrm>
          <a:prstGeom prst="ellipse">
            <a:avLst/>
          </a:prstGeom>
          <a:solidFill>
            <a:srgbClr val="0E7A57"/>
          </a:solidFill>
          <a:ln/>
        </p:spPr>
        <p:txBody>
          <a:bodyPr/>
          <a:lstStyle/>
          <a:p>
            <a:endParaRPr lang="en-GB"/>
          </a:p>
        </p:txBody>
      </p:sp>
      <p:sp>
        <p:nvSpPr>
          <p:cNvPr id="8" name="Shape 6"/>
          <p:cNvSpPr/>
          <p:nvPr/>
        </p:nvSpPr>
        <p:spPr>
          <a:xfrm>
            <a:off x="640080" y="1965960"/>
            <a:ext cx="2103120" cy="914400"/>
          </a:xfrm>
          <a:prstGeom prst="roundRect">
            <a:avLst>
              <a:gd name="adj" fmla="val 9000"/>
            </a:avLst>
          </a:prstGeom>
          <a:solidFill>
            <a:srgbClr val="E6EFFB"/>
          </a:solidFill>
          <a:ln/>
          <a:effectLst>
            <a:outerShdw blurRad="101600" dist="38100" dir="2700000" algn="bl" rotWithShape="0">
              <a:srgbClr val="1A2A44">
                <a:alpha val="18000"/>
              </a:srgbClr>
            </a:outerShdw>
          </a:effectLst>
        </p:spPr>
        <p:txBody>
          <a:bodyPr/>
          <a:lstStyle/>
          <a:p>
            <a:endParaRPr lang="en-GB"/>
          </a:p>
        </p:txBody>
      </p:sp>
      <p:sp>
        <p:nvSpPr>
          <p:cNvPr id="9" name="Text 7"/>
          <p:cNvSpPr/>
          <p:nvPr/>
        </p:nvSpPr>
        <p:spPr>
          <a:xfrm>
            <a:off x="640080" y="2093976"/>
            <a:ext cx="2103120" cy="347472"/>
          </a:xfrm>
          <a:prstGeom prst="rect">
            <a:avLst/>
          </a:prstGeom>
          <a:noFill/>
          <a:ln/>
        </p:spPr>
        <p:txBody>
          <a:bodyPr wrap="square" rtlCol="0" anchor="ctr"/>
          <a:lstStyle/>
          <a:p>
            <a:pPr marL="0" indent="0" algn="ctr">
              <a:buNone/>
            </a:pPr>
            <a:r>
              <a:rPr lang="en-US" sz="1400" b="1" dirty="0">
                <a:solidFill>
                  <a:srgbClr val="17263D"/>
                </a:solidFill>
                <a:latin typeface="Calibri" pitchFamily="34" charset="0"/>
                <a:ea typeface="Calibri" pitchFamily="34" charset="-122"/>
                <a:cs typeface="Calibri" pitchFamily="34" charset="-120"/>
              </a:rPr>
              <a:t>iPhone-App</a:t>
            </a:r>
            <a:endParaRPr lang="en-US" sz="1400" dirty="0"/>
          </a:p>
        </p:txBody>
      </p:sp>
      <p:sp>
        <p:nvSpPr>
          <p:cNvPr id="10" name="Text 8"/>
          <p:cNvSpPr/>
          <p:nvPr/>
        </p:nvSpPr>
        <p:spPr>
          <a:xfrm>
            <a:off x="640080" y="2441448"/>
            <a:ext cx="2103120" cy="329184"/>
          </a:xfrm>
          <a:prstGeom prst="rect">
            <a:avLst/>
          </a:prstGeom>
          <a:noFill/>
          <a:ln/>
        </p:spPr>
        <p:txBody>
          <a:bodyPr wrap="square" rtlCol="0" anchor="ctr"/>
          <a:lstStyle/>
          <a:p>
            <a:pPr marL="0" indent="0" algn="ctr">
              <a:buNone/>
            </a:pPr>
            <a:r>
              <a:rPr lang="en-US" sz="950" dirty="0">
                <a:solidFill>
                  <a:srgbClr val="5B6B82"/>
                </a:solidFill>
                <a:latin typeface="Calibri" pitchFamily="34" charset="0"/>
                <a:ea typeface="Calibri" pitchFamily="34" charset="-122"/>
                <a:cs typeface="Calibri" pitchFamily="34" charset="-120"/>
              </a:rPr>
              <a:t>Expo / React Native</a:t>
            </a:r>
            <a:endParaRPr lang="en-US" sz="950" dirty="0"/>
          </a:p>
        </p:txBody>
      </p:sp>
      <p:sp>
        <p:nvSpPr>
          <p:cNvPr id="11" name="Shape 9"/>
          <p:cNvSpPr/>
          <p:nvPr/>
        </p:nvSpPr>
        <p:spPr>
          <a:xfrm>
            <a:off x="3520440" y="1965960"/>
            <a:ext cx="2103120" cy="914400"/>
          </a:xfrm>
          <a:prstGeom prst="roundRect">
            <a:avLst>
              <a:gd name="adj" fmla="val 9000"/>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12" name="Text 10"/>
          <p:cNvSpPr/>
          <p:nvPr/>
        </p:nvSpPr>
        <p:spPr>
          <a:xfrm>
            <a:off x="3520440" y="2093976"/>
            <a:ext cx="2103120" cy="347472"/>
          </a:xfrm>
          <a:prstGeom prst="rect">
            <a:avLst/>
          </a:prstGeom>
          <a:noFill/>
          <a:ln/>
        </p:spPr>
        <p:txBody>
          <a:bodyPr wrap="square" rtlCol="0" anchor="ctr"/>
          <a:lstStyle/>
          <a:p>
            <a:pPr marL="0" indent="0" algn="ctr">
              <a:buNone/>
            </a:pPr>
            <a:r>
              <a:rPr lang="en-US" sz="1400" b="1" dirty="0">
                <a:solidFill>
                  <a:srgbClr val="17263D"/>
                </a:solidFill>
                <a:latin typeface="Calibri" pitchFamily="34" charset="0"/>
                <a:ea typeface="Calibri" pitchFamily="34" charset="-122"/>
                <a:cs typeface="Calibri" pitchFamily="34" charset="-120"/>
              </a:rPr>
              <a:t>nginx</a:t>
            </a:r>
            <a:endParaRPr lang="en-US" sz="1400" dirty="0"/>
          </a:p>
        </p:txBody>
      </p:sp>
      <p:sp>
        <p:nvSpPr>
          <p:cNvPr id="13" name="Text 11"/>
          <p:cNvSpPr/>
          <p:nvPr/>
        </p:nvSpPr>
        <p:spPr>
          <a:xfrm>
            <a:off x="3520440" y="2441448"/>
            <a:ext cx="2103120" cy="329184"/>
          </a:xfrm>
          <a:prstGeom prst="rect">
            <a:avLst/>
          </a:prstGeom>
          <a:noFill/>
          <a:ln/>
        </p:spPr>
        <p:txBody>
          <a:bodyPr wrap="square" rtlCol="0" anchor="ctr"/>
          <a:lstStyle/>
          <a:p>
            <a:pPr marL="0" indent="0" algn="ctr">
              <a:buNone/>
            </a:pPr>
            <a:r>
              <a:rPr lang="en-US" sz="950" dirty="0">
                <a:solidFill>
                  <a:srgbClr val="5B6B82"/>
                </a:solidFill>
                <a:latin typeface="Calibri" pitchFamily="34" charset="0"/>
                <a:ea typeface="Calibri" pitchFamily="34" charset="-122"/>
                <a:cs typeface="Calibri" pitchFamily="34" charset="-120"/>
              </a:rPr>
              <a:t>oqs-provider, TLS-Terminierung</a:t>
            </a:r>
            <a:endParaRPr lang="en-US" sz="950" dirty="0"/>
          </a:p>
        </p:txBody>
      </p:sp>
      <p:sp>
        <p:nvSpPr>
          <p:cNvPr id="14" name="Shape 12"/>
          <p:cNvSpPr/>
          <p:nvPr/>
        </p:nvSpPr>
        <p:spPr>
          <a:xfrm>
            <a:off x="6400800" y="1965960"/>
            <a:ext cx="2103120" cy="914400"/>
          </a:xfrm>
          <a:prstGeom prst="roundRect">
            <a:avLst>
              <a:gd name="adj" fmla="val 9000"/>
            </a:avLst>
          </a:prstGeom>
          <a:solidFill>
            <a:srgbClr val="E6EFFB"/>
          </a:solidFill>
          <a:ln/>
          <a:effectLst>
            <a:outerShdw blurRad="101600" dist="38100" dir="2700000" algn="bl" rotWithShape="0">
              <a:srgbClr val="1A2A44">
                <a:alpha val="18000"/>
              </a:srgbClr>
            </a:outerShdw>
          </a:effectLst>
        </p:spPr>
        <p:txBody>
          <a:bodyPr/>
          <a:lstStyle/>
          <a:p>
            <a:endParaRPr lang="en-GB"/>
          </a:p>
        </p:txBody>
      </p:sp>
      <p:sp>
        <p:nvSpPr>
          <p:cNvPr id="15" name="Text 13"/>
          <p:cNvSpPr/>
          <p:nvPr/>
        </p:nvSpPr>
        <p:spPr>
          <a:xfrm>
            <a:off x="6400800" y="2093976"/>
            <a:ext cx="2103120" cy="347472"/>
          </a:xfrm>
          <a:prstGeom prst="rect">
            <a:avLst/>
          </a:prstGeom>
          <a:noFill/>
          <a:ln/>
        </p:spPr>
        <p:txBody>
          <a:bodyPr wrap="square" rtlCol="0" anchor="ctr"/>
          <a:lstStyle/>
          <a:p>
            <a:pPr marL="0" indent="0" algn="ctr">
              <a:buNone/>
            </a:pPr>
            <a:r>
              <a:rPr lang="en-US" sz="1400" b="1" dirty="0">
                <a:solidFill>
                  <a:srgbClr val="17263D"/>
                </a:solidFill>
                <a:latin typeface="Calibri" pitchFamily="34" charset="0"/>
                <a:ea typeface="Calibri" pitchFamily="34" charset="-122"/>
                <a:cs typeface="Calibri" pitchFamily="34" charset="-120"/>
              </a:rPr>
              <a:t>Auth-Service</a:t>
            </a:r>
            <a:endParaRPr lang="en-US" sz="1400" dirty="0"/>
          </a:p>
        </p:txBody>
      </p:sp>
      <p:sp>
        <p:nvSpPr>
          <p:cNvPr id="16" name="Text 14"/>
          <p:cNvSpPr/>
          <p:nvPr/>
        </p:nvSpPr>
        <p:spPr>
          <a:xfrm>
            <a:off x="6400800" y="2441448"/>
            <a:ext cx="2103120" cy="329184"/>
          </a:xfrm>
          <a:prstGeom prst="rect">
            <a:avLst/>
          </a:prstGeom>
          <a:noFill/>
          <a:ln/>
        </p:spPr>
        <p:txBody>
          <a:bodyPr wrap="square" rtlCol="0" anchor="ctr"/>
          <a:lstStyle/>
          <a:p>
            <a:pPr marL="0" indent="0" algn="ctr">
              <a:buNone/>
            </a:pPr>
            <a:r>
              <a:rPr lang="en-US" sz="950" dirty="0">
                <a:solidFill>
                  <a:srgbClr val="5B6B82"/>
                </a:solidFill>
                <a:latin typeface="Calibri" pitchFamily="34" charset="0"/>
                <a:ea typeface="Calibri" pitchFamily="34" charset="-122"/>
                <a:cs typeface="Calibri" pitchFamily="34" charset="-120"/>
              </a:rPr>
              <a:t>Python / FastAPI, liboqs</a:t>
            </a:r>
            <a:endParaRPr lang="en-US" sz="950" dirty="0"/>
          </a:p>
        </p:txBody>
      </p:sp>
      <p:sp>
        <p:nvSpPr>
          <p:cNvPr id="17" name="Shape 15"/>
          <p:cNvSpPr/>
          <p:nvPr/>
        </p:nvSpPr>
        <p:spPr>
          <a:xfrm>
            <a:off x="2743200" y="2423160"/>
            <a:ext cx="777240" cy="0"/>
          </a:xfrm>
          <a:prstGeom prst="line">
            <a:avLst/>
          </a:prstGeom>
          <a:noFill/>
          <a:ln w="38100">
            <a:solidFill>
              <a:srgbClr val="0A1F3C"/>
            </a:solidFill>
            <a:prstDash val="solid"/>
            <a:tailEnd type="triangle"/>
          </a:ln>
        </p:spPr>
        <p:txBody>
          <a:bodyPr/>
          <a:lstStyle/>
          <a:p>
            <a:endParaRPr lang="en-GB"/>
          </a:p>
        </p:txBody>
      </p:sp>
      <p:sp>
        <p:nvSpPr>
          <p:cNvPr id="18" name="Text 16"/>
          <p:cNvSpPr/>
          <p:nvPr/>
        </p:nvSpPr>
        <p:spPr>
          <a:xfrm>
            <a:off x="2212848" y="2926080"/>
            <a:ext cx="1828800" cy="384048"/>
          </a:xfrm>
          <a:prstGeom prst="rect">
            <a:avLst/>
          </a:prstGeom>
          <a:noFill/>
          <a:ln/>
        </p:spPr>
        <p:txBody>
          <a:bodyPr wrap="square" lIns="0" tIns="0" rIns="0" bIns="0" rtlCol="0" anchor="ctr"/>
          <a:lstStyle/>
          <a:p>
            <a:pPr marL="0" indent="0" algn="ctr">
              <a:buNone/>
            </a:pPr>
            <a:r>
              <a:rPr lang="en-US" sz="800" b="1" dirty="0">
                <a:solidFill>
                  <a:srgbClr val="0A1F3C"/>
                </a:solidFill>
                <a:latin typeface="Courier New" pitchFamily="34" charset="0"/>
                <a:ea typeface="Courier New" pitchFamily="34" charset="-122"/>
                <a:cs typeface="Courier New" pitchFamily="34" charset="-120"/>
              </a:rPr>
              <a:t>Schicht 1: TLS 1.3</a:t>
            </a:r>
            <a:endParaRPr lang="en-US" sz="800" dirty="0"/>
          </a:p>
          <a:p>
            <a:pPr marL="0" indent="0" algn="ctr">
              <a:buNone/>
            </a:pPr>
            <a:r>
              <a:rPr lang="en-US" sz="800" b="1" dirty="0">
                <a:solidFill>
                  <a:srgbClr val="0A1F3C"/>
                </a:solidFill>
                <a:latin typeface="Courier New" pitchFamily="34" charset="0"/>
                <a:ea typeface="Courier New" pitchFamily="34" charset="-122"/>
                <a:cs typeface="Courier New" pitchFamily="34" charset="-120"/>
              </a:rPr>
              <a:t>X25519MLKEM768</a:t>
            </a:r>
            <a:endParaRPr lang="en-US" sz="800" dirty="0"/>
          </a:p>
        </p:txBody>
      </p:sp>
      <p:sp>
        <p:nvSpPr>
          <p:cNvPr id="19" name="Shape 17"/>
          <p:cNvSpPr/>
          <p:nvPr/>
        </p:nvSpPr>
        <p:spPr>
          <a:xfrm>
            <a:off x="5623560" y="2423160"/>
            <a:ext cx="777240" cy="0"/>
          </a:xfrm>
          <a:prstGeom prst="line">
            <a:avLst/>
          </a:prstGeom>
          <a:noFill/>
          <a:ln w="31750">
            <a:solidFill>
              <a:srgbClr val="8FA3C2"/>
            </a:solidFill>
            <a:prstDash val="solid"/>
            <a:tailEnd type="triangle"/>
          </a:ln>
        </p:spPr>
        <p:txBody>
          <a:bodyPr/>
          <a:lstStyle/>
          <a:p>
            <a:endParaRPr lang="en-GB"/>
          </a:p>
        </p:txBody>
      </p:sp>
      <p:sp>
        <p:nvSpPr>
          <p:cNvPr id="20" name="Text 18"/>
          <p:cNvSpPr/>
          <p:nvPr/>
        </p:nvSpPr>
        <p:spPr>
          <a:xfrm>
            <a:off x="5349240" y="2935224"/>
            <a:ext cx="1325880" cy="237744"/>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proxy, intern</a:t>
            </a:r>
            <a:endParaRPr lang="en-US" sz="850" dirty="0"/>
          </a:p>
        </p:txBody>
      </p:sp>
      <p:sp>
        <p:nvSpPr>
          <p:cNvPr id="21" name="Shape 19"/>
          <p:cNvSpPr/>
          <p:nvPr/>
        </p:nvSpPr>
        <p:spPr>
          <a:xfrm>
            <a:off x="7452360" y="2880360"/>
            <a:ext cx="0" cy="201168"/>
          </a:xfrm>
          <a:prstGeom prst="line">
            <a:avLst/>
          </a:prstGeom>
          <a:noFill/>
          <a:ln w="22225">
            <a:solidFill>
              <a:srgbClr val="8FA3C2"/>
            </a:solidFill>
            <a:prstDash val="solid"/>
          </a:ln>
        </p:spPr>
        <p:txBody>
          <a:bodyPr/>
          <a:lstStyle/>
          <a:p>
            <a:endParaRPr lang="en-GB"/>
          </a:p>
        </p:txBody>
      </p:sp>
      <p:sp>
        <p:nvSpPr>
          <p:cNvPr id="22" name="Shape 20"/>
          <p:cNvSpPr/>
          <p:nvPr/>
        </p:nvSpPr>
        <p:spPr>
          <a:xfrm>
            <a:off x="6400800" y="3081528"/>
            <a:ext cx="2103120" cy="365760"/>
          </a:xfrm>
          <a:prstGeom prst="roundRect">
            <a:avLst>
              <a:gd name="adj" fmla="val 15000"/>
            </a:avLst>
          </a:prstGeom>
          <a:solidFill>
            <a:srgbClr val="0A1F3C"/>
          </a:solidFill>
          <a:ln/>
        </p:spPr>
        <p:txBody>
          <a:bodyPr/>
          <a:lstStyle/>
          <a:p>
            <a:endParaRPr lang="en-GB"/>
          </a:p>
        </p:txBody>
      </p:sp>
      <p:sp>
        <p:nvSpPr>
          <p:cNvPr id="23" name="Text 21"/>
          <p:cNvSpPr/>
          <p:nvPr/>
        </p:nvSpPr>
        <p:spPr>
          <a:xfrm>
            <a:off x="6400800" y="3081528"/>
            <a:ext cx="2103120" cy="365760"/>
          </a:xfrm>
          <a:prstGeom prst="rect">
            <a:avLst/>
          </a:prstGeom>
          <a:noFill/>
          <a:ln/>
        </p:spPr>
        <p:txBody>
          <a:bodyPr wrap="square" lIns="0" tIns="0" rIns="0" bIns="0" rtlCol="0" anchor="ctr"/>
          <a:lstStyle/>
          <a:p>
            <a:pPr marL="0" indent="0" algn="ctr">
              <a:buNone/>
            </a:pPr>
            <a:r>
              <a:rPr lang="en-US" sz="850" dirty="0">
                <a:solidFill>
                  <a:srgbClr val="C9DCF5"/>
                </a:solidFill>
                <a:latin typeface="Calibri" pitchFamily="34" charset="0"/>
                <a:ea typeface="Calibri" pitchFamily="34" charset="-122"/>
                <a:cs typeface="Calibri" pitchFamily="34" charset="-120"/>
              </a:rPr>
              <a:t>Redis: Sessions, Nonces (TTL)</a:t>
            </a:r>
            <a:endParaRPr lang="en-US" sz="850" dirty="0"/>
          </a:p>
        </p:txBody>
      </p:sp>
      <p:sp>
        <p:nvSpPr>
          <p:cNvPr id="24" name="Shape 22"/>
          <p:cNvSpPr/>
          <p:nvPr/>
        </p:nvSpPr>
        <p:spPr>
          <a:xfrm>
            <a:off x="6400800" y="3520440"/>
            <a:ext cx="2103120" cy="365760"/>
          </a:xfrm>
          <a:prstGeom prst="roundRect">
            <a:avLst>
              <a:gd name="adj" fmla="val 15000"/>
            </a:avLst>
          </a:prstGeom>
          <a:solidFill>
            <a:srgbClr val="0A1F3C"/>
          </a:solidFill>
          <a:ln/>
        </p:spPr>
        <p:txBody>
          <a:bodyPr/>
          <a:lstStyle/>
          <a:p>
            <a:endParaRPr lang="en-GB"/>
          </a:p>
        </p:txBody>
      </p:sp>
      <p:sp>
        <p:nvSpPr>
          <p:cNvPr id="25" name="Text 23"/>
          <p:cNvSpPr/>
          <p:nvPr/>
        </p:nvSpPr>
        <p:spPr>
          <a:xfrm>
            <a:off x="6400800" y="3520440"/>
            <a:ext cx="2103120" cy="365760"/>
          </a:xfrm>
          <a:prstGeom prst="rect">
            <a:avLst/>
          </a:prstGeom>
          <a:noFill/>
          <a:ln/>
        </p:spPr>
        <p:txBody>
          <a:bodyPr wrap="square" lIns="0" tIns="0" rIns="0" bIns="0" rtlCol="0" anchor="ctr"/>
          <a:lstStyle/>
          <a:p>
            <a:pPr marL="0" indent="0" algn="ctr">
              <a:buNone/>
            </a:pPr>
            <a:r>
              <a:rPr lang="en-US" sz="850" dirty="0">
                <a:solidFill>
                  <a:srgbClr val="C9DCF5"/>
                </a:solidFill>
                <a:latin typeface="Calibri" pitchFamily="34" charset="0"/>
                <a:ea typeface="Calibri" pitchFamily="34" charset="-122"/>
                <a:cs typeface="Calibri" pitchFamily="34" charset="-120"/>
              </a:rPr>
              <a:t>SQLite: Users, Federation-Identities</a:t>
            </a:r>
            <a:endParaRPr lang="en-US" sz="850" dirty="0"/>
          </a:p>
        </p:txBody>
      </p:sp>
      <p:sp>
        <p:nvSpPr>
          <p:cNvPr id="26" name="Text 24"/>
          <p:cNvSpPr/>
          <p:nvPr/>
        </p:nvSpPr>
        <p:spPr>
          <a:xfrm>
            <a:off x="640080" y="3401568"/>
            <a:ext cx="5394960" cy="640080"/>
          </a:xfrm>
          <a:prstGeom prst="rect">
            <a:avLst/>
          </a:prstGeom>
          <a:noFill/>
          <a:ln/>
        </p:spPr>
        <p:txBody>
          <a:bodyPr wrap="square" rtlCol="0" anchor="t"/>
          <a:lstStyle/>
          <a:p>
            <a:pPr marL="0" indent="0">
              <a:lnSpc>
                <a:spcPct val="110000"/>
              </a:lnSpc>
              <a:buNone/>
            </a:pPr>
            <a:r>
              <a:rPr lang="en-US" sz="1100" dirty="0">
                <a:solidFill>
                  <a:srgbClr val="17263D"/>
                </a:solidFill>
                <a:latin typeface="Calibri" pitchFamily="34" charset="0"/>
                <a:ea typeface="Calibri" pitchFamily="34" charset="-122"/>
                <a:cs typeface="Calibri" pitchFamily="34" charset="-120"/>
              </a:rPr>
              <a:t>Schicht 1 endet am Gateway. Schicht 2 </a:t>
            </a:r>
            <a:r>
              <a:rPr lang="en-US" sz="1100" dirty="0" err="1">
                <a:solidFill>
                  <a:srgbClr val="17263D"/>
                </a:solidFill>
                <a:latin typeface="Calibri" pitchFamily="34" charset="0"/>
                <a:ea typeface="Calibri" pitchFamily="34" charset="-122"/>
                <a:cs typeface="Calibri" pitchFamily="34" charset="-120"/>
              </a:rPr>
              <a:t>läuft</a:t>
            </a:r>
            <a:r>
              <a:rPr lang="en-US" sz="1100" dirty="0">
                <a:solidFill>
                  <a:srgbClr val="17263D"/>
                </a:solidFill>
                <a:latin typeface="Calibri" pitchFamily="34" charset="0"/>
                <a:ea typeface="Calibri" pitchFamily="34" charset="-122"/>
                <a:cs typeface="Calibri" pitchFamily="34" charset="-120"/>
              </a:rPr>
              <a:t> von der App bis in den Service,</a:t>
            </a:r>
            <a:endParaRPr lang="en-US" sz="1100" dirty="0"/>
          </a:p>
          <a:p>
            <a:pPr marL="0" indent="0">
              <a:lnSpc>
                <a:spcPct val="110000"/>
              </a:lnSpc>
              <a:buNone/>
            </a:pPr>
            <a:r>
              <a:rPr lang="en-US" sz="1100" b="1" dirty="0" err="1">
                <a:solidFill>
                  <a:srgbClr val="17263D"/>
                </a:solidFill>
                <a:latin typeface="Calibri" pitchFamily="34" charset="0"/>
                <a:ea typeface="Calibri" pitchFamily="34" charset="-122"/>
                <a:cs typeface="Calibri" pitchFamily="34" charset="-120"/>
              </a:rPr>
              <a:t>unabhängig</a:t>
            </a:r>
            <a:r>
              <a:rPr lang="en-US" sz="1100" b="1" dirty="0">
                <a:solidFill>
                  <a:srgbClr val="17263D"/>
                </a:solidFill>
                <a:latin typeface="Calibri" pitchFamily="34" charset="0"/>
                <a:ea typeface="Calibri" pitchFamily="34" charset="-122"/>
                <a:cs typeface="Calibri" pitchFamily="34" charset="-120"/>
              </a:rPr>
              <a:t> davon, ob der OS-TLS-Stack schon PQ kann.</a:t>
            </a:r>
            <a:endParaRPr lang="en-US" sz="1100" dirty="0"/>
          </a:p>
        </p:txBody>
      </p:sp>
      <p:sp>
        <p:nvSpPr>
          <p:cNvPr id="27" name="Shape 25"/>
          <p:cNvSpPr/>
          <p:nvPr/>
        </p:nvSpPr>
        <p:spPr>
          <a:xfrm>
            <a:off x="640080" y="4114800"/>
            <a:ext cx="2468880" cy="777240"/>
          </a:xfrm>
          <a:prstGeom prst="roundRect">
            <a:avLst>
              <a:gd name="adj" fmla="val 10588"/>
            </a:avLst>
          </a:prstGeom>
          <a:solidFill>
            <a:srgbClr val="0A1F3C"/>
          </a:solidFill>
          <a:ln/>
        </p:spPr>
        <p:txBody>
          <a:bodyPr/>
          <a:lstStyle/>
          <a:p>
            <a:endParaRPr lang="en-GB"/>
          </a:p>
        </p:txBody>
      </p:sp>
      <p:sp>
        <p:nvSpPr>
          <p:cNvPr id="28" name="Text 26"/>
          <p:cNvSpPr/>
          <p:nvPr/>
        </p:nvSpPr>
        <p:spPr>
          <a:xfrm>
            <a:off x="640080" y="4197096"/>
            <a:ext cx="2468880" cy="292608"/>
          </a:xfrm>
          <a:prstGeom prst="rect">
            <a:avLst/>
          </a:prstGeom>
          <a:noFill/>
          <a:ln/>
        </p:spPr>
        <p:txBody>
          <a:bodyPr wrap="square" rtlCol="0" anchor="ctr"/>
          <a:lstStyle/>
          <a:p>
            <a:pPr marL="0" indent="0" algn="ctr">
              <a:buNone/>
            </a:pPr>
            <a:r>
              <a:rPr lang="en-US" sz="1300" b="1" dirty="0">
                <a:solidFill>
                  <a:srgbClr val="21C08B"/>
                </a:solidFill>
                <a:latin typeface="Courier New" pitchFamily="34" charset="0"/>
                <a:ea typeface="Courier New" pitchFamily="34" charset="-122"/>
                <a:cs typeface="Courier New" pitchFamily="34" charset="-120"/>
              </a:rPr>
              <a:t>ML-KEM-768</a:t>
            </a:r>
            <a:endParaRPr lang="en-US" sz="1300" dirty="0"/>
          </a:p>
        </p:txBody>
      </p:sp>
      <p:sp>
        <p:nvSpPr>
          <p:cNvPr id="29" name="Text 27"/>
          <p:cNvSpPr/>
          <p:nvPr/>
        </p:nvSpPr>
        <p:spPr>
          <a:xfrm>
            <a:off x="640080" y="4507992"/>
            <a:ext cx="2468880" cy="274320"/>
          </a:xfrm>
          <a:prstGeom prst="rect">
            <a:avLst/>
          </a:prstGeom>
          <a:noFill/>
          <a:ln/>
        </p:spPr>
        <p:txBody>
          <a:bodyPr wrap="square" rtlCol="0" anchor="ctr"/>
          <a:lstStyle/>
          <a:p>
            <a:pPr marL="0" indent="0" algn="ctr">
              <a:buNone/>
            </a:pPr>
            <a:r>
              <a:rPr lang="en-US" sz="1000" dirty="0" err="1">
                <a:solidFill>
                  <a:srgbClr val="C9DCF5"/>
                </a:solidFill>
                <a:latin typeface="Calibri" pitchFamily="34" charset="0"/>
                <a:ea typeface="Calibri" pitchFamily="34" charset="-122"/>
                <a:cs typeface="Calibri" pitchFamily="34" charset="-120"/>
              </a:rPr>
              <a:t>Schlüsseltausch</a:t>
            </a:r>
            <a:r>
              <a:rPr lang="en-US" sz="1000" dirty="0">
                <a:solidFill>
                  <a:srgbClr val="C9DCF5"/>
                </a:solidFill>
                <a:latin typeface="Calibri" pitchFamily="34" charset="0"/>
                <a:ea typeface="Calibri" pitchFamily="34" charset="-122"/>
                <a:cs typeface="Calibri" pitchFamily="34" charset="-120"/>
              </a:rPr>
              <a:t> (FIPS 203)</a:t>
            </a:r>
            <a:endParaRPr lang="en-US" sz="1000" dirty="0"/>
          </a:p>
        </p:txBody>
      </p:sp>
      <p:sp>
        <p:nvSpPr>
          <p:cNvPr id="30" name="Shape 28"/>
          <p:cNvSpPr/>
          <p:nvPr/>
        </p:nvSpPr>
        <p:spPr>
          <a:xfrm>
            <a:off x="3337560" y="4114800"/>
            <a:ext cx="2468880" cy="777240"/>
          </a:xfrm>
          <a:prstGeom prst="roundRect">
            <a:avLst>
              <a:gd name="adj" fmla="val 10588"/>
            </a:avLst>
          </a:prstGeom>
          <a:solidFill>
            <a:srgbClr val="0A1F3C"/>
          </a:solidFill>
          <a:ln/>
        </p:spPr>
        <p:txBody>
          <a:bodyPr/>
          <a:lstStyle/>
          <a:p>
            <a:endParaRPr lang="en-GB"/>
          </a:p>
        </p:txBody>
      </p:sp>
      <p:sp>
        <p:nvSpPr>
          <p:cNvPr id="31" name="Text 29"/>
          <p:cNvSpPr/>
          <p:nvPr/>
        </p:nvSpPr>
        <p:spPr>
          <a:xfrm>
            <a:off x="3337560" y="4197096"/>
            <a:ext cx="2468880" cy="292608"/>
          </a:xfrm>
          <a:prstGeom prst="rect">
            <a:avLst/>
          </a:prstGeom>
          <a:noFill/>
          <a:ln/>
        </p:spPr>
        <p:txBody>
          <a:bodyPr wrap="square" rtlCol="0" anchor="ctr"/>
          <a:lstStyle/>
          <a:p>
            <a:pPr marL="0" indent="0" algn="ctr">
              <a:buNone/>
            </a:pPr>
            <a:r>
              <a:rPr lang="en-US" sz="1300" b="1" dirty="0">
                <a:solidFill>
                  <a:srgbClr val="21C08B"/>
                </a:solidFill>
                <a:latin typeface="Courier New" pitchFamily="34" charset="0"/>
                <a:ea typeface="Courier New" pitchFamily="34" charset="-122"/>
                <a:cs typeface="Courier New" pitchFamily="34" charset="-120"/>
              </a:rPr>
              <a:t>ML-DSA-65</a:t>
            </a:r>
            <a:endParaRPr lang="en-US" sz="1300" dirty="0"/>
          </a:p>
        </p:txBody>
      </p:sp>
      <p:sp>
        <p:nvSpPr>
          <p:cNvPr id="32" name="Text 30"/>
          <p:cNvSpPr/>
          <p:nvPr/>
        </p:nvSpPr>
        <p:spPr>
          <a:xfrm>
            <a:off x="3337560" y="4507992"/>
            <a:ext cx="2468880" cy="274320"/>
          </a:xfrm>
          <a:prstGeom prst="rect">
            <a:avLst/>
          </a:prstGeom>
          <a:noFill/>
          <a:ln/>
        </p:spPr>
        <p:txBody>
          <a:bodyPr wrap="square" rtlCol="0" anchor="ctr"/>
          <a:lstStyle/>
          <a:p>
            <a:pPr marL="0" indent="0" algn="ctr">
              <a:buNone/>
            </a:pPr>
            <a:r>
              <a:rPr lang="en-US" sz="1000" dirty="0">
                <a:solidFill>
                  <a:srgbClr val="C9DCF5"/>
                </a:solidFill>
                <a:latin typeface="Calibri" pitchFamily="34" charset="0"/>
                <a:ea typeface="Calibri" pitchFamily="34" charset="-122"/>
                <a:cs typeface="Calibri" pitchFamily="34" charset="-120"/>
              </a:rPr>
              <a:t>Token-Signaturen (FIPS 204)</a:t>
            </a:r>
            <a:endParaRPr lang="en-US" sz="1000" dirty="0"/>
          </a:p>
        </p:txBody>
      </p:sp>
      <p:sp>
        <p:nvSpPr>
          <p:cNvPr id="33" name="Shape 31"/>
          <p:cNvSpPr/>
          <p:nvPr/>
        </p:nvSpPr>
        <p:spPr>
          <a:xfrm>
            <a:off x="6035040" y="4114800"/>
            <a:ext cx="2468880" cy="777240"/>
          </a:xfrm>
          <a:prstGeom prst="roundRect">
            <a:avLst>
              <a:gd name="adj" fmla="val 10588"/>
            </a:avLst>
          </a:prstGeom>
          <a:solidFill>
            <a:srgbClr val="0A1F3C"/>
          </a:solidFill>
          <a:ln/>
        </p:spPr>
        <p:txBody>
          <a:bodyPr/>
          <a:lstStyle/>
          <a:p>
            <a:endParaRPr lang="en-GB"/>
          </a:p>
        </p:txBody>
      </p:sp>
      <p:sp>
        <p:nvSpPr>
          <p:cNvPr id="34" name="Text 32"/>
          <p:cNvSpPr/>
          <p:nvPr/>
        </p:nvSpPr>
        <p:spPr>
          <a:xfrm>
            <a:off x="6035040" y="4197096"/>
            <a:ext cx="2468880" cy="292608"/>
          </a:xfrm>
          <a:prstGeom prst="rect">
            <a:avLst/>
          </a:prstGeom>
          <a:noFill/>
          <a:ln/>
        </p:spPr>
        <p:txBody>
          <a:bodyPr wrap="square" rtlCol="0" anchor="ctr"/>
          <a:lstStyle/>
          <a:p>
            <a:pPr marL="0" indent="0" algn="ctr">
              <a:buNone/>
            </a:pPr>
            <a:r>
              <a:rPr lang="en-US" sz="1300" b="1" dirty="0">
                <a:solidFill>
                  <a:srgbClr val="21C08B"/>
                </a:solidFill>
                <a:latin typeface="Courier New" pitchFamily="34" charset="0"/>
                <a:ea typeface="Courier New" pitchFamily="34" charset="-122"/>
                <a:cs typeface="Courier New" pitchFamily="34" charset="-120"/>
              </a:rPr>
              <a:t>AES-256-GCM</a:t>
            </a:r>
            <a:endParaRPr lang="en-US" sz="1300" dirty="0"/>
          </a:p>
        </p:txBody>
      </p:sp>
      <p:sp>
        <p:nvSpPr>
          <p:cNvPr id="35" name="Text 33"/>
          <p:cNvSpPr/>
          <p:nvPr/>
        </p:nvSpPr>
        <p:spPr>
          <a:xfrm>
            <a:off x="6035040" y="4507992"/>
            <a:ext cx="2468880" cy="274320"/>
          </a:xfrm>
          <a:prstGeom prst="rect">
            <a:avLst/>
          </a:prstGeom>
          <a:noFill/>
          <a:ln/>
        </p:spPr>
        <p:txBody>
          <a:bodyPr wrap="square" rtlCol="0" anchor="ctr"/>
          <a:lstStyle/>
          <a:p>
            <a:pPr marL="0" indent="0" algn="ctr">
              <a:buNone/>
            </a:pPr>
            <a:r>
              <a:rPr lang="en-US" sz="1000" dirty="0">
                <a:solidFill>
                  <a:srgbClr val="C9DCF5"/>
                </a:solidFill>
                <a:latin typeface="Calibri" pitchFamily="34" charset="0"/>
                <a:ea typeface="Calibri" pitchFamily="34" charset="-122"/>
                <a:cs typeface="Calibri" pitchFamily="34" charset="-120"/>
              </a:rPr>
              <a:t>AEAD-Datenkanal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marL="0" indent="0">
              <a:buNone/>
            </a:pPr>
            <a:r>
              <a:rPr lang="en-US" sz="2900" b="1" dirty="0">
                <a:solidFill>
                  <a:srgbClr val="17263D"/>
                </a:solidFill>
                <a:latin typeface="Cambria" pitchFamily="34" charset="0"/>
                <a:ea typeface="Cambria" pitchFamily="34" charset="-122"/>
                <a:cs typeface="Cambria" pitchFamily="34" charset="-120"/>
              </a:rPr>
              <a:t>Zwei Schutzschichten, eine quantensichere Identitaet</a:t>
            </a:r>
            <a:endParaRPr lang="en-US" sz="2900" dirty="0"/>
          </a:p>
        </p:txBody>
      </p:sp>
      <p:sp>
        <p:nvSpPr>
          <p:cNvPr id="3" name="Shape 1"/>
          <p:cNvSpPr/>
          <p:nvPr/>
        </p:nvSpPr>
        <p:spPr>
          <a:xfrm>
            <a:off x="548640" y="1097280"/>
            <a:ext cx="8046720" cy="1024128"/>
          </a:xfrm>
          <a:prstGeom prst="roundRect">
            <a:avLst>
              <a:gd name="adj" fmla="val 8036"/>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4" name="Shape 2"/>
          <p:cNvSpPr/>
          <p:nvPr/>
        </p:nvSpPr>
        <p:spPr>
          <a:xfrm>
            <a:off x="713232" y="1371600"/>
            <a:ext cx="1417320" cy="457200"/>
          </a:xfrm>
          <a:prstGeom prst="roundRect">
            <a:avLst>
              <a:gd name="adj" fmla="val 16000"/>
            </a:avLst>
          </a:prstGeom>
          <a:solidFill>
            <a:srgbClr val="0A1F3C"/>
          </a:solidFill>
          <a:ln/>
        </p:spPr>
        <p:txBody>
          <a:bodyPr/>
          <a:lstStyle/>
          <a:p>
            <a:endParaRPr lang="en-GB"/>
          </a:p>
        </p:txBody>
      </p:sp>
      <p:sp>
        <p:nvSpPr>
          <p:cNvPr id="5" name="Text 3"/>
          <p:cNvSpPr/>
          <p:nvPr/>
        </p:nvSpPr>
        <p:spPr>
          <a:xfrm>
            <a:off x="713232" y="1371600"/>
            <a:ext cx="14173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Schicht 1</a:t>
            </a:r>
            <a:endParaRPr lang="en-US" sz="1200" dirty="0"/>
          </a:p>
        </p:txBody>
      </p:sp>
      <p:sp>
        <p:nvSpPr>
          <p:cNvPr id="6" name="Text 4"/>
          <p:cNvSpPr/>
          <p:nvPr/>
        </p:nvSpPr>
        <p:spPr>
          <a:xfrm>
            <a:off x="2331720" y="1207008"/>
            <a:ext cx="4846320" cy="320040"/>
          </a:xfrm>
          <a:prstGeom prst="rect">
            <a:avLst/>
          </a:prstGeom>
          <a:noFill/>
          <a:ln/>
        </p:spPr>
        <p:txBody>
          <a:bodyPr wrap="square" lIns="0" tIns="0" rIns="0" bIns="0" rtlCol="0" anchor="ctr"/>
          <a:lstStyle/>
          <a:p>
            <a:pPr marL="0" indent="0">
              <a:buNone/>
            </a:pPr>
            <a:r>
              <a:rPr lang="en-US" sz="1450" b="1" dirty="0">
                <a:solidFill>
                  <a:srgbClr val="17263D"/>
                </a:solidFill>
                <a:latin typeface="Calibri" pitchFamily="34" charset="0"/>
                <a:ea typeface="Calibri" pitchFamily="34" charset="-122"/>
                <a:cs typeface="Calibri" pitchFamily="34" charset="-120"/>
              </a:rPr>
              <a:t>Transport: Post-Quantum-TLS</a:t>
            </a:r>
            <a:endParaRPr lang="en-US" sz="1450" dirty="0"/>
          </a:p>
        </p:txBody>
      </p:sp>
      <p:sp>
        <p:nvSpPr>
          <p:cNvPr id="7" name="Text 5"/>
          <p:cNvSpPr/>
          <p:nvPr/>
        </p:nvSpPr>
        <p:spPr>
          <a:xfrm>
            <a:off x="2331720" y="1527048"/>
            <a:ext cx="4846320" cy="54864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TLS 1.3 mit </a:t>
            </a:r>
            <a:r>
              <a:rPr lang="en-US" sz="1150" dirty="0" err="1">
                <a:solidFill>
                  <a:srgbClr val="5B6B82"/>
                </a:solidFill>
                <a:latin typeface="Calibri" pitchFamily="34" charset="0"/>
                <a:ea typeface="Calibri" pitchFamily="34" charset="-122"/>
                <a:cs typeface="Calibri" pitchFamily="34" charset="-120"/>
              </a:rPr>
              <a:t>hybridem</a:t>
            </a:r>
            <a:r>
              <a:rPr lang="en-US" sz="1150" dirty="0">
                <a:solidFill>
                  <a:srgbClr val="5B6B82"/>
                </a:solidFill>
                <a:latin typeface="Calibri" pitchFamily="34" charset="0"/>
                <a:ea typeface="Calibri" pitchFamily="34" charset="-122"/>
                <a:cs typeface="Calibri" pitchFamily="34" charset="-120"/>
              </a:rPr>
              <a:t> </a:t>
            </a:r>
            <a:r>
              <a:rPr lang="en-US" sz="1150" dirty="0" err="1">
                <a:solidFill>
                  <a:srgbClr val="5B6B82"/>
                </a:solidFill>
                <a:latin typeface="Calibri" pitchFamily="34" charset="0"/>
                <a:ea typeface="Calibri" pitchFamily="34" charset="-122"/>
                <a:cs typeface="Calibri" pitchFamily="34" charset="-120"/>
              </a:rPr>
              <a:t>Schlüsseltausch</a:t>
            </a:r>
            <a:r>
              <a:rPr lang="en-US" sz="1150" dirty="0">
                <a:solidFill>
                  <a:srgbClr val="5B6B82"/>
                </a:solidFill>
                <a:latin typeface="Calibri" pitchFamily="34" charset="0"/>
                <a:ea typeface="Calibri" pitchFamily="34" charset="-122"/>
                <a:cs typeface="Calibri" pitchFamily="34" charset="-120"/>
              </a:rPr>
              <a:t> (klassisch plus PQ). Browser koennen das seit 2024, iOS seit Version 26.</a:t>
            </a:r>
            <a:endParaRPr lang="en-US" sz="1150" dirty="0"/>
          </a:p>
        </p:txBody>
      </p:sp>
      <p:sp>
        <p:nvSpPr>
          <p:cNvPr id="8" name="Text 6"/>
          <p:cNvSpPr/>
          <p:nvPr/>
        </p:nvSpPr>
        <p:spPr>
          <a:xfrm>
            <a:off x="6903720" y="1207008"/>
            <a:ext cx="1600200" cy="822960"/>
          </a:xfrm>
          <a:prstGeom prst="rect">
            <a:avLst/>
          </a:prstGeom>
          <a:noFill/>
          <a:ln/>
        </p:spPr>
        <p:txBody>
          <a:bodyPr wrap="square" lIns="0" tIns="0" rIns="0" bIns="0" rtlCol="0" anchor="ctr"/>
          <a:lstStyle/>
          <a:p>
            <a:pPr marL="0" indent="0" algn="r">
              <a:buNone/>
            </a:pPr>
            <a:r>
              <a:rPr lang="en-US" sz="1050" b="1" dirty="0">
                <a:solidFill>
                  <a:srgbClr val="0E7A57"/>
                </a:solidFill>
                <a:latin typeface="Courier New" pitchFamily="34" charset="0"/>
                <a:ea typeface="Courier New" pitchFamily="34" charset="-122"/>
                <a:cs typeface="Courier New" pitchFamily="34" charset="-120"/>
              </a:rPr>
              <a:t>X25519</a:t>
            </a:r>
            <a:endParaRPr lang="en-US" sz="1050" dirty="0"/>
          </a:p>
          <a:p>
            <a:pPr marL="0" indent="0" algn="r">
              <a:buNone/>
            </a:pPr>
            <a:r>
              <a:rPr lang="en-US" sz="1050" b="1" dirty="0">
                <a:solidFill>
                  <a:srgbClr val="0E7A57"/>
                </a:solidFill>
                <a:latin typeface="Courier New" pitchFamily="34" charset="0"/>
                <a:ea typeface="Courier New" pitchFamily="34" charset="-122"/>
                <a:cs typeface="Courier New" pitchFamily="34" charset="-120"/>
              </a:rPr>
              <a:t>MLKEM768</a:t>
            </a:r>
            <a:endParaRPr lang="en-US" sz="1050" dirty="0"/>
          </a:p>
        </p:txBody>
      </p:sp>
      <p:sp>
        <p:nvSpPr>
          <p:cNvPr id="9" name="Shape 7"/>
          <p:cNvSpPr/>
          <p:nvPr/>
        </p:nvSpPr>
        <p:spPr>
          <a:xfrm>
            <a:off x="548640" y="2286000"/>
            <a:ext cx="8046720" cy="1024128"/>
          </a:xfrm>
          <a:prstGeom prst="roundRect">
            <a:avLst>
              <a:gd name="adj" fmla="val 8036"/>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10" name="Shape 8"/>
          <p:cNvSpPr/>
          <p:nvPr/>
        </p:nvSpPr>
        <p:spPr>
          <a:xfrm>
            <a:off x="713232" y="2560320"/>
            <a:ext cx="1417320" cy="457200"/>
          </a:xfrm>
          <a:prstGeom prst="roundRect">
            <a:avLst>
              <a:gd name="adj" fmla="val 16000"/>
            </a:avLst>
          </a:prstGeom>
          <a:solidFill>
            <a:srgbClr val="0E7A57"/>
          </a:solidFill>
          <a:ln/>
        </p:spPr>
        <p:txBody>
          <a:bodyPr/>
          <a:lstStyle/>
          <a:p>
            <a:endParaRPr lang="en-GB"/>
          </a:p>
        </p:txBody>
      </p:sp>
      <p:sp>
        <p:nvSpPr>
          <p:cNvPr id="11" name="Text 9"/>
          <p:cNvSpPr/>
          <p:nvPr/>
        </p:nvSpPr>
        <p:spPr>
          <a:xfrm>
            <a:off x="713232" y="2560320"/>
            <a:ext cx="14173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Schicht 2</a:t>
            </a:r>
            <a:endParaRPr lang="en-US" sz="1200" dirty="0"/>
          </a:p>
        </p:txBody>
      </p:sp>
      <p:sp>
        <p:nvSpPr>
          <p:cNvPr id="12" name="Text 10"/>
          <p:cNvSpPr/>
          <p:nvPr/>
        </p:nvSpPr>
        <p:spPr>
          <a:xfrm>
            <a:off x="2331720" y="2395728"/>
            <a:ext cx="4846320" cy="320040"/>
          </a:xfrm>
          <a:prstGeom prst="rect">
            <a:avLst/>
          </a:prstGeom>
          <a:noFill/>
          <a:ln/>
        </p:spPr>
        <p:txBody>
          <a:bodyPr wrap="square" lIns="0" tIns="0" rIns="0" bIns="0" rtlCol="0" anchor="ctr"/>
          <a:lstStyle/>
          <a:p>
            <a:pPr marL="0" indent="0">
              <a:buNone/>
            </a:pPr>
            <a:r>
              <a:rPr lang="en-US" sz="1450" b="1" dirty="0">
                <a:solidFill>
                  <a:srgbClr val="17263D"/>
                </a:solidFill>
                <a:latin typeface="Calibri" pitchFamily="34" charset="0"/>
                <a:ea typeface="Calibri" pitchFamily="34" charset="-122"/>
                <a:cs typeface="Calibri" pitchFamily="34" charset="-120"/>
              </a:rPr>
              <a:t>Applikation: eigener Ende-zu-Ende-Kanal</a:t>
            </a:r>
            <a:endParaRPr lang="en-US" sz="1450" dirty="0"/>
          </a:p>
        </p:txBody>
      </p:sp>
      <p:sp>
        <p:nvSpPr>
          <p:cNvPr id="13" name="Text 11"/>
          <p:cNvSpPr/>
          <p:nvPr/>
        </p:nvSpPr>
        <p:spPr>
          <a:xfrm>
            <a:off x="2331720" y="2715768"/>
            <a:ext cx="4846320" cy="54864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App und Server tauschen per ML-KEM-768 einen Sitzungsschluessel, jeder Request ist AES-256-GCM-verschluesselt, mit Replay-Schutz.</a:t>
            </a:r>
            <a:endParaRPr lang="en-US" sz="1150" dirty="0"/>
          </a:p>
        </p:txBody>
      </p:sp>
      <p:sp>
        <p:nvSpPr>
          <p:cNvPr id="14" name="Text 12"/>
          <p:cNvSpPr/>
          <p:nvPr/>
        </p:nvSpPr>
        <p:spPr>
          <a:xfrm>
            <a:off x="6903720" y="2395728"/>
            <a:ext cx="1600200" cy="822960"/>
          </a:xfrm>
          <a:prstGeom prst="rect">
            <a:avLst/>
          </a:prstGeom>
          <a:noFill/>
          <a:ln/>
        </p:spPr>
        <p:txBody>
          <a:bodyPr wrap="square" lIns="0" tIns="0" rIns="0" bIns="0" rtlCol="0" anchor="ctr"/>
          <a:lstStyle/>
          <a:p>
            <a:pPr marL="0" indent="0" algn="r">
              <a:buNone/>
            </a:pPr>
            <a:r>
              <a:rPr lang="en-US" sz="1050" b="1" dirty="0">
                <a:solidFill>
                  <a:srgbClr val="0E7A57"/>
                </a:solidFill>
                <a:latin typeface="Courier New" pitchFamily="34" charset="0"/>
                <a:ea typeface="Courier New" pitchFamily="34" charset="-122"/>
                <a:cs typeface="Courier New" pitchFamily="34" charset="-120"/>
              </a:rPr>
              <a:t>ML-KEM-768</a:t>
            </a:r>
            <a:endParaRPr lang="en-US" sz="1050" dirty="0"/>
          </a:p>
          <a:p>
            <a:pPr marL="0" indent="0" algn="r">
              <a:buNone/>
            </a:pPr>
            <a:r>
              <a:rPr lang="en-US" sz="1050" b="1" dirty="0">
                <a:solidFill>
                  <a:srgbClr val="0E7A57"/>
                </a:solidFill>
                <a:latin typeface="Courier New" pitchFamily="34" charset="0"/>
                <a:ea typeface="Courier New" pitchFamily="34" charset="-122"/>
                <a:cs typeface="Courier New" pitchFamily="34" charset="-120"/>
              </a:rPr>
              <a:t>AES-256-GCM</a:t>
            </a:r>
            <a:endParaRPr lang="en-US" sz="1050" dirty="0"/>
          </a:p>
        </p:txBody>
      </p:sp>
      <p:sp>
        <p:nvSpPr>
          <p:cNvPr id="15" name="Shape 13"/>
          <p:cNvSpPr/>
          <p:nvPr/>
        </p:nvSpPr>
        <p:spPr>
          <a:xfrm>
            <a:off x="548640" y="3474720"/>
            <a:ext cx="8046720" cy="1024128"/>
          </a:xfrm>
          <a:prstGeom prst="roundRect">
            <a:avLst>
              <a:gd name="adj" fmla="val 8036"/>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16" name="Shape 14"/>
          <p:cNvSpPr/>
          <p:nvPr/>
        </p:nvSpPr>
        <p:spPr>
          <a:xfrm>
            <a:off x="713232" y="3749040"/>
            <a:ext cx="1417320" cy="457200"/>
          </a:xfrm>
          <a:prstGeom prst="roundRect">
            <a:avLst>
              <a:gd name="adj" fmla="val 16000"/>
            </a:avLst>
          </a:prstGeom>
          <a:solidFill>
            <a:srgbClr val="E8A13D"/>
          </a:solidFill>
          <a:ln/>
        </p:spPr>
        <p:txBody>
          <a:bodyPr/>
          <a:lstStyle/>
          <a:p>
            <a:endParaRPr lang="en-GB"/>
          </a:p>
        </p:txBody>
      </p:sp>
      <p:sp>
        <p:nvSpPr>
          <p:cNvPr id="17" name="Text 15"/>
          <p:cNvSpPr/>
          <p:nvPr/>
        </p:nvSpPr>
        <p:spPr>
          <a:xfrm>
            <a:off x="713232" y="3749040"/>
            <a:ext cx="14173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Identitaet</a:t>
            </a:r>
            <a:endParaRPr lang="en-US" sz="1200" dirty="0"/>
          </a:p>
        </p:txBody>
      </p:sp>
      <p:sp>
        <p:nvSpPr>
          <p:cNvPr id="18" name="Text 16"/>
          <p:cNvSpPr/>
          <p:nvPr/>
        </p:nvSpPr>
        <p:spPr>
          <a:xfrm>
            <a:off x="2331720" y="3584448"/>
            <a:ext cx="4846320" cy="320040"/>
          </a:xfrm>
          <a:prstGeom prst="rect">
            <a:avLst/>
          </a:prstGeom>
          <a:noFill/>
          <a:ln/>
        </p:spPr>
        <p:txBody>
          <a:bodyPr wrap="square" lIns="0" tIns="0" rIns="0" bIns="0" rtlCol="0" anchor="ctr"/>
          <a:lstStyle/>
          <a:p>
            <a:pPr marL="0" indent="0">
              <a:buNone/>
            </a:pPr>
            <a:r>
              <a:rPr lang="en-US" sz="1450" b="1" dirty="0">
                <a:solidFill>
                  <a:srgbClr val="17263D"/>
                </a:solidFill>
                <a:latin typeface="Calibri" pitchFamily="34" charset="0"/>
                <a:ea typeface="Calibri" pitchFamily="34" charset="-122"/>
                <a:cs typeface="Calibri" pitchFamily="34" charset="-120"/>
              </a:rPr>
              <a:t>Quantensicher signierte Tokens</a:t>
            </a:r>
            <a:endParaRPr lang="en-US" sz="1450" dirty="0"/>
          </a:p>
        </p:txBody>
      </p:sp>
      <p:sp>
        <p:nvSpPr>
          <p:cNvPr id="19" name="Text 17"/>
          <p:cNvSpPr/>
          <p:nvPr/>
        </p:nvSpPr>
        <p:spPr>
          <a:xfrm>
            <a:off x="2331720" y="3904488"/>
            <a:ext cx="4846320" cy="54864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Jeder Login-Nachweis ist mit ML-DSA-65 signiert. Nicht faelschbar, auch nicht mit einem Quantencomputer.</a:t>
            </a:r>
            <a:endParaRPr lang="en-US" sz="1150" dirty="0"/>
          </a:p>
        </p:txBody>
      </p:sp>
      <p:sp>
        <p:nvSpPr>
          <p:cNvPr id="20" name="Text 18"/>
          <p:cNvSpPr/>
          <p:nvPr/>
        </p:nvSpPr>
        <p:spPr>
          <a:xfrm>
            <a:off x="6903720" y="3584448"/>
            <a:ext cx="1600200" cy="822960"/>
          </a:xfrm>
          <a:prstGeom prst="rect">
            <a:avLst/>
          </a:prstGeom>
          <a:noFill/>
          <a:ln/>
        </p:spPr>
        <p:txBody>
          <a:bodyPr wrap="square" lIns="0" tIns="0" rIns="0" bIns="0" rtlCol="0" anchor="ctr"/>
          <a:lstStyle/>
          <a:p>
            <a:pPr marL="0" indent="0" algn="r">
              <a:buNone/>
            </a:pPr>
            <a:r>
              <a:rPr lang="en-US" sz="1050" b="1" dirty="0">
                <a:solidFill>
                  <a:srgbClr val="0E7A57"/>
                </a:solidFill>
                <a:latin typeface="Courier New" pitchFamily="34" charset="0"/>
                <a:ea typeface="Courier New" pitchFamily="34" charset="-122"/>
                <a:cs typeface="Courier New" pitchFamily="34" charset="-120"/>
              </a:rPr>
              <a:t>ML-DSA-65</a:t>
            </a:r>
            <a:endParaRPr lang="en-US" sz="1050" dirty="0"/>
          </a:p>
        </p:txBody>
      </p:sp>
      <p:sp>
        <p:nvSpPr>
          <p:cNvPr id="21" name="Text 19"/>
          <p:cNvSpPr/>
          <p:nvPr/>
        </p:nvSpPr>
        <p:spPr>
          <a:xfrm>
            <a:off x="548640" y="4617720"/>
            <a:ext cx="8046720" cy="320040"/>
          </a:xfrm>
          <a:prstGeom prst="rect">
            <a:avLst/>
          </a:prstGeom>
          <a:noFill/>
          <a:ln/>
        </p:spPr>
        <p:txBody>
          <a:bodyPr wrap="square" rtlCol="0" anchor="ctr"/>
          <a:lstStyle/>
          <a:p>
            <a:pPr marL="0" indent="0">
              <a:buNone/>
            </a:pPr>
            <a:r>
              <a:rPr lang="en-US" sz="1300" b="1" i="1" dirty="0">
                <a:solidFill>
                  <a:srgbClr val="0E7A57"/>
                </a:solidFill>
                <a:latin typeface="Calibri" pitchFamily="34" charset="0"/>
                <a:ea typeface="Calibri" pitchFamily="34" charset="-122"/>
                <a:cs typeface="Calibri" pitchFamily="34" charset="-120"/>
              </a:rPr>
              <a:t>Faellt eine Schicht aus, haelt die andere: Defense in Depth.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C"/>
        </a:solidFill>
        <a:effectLst/>
      </p:bgPr>
    </p:bg>
    <p:spTree>
      <p:nvGrpSpPr>
        <p:cNvPr id="1" name=""/>
        <p:cNvGrpSpPr/>
        <p:nvPr/>
      </p:nvGrpSpPr>
      <p:grpSpPr>
        <a:xfrm>
          <a:off x="0" y="0"/>
          <a:ext cx="0" cy="0"/>
          <a:chOff x="0" y="0"/>
          <a:chExt cx="0" cy="0"/>
        </a:xfrm>
      </p:grpSpPr>
      <p:sp>
        <p:nvSpPr>
          <p:cNvPr id="2" name="Text 0"/>
          <p:cNvSpPr/>
          <p:nvPr/>
        </p:nvSpPr>
        <p:spPr>
          <a:xfrm>
            <a:off x="640080" y="365760"/>
            <a:ext cx="512064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Probieren Sie es aus</a:t>
            </a:r>
            <a:endParaRPr lang="en-US" sz="3400" dirty="0"/>
          </a:p>
        </p:txBody>
      </p:sp>
      <p:sp>
        <p:nvSpPr>
          <p:cNvPr id="3" name="Text 1"/>
          <p:cNvSpPr/>
          <p:nvPr/>
        </p:nvSpPr>
        <p:spPr>
          <a:xfrm>
            <a:off x="640080" y="1005840"/>
            <a:ext cx="5120640" cy="365760"/>
          </a:xfrm>
          <a:prstGeom prst="rect">
            <a:avLst/>
          </a:prstGeom>
          <a:noFill/>
          <a:ln/>
        </p:spPr>
        <p:txBody>
          <a:bodyPr wrap="square" rtlCol="0" anchor="ctr"/>
          <a:lstStyle/>
          <a:p>
            <a:pPr marL="0" indent="0">
              <a:buNone/>
            </a:pPr>
            <a:r>
              <a:rPr lang="en-US" sz="1500" i="1" dirty="0">
                <a:solidFill>
                  <a:srgbClr val="21C08B"/>
                </a:solidFill>
                <a:latin typeface="Calibri" pitchFamily="34" charset="0"/>
                <a:ea typeface="Calibri" pitchFamily="34" charset="-122"/>
                <a:cs typeface="Calibri" pitchFamily="34" charset="-120"/>
              </a:rPr>
              <a:t>Live-Demo auf Ihrem Handy</a:t>
            </a:r>
            <a:endParaRPr lang="en-US" sz="1500" dirty="0"/>
          </a:p>
        </p:txBody>
      </p:sp>
      <p:sp>
        <p:nvSpPr>
          <p:cNvPr id="4" name="Shape 2"/>
          <p:cNvSpPr/>
          <p:nvPr/>
        </p:nvSpPr>
        <p:spPr>
          <a:xfrm>
            <a:off x="640080" y="1600200"/>
            <a:ext cx="457200" cy="457200"/>
          </a:xfrm>
          <a:prstGeom prst="ellipse">
            <a:avLst/>
          </a:prstGeom>
          <a:solidFill>
            <a:srgbClr val="21C08B"/>
          </a:solidFill>
          <a:ln/>
        </p:spPr>
        <p:txBody>
          <a:bodyPr/>
          <a:lstStyle/>
          <a:p>
            <a:endParaRPr lang="en-GB"/>
          </a:p>
        </p:txBody>
      </p:sp>
      <p:sp>
        <p:nvSpPr>
          <p:cNvPr id="5" name="Text 3"/>
          <p:cNvSpPr/>
          <p:nvPr/>
        </p:nvSpPr>
        <p:spPr>
          <a:xfrm>
            <a:off x="640080" y="1600200"/>
            <a:ext cx="457200" cy="457200"/>
          </a:xfrm>
          <a:prstGeom prst="rect">
            <a:avLst/>
          </a:prstGeom>
          <a:noFill/>
          <a:ln/>
        </p:spPr>
        <p:txBody>
          <a:bodyPr wrap="square" lIns="0" tIns="0" rIns="0" bIns="0" rtlCol="0" anchor="ctr"/>
          <a:lstStyle/>
          <a:p>
            <a:pPr marL="0" indent="0" algn="ctr">
              <a:buNone/>
            </a:pPr>
            <a:r>
              <a:rPr lang="en-US" sz="1800" b="1" dirty="0">
                <a:solidFill>
                  <a:srgbClr val="0A1F3C"/>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25880" y="1563624"/>
            <a:ext cx="30175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Expo Go installieren</a:t>
            </a:r>
            <a:endParaRPr lang="en-US" sz="1500" dirty="0"/>
          </a:p>
        </p:txBody>
      </p:sp>
      <p:sp>
        <p:nvSpPr>
          <p:cNvPr id="7" name="Text 5"/>
          <p:cNvSpPr/>
          <p:nvPr/>
        </p:nvSpPr>
        <p:spPr>
          <a:xfrm>
            <a:off x="1325880" y="1911096"/>
            <a:ext cx="3017520" cy="457200"/>
          </a:xfrm>
          <a:prstGeom prst="rect">
            <a:avLst/>
          </a:prstGeom>
          <a:noFill/>
          <a:ln/>
        </p:spPr>
        <p:txBody>
          <a:bodyPr wrap="square" lIns="0" tIns="0" rIns="0" bIns="0" rtlCol="0" anchor="ctr"/>
          <a:lstStyle/>
          <a:p>
            <a:pPr marL="0" indent="0">
              <a:buNone/>
            </a:pPr>
            <a:r>
              <a:rPr lang="en-US" sz="950" dirty="0">
                <a:solidFill>
                  <a:srgbClr val="C9DCF5"/>
                </a:solidFill>
                <a:latin typeface="Courier New" pitchFamily="34" charset="0"/>
                <a:ea typeface="Courier New" pitchFamily="34" charset="-122"/>
                <a:cs typeface="Courier New" pitchFamily="34" charset="-120"/>
              </a:rPr>
              <a:t>App Store, gratis, 30 Sekunden</a:t>
            </a:r>
            <a:endParaRPr lang="en-US" sz="950" dirty="0"/>
          </a:p>
        </p:txBody>
      </p:sp>
      <p:sp>
        <p:nvSpPr>
          <p:cNvPr id="8" name="Shape 6"/>
          <p:cNvSpPr/>
          <p:nvPr/>
        </p:nvSpPr>
        <p:spPr>
          <a:xfrm>
            <a:off x="640080" y="2560320"/>
            <a:ext cx="457200" cy="457200"/>
          </a:xfrm>
          <a:prstGeom prst="ellipse">
            <a:avLst/>
          </a:prstGeom>
          <a:solidFill>
            <a:srgbClr val="21C08B"/>
          </a:solidFill>
          <a:ln/>
        </p:spPr>
        <p:txBody>
          <a:bodyPr/>
          <a:lstStyle/>
          <a:p>
            <a:endParaRPr lang="en-GB"/>
          </a:p>
        </p:txBody>
      </p:sp>
      <p:sp>
        <p:nvSpPr>
          <p:cNvPr id="9" name="Text 7"/>
          <p:cNvSpPr/>
          <p:nvPr/>
        </p:nvSpPr>
        <p:spPr>
          <a:xfrm>
            <a:off x="640080" y="2560320"/>
            <a:ext cx="457200" cy="457200"/>
          </a:xfrm>
          <a:prstGeom prst="rect">
            <a:avLst/>
          </a:prstGeom>
          <a:noFill/>
          <a:ln/>
        </p:spPr>
        <p:txBody>
          <a:bodyPr wrap="square" lIns="0" tIns="0" rIns="0" bIns="0" rtlCol="0" anchor="ctr"/>
          <a:lstStyle/>
          <a:p>
            <a:pPr marL="0" indent="0" algn="ctr">
              <a:buNone/>
            </a:pPr>
            <a:r>
              <a:rPr lang="en-US" sz="1800" b="1" dirty="0">
                <a:solidFill>
                  <a:srgbClr val="0A1F3C"/>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325880" y="2523744"/>
            <a:ext cx="30175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Mein WLAN plus QR-Code</a:t>
            </a:r>
            <a:endParaRPr lang="en-US" sz="1500" dirty="0"/>
          </a:p>
        </p:txBody>
      </p:sp>
      <p:sp>
        <p:nvSpPr>
          <p:cNvPr id="11" name="Text 9"/>
          <p:cNvSpPr/>
          <p:nvPr/>
        </p:nvSpPr>
        <p:spPr>
          <a:xfrm>
            <a:off x="1325880" y="2871216"/>
            <a:ext cx="3017520" cy="457200"/>
          </a:xfrm>
          <a:prstGeom prst="rect">
            <a:avLst/>
          </a:prstGeom>
          <a:noFill/>
          <a:ln/>
        </p:spPr>
        <p:txBody>
          <a:bodyPr wrap="square" lIns="0" tIns="0" rIns="0" bIns="0" rtlCol="0" anchor="ctr"/>
          <a:lstStyle/>
          <a:p>
            <a:pPr marL="0" indent="0">
              <a:buNone/>
            </a:pPr>
            <a:r>
              <a:rPr lang="en-US" sz="950" dirty="0">
                <a:solidFill>
                  <a:srgbClr val="C9DCF5"/>
                </a:solidFill>
                <a:latin typeface="Courier New" pitchFamily="34" charset="0"/>
                <a:ea typeface="Courier New" pitchFamily="34" charset="-122"/>
                <a:cs typeface="Courier New" pitchFamily="34" charset="-120"/>
              </a:rPr>
              <a:t>Hotspot: RumiDemo (Passwort sage ich an)</a:t>
            </a:r>
            <a:endParaRPr lang="en-US" sz="950" dirty="0"/>
          </a:p>
        </p:txBody>
      </p:sp>
      <p:sp>
        <p:nvSpPr>
          <p:cNvPr id="12" name="Shape 10"/>
          <p:cNvSpPr/>
          <p:nvPr/>
        </p:nvSpPr>
        <p:spPr>
          <a:xfrm>
            <a:off x="640080" y="3520440"/>
            <a:ext cx="457200" cy="457200"/>
          </a:xfrm>
          <a:prstGeom prst="ellipse">
            <a:avLst/>
          </a:prstGeom>
          <a:solidFill>
            <a:srgbClr val="21C08B"/>
          </a:solidFill>
          <a:ln/>
        </p:spPr>
        <p:txBody>
          <a:bodyPr/>
          <a:lstStyle/>
          <a:p>
            <a:endParaRPr lang="en-GB"/>
          </a:p>
        </p:txBody>
      </p:sp>
      <p:sp>
        <p:nvSpPr>
          <p:cNvPr id="13" name="Text 11"/>
          <p:cNvSpPr/>
          <p:nvPr/>
        </p:nvSpPr>
        <p:spPr>
          <a:xfrm>
            <a:off x="640080" y="3520440"/>
            <a:ext cx="457200" cy="457200"/>
          </a:xfrm>
          <a:prstGeom prst="rect">
            <a:avLst/>
          </a:prstGeom>
          <a:noFill/>
          <a:ln/>
        </p:spPr>
        <p:txBody>
          <a:bodyPr wrap="square" lIns="0" tIns="0" rIns="0" bIns="0" rtlCol="0" anchor="ctr"/>
          <a:lstStyle/>
          <a:p>
            <a:pPr marL="0" indent="0" algn="ctr">
              <a:buNone/>
            </a:pPr>
            <a:r>
              <a:rPr lang="en-US" sz="1800" b="1" dirty="0">
                <a:solidFill>
                  <a:srgbClr val="0A1F3C"/>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325880" y="3483864"/>
            <a:ext cx="30175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Einloggen</a:t>
            </a:r>
            <a:endParaRPr lang="en-US" sz="1500" dirty="0"/>
          </a:p>
        </p:txBody>
      </p:sp>
      <p:sp>
        <p:nvSpPr>
          <p:cNvPr id="15" name="Text 13"/>
          <p:cNvSpPr/>
          <p:nvPr/>
        </p:nvSpPr>
        <p:spPr>
          <a:xfrm>
            <a:off x="1325880" y="3831336"/>
            <a:ext cx="3017520" cy="457200"/>
          </a:xfrm>
          <a:prstGeom prst="rect">
            <a:avLst/>
          </a:prstGeom>
          <a:noFill/>
          <a:ln/>
        </p:spPr>
        <p:txBody>
          <a:bodyPr wrap="square" lIns="0" tIns="0" rIns="0" bIns="0" rtlCol="0" anchor="ctr"/>
          <a:lstStyle/>
          <a:p>
            <a:pPr marL="0" indent="0">
              <a:buNone/>
            </a:pPr>
            <a:r>
              <a:rPr lang="en-US" sz="950" dirty="0">
                <a:solidFill>
                  <a:srgbClr val="C9DCF5"/>
                </a:solidFill>
                <a:latin typeface="Courier New" pitchFamily="34" charset="0"/>
                <a:ea typeface="Courier New" pitchFamily="34" charset="-122"/>
                <a:cs typeface="Courier New" pitchFamily="34" charset="-120"/>
              </a:rPr>
              <a:t>demo@example.com  /  demo-passwort-12345</a:t>
            </a:r>
            <a:endParaRPr lang="en-US" sz="950" dirty="0"/>
          </a:p>
        </p:txBody>
      </p:sp>
      <p:sp>
        <p:nvSpPr>
          <p:cNvPr id="16" name="Text 14"/>
          <p:cNvSpPr/>
          <p:nvPr/>
        </p:nvSpPr>
        <p:spPr>
          <a:xfrm>
            <a:off x="640080" y="4526280"/>
            <a:ext cx="5394960" cy="365760"/>
          </a:xfrm>
          <a:prstGeom prst="rect">
            <a:avLst/>
          </a:prstGeom>
          <a:noFill/>
          <a:ln/>
        </p:spPr>
        <p:txBody>
          <a:bodyPr wrap="square" rtlCol="0" anchor="ctr"/>
          <a:lstStyle/>
          <a:p>
            <a:pPr marL="0" indent="0">
              <a:buNone/>
            </a:pPr>
            <a:r>
              <a:rPr lang="en-US" sz="1300" i="1" dirty="0">
                <a:solidFill>
                  <a:srgbClr val="C9DCF5"/>
                </a:solidFill>
                <a:latin typeface="Calibri" pitchFamily="34" charset="0"/>
                <a:ea typeface="Calibri" pitchFamily="34" charset="-122"/>
                <a:cs typeface="Calibri" pitchFamily="34" charset="-120"/>
              </a:rPr>
              <a:t>Danach zeigt Ihr Handy: «Du bist jetzt Post-Quantum-gesichert.»</a:t>
            </a:r>
            <a:endParaRPr lang="en-US" sz="1300" dirty="0"/>
          </a:p>
        </p:txBody>
      </p:sp>
      <p:sp>
        <p:nvSpPr>
          <p:cNvPr id="17" name="Shape 15"/>
          <p:cNvSpPr/>
          <p:nvPr/>
        </p:nvSpPr>
        <p:spPr>
          <a:xfrm>
            <a:off x="4526280" y="1051560"/>
            <a:ext cx="1463040" cy="3108960"/>
          </a:xfrm>
          <a:prstGeom prst="roundRect">
            <a:avLst>
              <a:gd name="adj" fmla="val 10000"/>
            </a:avLst>
          </a:prstGeom>
          <a:solidFill>
            <a:srgbClr val="112A4E"/>
          </a:solidFill>
          <a:ln w="19050">
            <a:solidFill>
              <a:srgbClr val="21C08B"/>
            </a:solidFill>
            <a:prstDash val="dash"/>
          </a:ln>
        </p:spPr>
        <p:txBody>
          <a:bodyPr/>
          <a:lstStyle/>
          <a:p>
            <a:endParaRPr lang="en-GB"/>
          </a:p>
        </p:txBody>
      </p:sp>
      <p:sp>
        <p:nvSpPr>
          <p:cNvPr id="18" name="Text 16"/>
          <p:cNvSpPr/>
          <p:nvPr/>
        </p:nvSpPr>
        <p:spPr>
          <a:xfrm>
            <a:off x="4526280" y="1051560"/>
            <a:ext cx="1463040" cy="3108960"/>
          </a:xfrm>
          <a:prstGeom prst="rect">
            <a:avLst/>
          </a:prstGeom>
          <a:noFill/>
          <a:ln/>
        </p:spPr>
        <p:txBody>
          <a:bodyPr wrap="square" rtlCol="0" anchor="ctr"/>
          <a:lstStyle/>
          <a:p>
            <a:pPr marL="0" indent="0" algn="ctr">
              <a:buNone/>
            </a:pPr>
            <a:r>
              <a:rPr lang="en-US" sz="1050" dirty="0">
                <a:solidFill>
                  <a:srgbClr val="C9DCF5"/>
                </a:solidFill>
                <a:latin typeface="Calibri" pitchFamily="34" charset="0"/>
                <a:ea typeface="Calibri" pitchFamily="34" charset="-122"/>
                <a:cs typeface="Calibri" pitchFamily="34" charset="-120"/>
              </a:rPr>
              <a:t>Screenshot</a:t>
            </a:r>
            <a:endParaRPr lang="en-US" sz="1050" dirty="0"/>
          </a:p>
          <a:p>
            <a:pPr marL="0" indent="0" algn="ctr">
              <a:buNone/>
            </a:pPr>
            <a:r>
              <a:rPr lang="en-US" sz="1050" dirty="0">
                <a:solidFill>
                  <a:srgbClr val="C9DCF5"/>
                </a:solidFill>
                <a:latin typeface="Calibri" pitchFamily="34" charset="0"/>
                <a:ea typeface="Calibri" pitchFamily="34" charset="-122"/>
                <a:cs typeface="Calibri" pitchFamily="34" charset="-120"/>
              </a:rPr>
              <a:t>Home-Screen</a:t>
            </a:r>
            <a:endParaRPr lang="en-US" sz="1050" dirty="0"/>
          </a:p>
          <a:p>
            <a:pPr marL="0" indent="0" algn="ctr">
              <a:buNone/>
            </a:pPr>
            <a:r>
              <a:rPr lang="en-US" sz="1050" dirty="0">
                <a:solidFill>
                  <a:srgbClr val="C9DCF5"/>
                </a:solidFill>
                <a:latin typeface="Calibri" pitchFamily="34" charset="0"/>
                <a:ea typeface="Calibri" pitchFamily="34" charset="-122"/>
                <a:cs typeface="Calibri" pitchFamily="34" charset="-120"/>
              </a:rPr>
              <a:t>hier einfuegen</a:t>
            </a:r>
            <a:endParaRPr lang="en-US" sz="1050" dirty="0"/>
          </a:p>
        </p:txBody>
      </p:sp>
      <p:sp>
        <p:nvSpPr>
          <p:cNvPr id="19" name="Shape 17"/>
          <p:cNvSpPr/>
          <p:nvPr/>
        </p:nvSpPr>
        <p:spPr>
          <a:xfrm>
            <a:off x="6172200" y="1051560"/>
            <a:ext cx="2468880" cy="3108960"/>
          </a:xfrm>
          <a:prstGeom prst="roundRect">
            <a:avLst>
              <a:gd name="adj" fmla="val 4444"/>
            </a:avLst>
          </a:prstGeom>
          <a:solidFill>
            <a:srgbClr val="FFFFFF"/>
          </a:solidFill>
          <a:ln/>
          <a:effectLst>
            <a:outerShdw blurRad="101600" dist="38100" dir="2700000" algn="bl" rotWithShape="0">
              <a:srgbClr val="1A2A44">
                <a:alpha val="18000"/>
              </a:srgbClr>
            </a:outerShdw>
          </a:effectLst>
        </p:spPr>
        <p:txBody>
          <a:bodyPr/>
          <a:lstStyle/>
          <a:p>
            <a:endParaRPr lang="en-GB"/>
          </a:p>
        </p:txBody>
      </p:sp>
      <p:pic>
        <p:nvPicPr>
          <p:cNvPr id="20" name="Image 0" descr="qr_expo.png"/>
          <p:cNvPicPr>
            <a:picLocks noChangeAspect="1"/>
          </p:cNvPicPr>
          <p:nvPr/>
        </p:nvPicPr>
        <p:blipFill>
          <a:blip r:embed="rId3"/>
          <a:stretch>
            <a:fillRect/>
          </a:stretch>
        </p:blipFill>
        <p:spPr>
          <a:xfrm>
            <a:off x="6382512" y="1261872"/>
            <a:ext cx="2048256" cy="2048256"/>
          </a:xfrm>
          <a:prstGeom prst="rect">
            <a:avLst/>
          </a:prstGeom>
        </p:spPr>
      </p:pic>
      <p:sp>
        <p:nvSpPr>
          <p:cNvPr id="21" name="Text 18"/>
          <p:cNvSpPr/>
          <p:nvPr/>
        </p:nvSpPr>
        <p:spPr>
          <a:xfrm>
            <a:off x="6172200" y="3383280"/>
            <a:ext cx="2468880" cy="548640"/>
          </a:xfrm>
          <a:prstGeom prst="rect">
            <a:avLst/>
          </a:prstGeom>
          <a:noFill/>
          <a:ln/>
        </p:spPr>
        <p:txBody>
          <a:bodyPr wrap="square" rtlCol="0" anchor="ctr"/>
          <a:lstStyle/>
          <a:p>
            <a:pPr marL="0" indent="0" algn="ctr">
              <a:buNone/>
            </a:pPr>
            <a:r>
              <a:rPr lang="en-US" sz="1050" dirty="0">
                <a:solidFill>
                  <a:srgbClr val="5B6B82"/>
                </a:solidFill>
                <a:latin typeface="Calibri" pitchFamily="34" charset="0"/>
                <a:ea typeface="Calibri" pitchFamily="34" charset="-122"/>
                <a:cs typeface="Calibri" pitchFamily="34" charset="-120"/>
              </a:rPr>
              <a:t>QR live scannen</a:t>
            </a:r>
            <a:endParaRPr lang="en-US" sz="1050" dirty="0"/>
          </a:p>
          <a:p>
            <a:pPr marL="0" indent="0" algn="ctr">
              <a:buNone/>
            </a:pPr>
            <a:r>
              <a:rPr lang="en-US" sz="1050" dirty="0">
                <a:solidFill>
                  <a:srgbClr val="5B6B82"/>
                </a:solidFill>
                <a:latin typeface="Calibri" pitchFamily="34" charset="0"/>
                <a:ea typeface="Calibri" pitchFamily="34" charset="-122"/>
                <a:cs typeface="Calibri" pitchFamily="34" charset="-120"/>
              </a:rPr>
              <a:t>(Expo Go, gleiches Netz)</a:t>
            </a:r>
            <a:endParaRPr lang="en-US" sz="1050" dirty="0"/>
          </a:p>
        </p:txBody>
      </p:sp>
      <p:pic>
        <p:nvPicPr>
          <p:cNvPr id="23" name="Grafik 22">
            <a:extLst>
              <a:ext uri="{FF2B5EF4-FFF2-40B4-BE49-F238E27FC236}">
                <a16:creationId xmlns:a16="http://schemas.microsoft.com/office/drawing/2014/main" id="{3A748B70-004C-A397-5FD4-02B39C0F083A}"/>
              </a:ext>
            </a:extLst>
          </p:cNvPr>
          <p:cNvPicPr>
            <a:picLocks noChangeAspect="1"/>
          </p:cNvPicPr>
          <p:nvPr/>
        </p:nvPicPr>
        <p:blipFill>
          <a:blip r:embed="rId4"/>
          <a:stretch>
            <a:fillRect/>
          </a:stretch>
        </p:blipFill>
        <p:spPr>
          <a:xfrm>
            <a:off x="4489505" y="989466"/>
            <a:ext cx="1536590" cy="31710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marL="0" indent="0">
              <a:buNone/>
            </a:pPr>
            <a:r>
              <a:rPr lang="en-US" sz="3000" b="1" dirty="0">
                <a:solidFill>
                  <a:srgbClr val="17263D"/>
                </a:solidFill>
                <a:latin typeface="Cambria" pitchFamily="34" charset="0"/>
                <a:ea typeface="Cambria" pitchFamily="34" charset="-122"/>
                <a:cs typeface="Cambria" pitchFamily="34" charset="-120"/>
              </a:rPr>
              <a:t>Was ein Angreifer sieht</a:t>
            </a:r>
            <a:endParaRPr lang="en-US" sz="3000" dirty="0"/>
          </a:p>
        </p:txBody>
      </p:sp>
      <p:sp>
        <p:nvSpPr>
          <p:cNvPr id="3" name="Shape 1"/>
          <p:cNvSpPr/>
          <p:nvPr/>
        </p:nvSpPr>
        <p:spPr>
          <a:xfrm>
            <a:off x="548640" y="1097280"/>
            <a:ext cx="4114800" cy="3200400"/>
          </a:xfrm>
          <a:prstGeom prst="roundRect">
            <a:avLst>
              <a:gd name="adj" fmla="val 2571"/>
            </a:avLst>
          </a:prstGeom>
          <a:solidFill>
            <a:srgbClr val="101826"/>
          </a:solidFill>
          <a:ln/>
          <a:effectLst>
            <a:outerShdw blurRad="101600" dist="38100" dir="2700000" algn="bl" rotWithShape="0">
              <a:srgbClr val="1A2A44">
                <a:alpha val="18000"/>
              </a:srgbClr>
            </a:outerShdw>
          </a:effectLst>
        </p:spPr>
        <p:txBody>
          <a:bodyPr/>
          <a:lstStyle/>
          <a:p>
            <a:endParaRPr lang="en-GB"/>
          </a:p>
        </p:txBody>
      </p:sp>
      <p:sp>
        <p:nvSpPr>
          <p:cNvPr id="4" name="Text 2"/>
          <p:cNvSpPr/>
          <p:nvPr/>
        </p:nvSpPr>
        <p:spPr>
          <a:xfrm>
            <a:off x="777240" y="1234440"/>
            <a:ext cx="3657600" cy="274320"/>
          </a:xfrm>
          <a:prstGeom prst="rect">
            <a:avLst/>
          </a:prstGeom>
          <a:noFill/>
          <a:ln/>
        </p:spPr>
        <p:txBody>
          <a:bodyPr wrap="square" lIns="0" tIns="0" rIns="0" bIns="0" rtlCol="0" anchor="ctr"/>
          <a:lstStyle/>
          <a:p>
            <a:pPr marL="0" indent="0">
              <a:buNone/>
            </a:pPr>
            <a:r>
              <a:rPr lang="en-US" sz="1150" b="1" dirty="0">
                <a:solidFill>
                  <a:srgbClr val="C9DCF5"/>
                </a:solidFill>
                <a:latin typeface="Calibri" pitchFamily="34" charset="0"/>
                <a:ea typeface="Calibri" pitchFamily="34" charset="-122"/>
                <a:cs typeface="Calibri" pitchFamily="34" charset="-120"/>
              </a:rPr>
              <a:t>Mitschnitt im WLAN (Wireshark)</a:t>
            </a:r>
            <a:endParaRPr lang="en-US" sz="1150" dirty="0"/>
          </a:p>
        </p:txBody>
      </p:sp>
      <p:sp>
        <p:nvSpPr>
          <p:cNvPr id="5" name="Text 3"/>
          <p:cNvSpPr/>
          <p:nvPr/>
        </p:nvSpPr>
        <p:spPr>
          <a:xfrm>
            <a:off x="777240" y="1572768"/>
            <a:ext cx="3657600" cy="2606040"/>
          </a:xfrm>
          <a:prstGeom prst="rect">
            <a:avLst/>
          </a:prstGeom>
          <a:noFill/>
          <a:ln/>
        </p:spPr>
        <p:txBody>
          <a:bodyPr wrap="square" rtlCol="0" anchor="t"/>
          <a:lstStyle/>
          <a:p>
            <a:pPr marL="0" indent="0">
              <a:lnSpc>
                <a:spcPct val="110000"/>
              </a:lnSpc>
              <a:buNone/>
            </a:pPr>
            <a:r>
              <a:rPr lang="en-US" sz="1100" dirty="0">
                <a:solidFill>
                  <a:srgbClr val="9FB6D9"/>
                </a:solidFill>
                <a:latin typeface="Courier New" pitchFamily="34" charset="0"/>
                <a:ea typeface="Courier New" pitchFamily="34" charset="-122"/>
                <a:cs typeface="Courier New" pitchFamily="34" charset="-120"/>
              </a:rPr>
              <a:t>POST /api/profile HTTP/1.1</a:t>
            </a:r>
            <a:endParaRPr lang="en-US" sz="1100" dirty="0"/>
          </a:p>
          <a:p>
            <a:pPr marL="0" indent="0">
              <a:lnSpc>
                <a:spcPct val="110000"/>
              </a:lnSpc>
              <a:buNone/>
            </a:pPr>
            <a:r>
              <a:rPr lang="en-US" sz="1100" dirty="0">
                <a:solidFill>
                  <a:srgbClr val="9FB6D9"/>
                </a:solidFill>
                <a:latin typeface="Courier New" pitchFamily="34" charset="0"/>
                <a:ea typeface="Courier New" pitchFamily="34" charset="-122"/>
                <a:cs typeface="Courier New" pitchFamily="34" charset="-120"/>
              </a:rPr>
              <a:t>X-Session-Id: vJ3q...9zA</a:t>
            </a:r>
            <a:endParaRPr lang="en-US" sz="1100" dirty="0"/>
          </a:p>
          <a:p>
            <a:pPr marL="0" indent="0">
              <a:lnSpc>
                <a:spcPct val="110000"/>
              </a:lnSpc>
              <a:buNone/>
            </a:pPr>
            <a:r>
              <a:rPr lang="en-US" sz="1100" dirty="0">
                <a:solidFill>
                  <a:srgbClr val="9FB6D9"/>
                </a:solidFill>
                <a:latin typeface="Courier New" pitchFamily="34" charset="0"/>
                <a:ea typeface="Courier New" pitchFamily="34" charset="-122"/>
                <a:cs typeface="Courier New" pitchFamily="34" charset="-120"/>
              </a:rPr>
              <a:t>X-Nonce: 8Q1f...bXw</a:t>
            </a:r>
            <a:endParaRPr lang="en-US" sz="1100" dirty="0"/>
          </a:p>
          <a:p>
            <a:pPr marL="0" indent="0">
              <a:lnSpc>
                <a:spcPct val="110000"/>
              </a:lnSpc>
              <a:buNone/>
            </a:pPr>
            <a:r>
              <a:rPr lang="en-US" sz="1100" dirty="0">
                <a:solidFill>
                  <a:srgbClr val="9FB6D9"/>
                </a:solidFill>
                <a:latin typeface="Courier New" pitchFamily="34" charset="0"/>
                <a:ea typeface="Courier New" pitchFamily="34" charset="-122"/>
                <a:cs typeface="Courier New" pitchFamily="34" charset="-120"/>
              </a:rPr>
              <a:t>Content-Type: octet-stream</a:t>
            </a:r>
            <a:endParaRPr lang="en-US" sz="1100" dirty="0"/>
          </a:p>
          <a:p>
            <a:pPr marL="0" indent="0">
              <a:lnSpc>
                <a:spcPct val="110000"/>
              </a:lnSpc>
              <a:buNone/>
            </a:pPr>
            <a:endParaRPr lang="en-US" sz="1100" dirty="0"/>
          </a:p>
          <a:p>
            <a:pPr marL="0" indent="0">
              <a:lnSpc>
                <a:spcPct val="110000"/>
              </a:lnSpc>
              <a:buNone/>
            </a:pPr>
            <a:r>
              <a:rPr lang="en-US" sz="1100" dirty="0">
                <a:solidFill>
                  <a:srgbClr val="21C08B"/>
                </a:solidFill>
                <a:latin typeface="Courier New" pitchFamily="34" charset="0"/>
                <a:ea typeface="Courier New" pitchFamily="34" charset="-122"/>
                <a:cs typeface="Courier New" pitchFamily="34" charset="-120"/>
              </a:rPr>
              <a:t>b2 f1 8e 03 5a 91 cc 47 0d ea</a:t>
            </a:r>
            <a:endParaRPr lang="en-US" sz="1100" dirty="0"/>
          </a:p>
          <a:p>
            <a:pPr marL="0" indent="0">
              <a:lnSpc>
                <a:spcPct val="110000"/>
              </a:lnSpc>
              <a:buNone/>
            </a:pPr>
            <a:r>
              <a:rPr lang="en-US" sz="1100" dirty="0">
                <a:solidFill>
                  <a:srgbClr val="21C08B"/>
                </a:solidFill>
                <a:latin typeface="Courier New" pitchFamily="34" charset="0"/>
                <a:ea typeface="Courier New" pitchFamily="34" charset="-122"/>
                <a:cs typeface="Courier New" pitchFamily="34" charset="-120"/>
              </a:rPr>
              <a:t>77 12 f9 40 8b 6e a3 d5 21 90</a:t>
            </a:r>
            <a:endParaRPr lang="en-US" sz="1100" dirty="0"/>
          </a:p>
          <a:p>
            <a:pPr marL="0" indent="0">
              <a:lnSpc>
                <a:spcPct val="110000"/>
              </a:lnSpc>
              <a:buNone/>
            </a:pPr>
            <a:r>
              <a:rPr lang="en-US" sz="1100" dirty="0">
                <a:solidFill>
                  <a:srgbClr val="21C08B"/>
                </a:solidFill>
                <a:latin typeface="Courier New" pitchFamily="34" charset="0"/>
                <a:ea typeface="Courier New" pitchFamily="34" charset="-122"/>
                <a:cs typeface="Courier New" pitchFamily="34" charset="-120"/>
              </a:rPr>
              <a:t>4c e8 07 bd 3f 66 52 aa 1b c4</a:t>
            </a:r>
            <a:endParaRPr lang="en-US" sz="1100" dirty="0"/>
          </a:p>
          <a:p>
            <a:pPr marL="0" indent="0">
              <a:lnSpc>
                <a:spcPct val="110000"/>
              </a:lnSpc>
              <a:buNone/>
            </a:pPr>
            <a:r>
              <a:rPr lang="en-US" sz="1100" i="1" dirty="0">
                <a:solidFill>
                  <a:srgbClr val="6E86A8"/>
                </a:solidFill>
                <a:latin typeface="Courier New" pitchFamily="34" charset="0"/>
                <a:ea typeface="Courier New" pitchFamily="34" charset="-122"/>
                <a:cs typeface="Courier New" pitchFamily="34" charset="-120"/>
              </a:rPr>
              <a:t>... nur Ciphertext, kein Klartext</a:t>
            </a:r>
            <a:endParaRPr lang="en-US" sz="1100" dirty="0"/>
          </a:p>
        </p:txBody>
      </p:sp>
      <p:sp>
        <p:nvSpPr>
          <p:cNvPr id="6" name="Shape 4"/>
          <p:cNvSpPr/>
          <p:nvPr/>
        </p:nvSpPr>
        <p:spPr>
          <a:xfrm>
            <a:off x="4937760" y="1097280"/>
            <a:ext cx="3657600" cy="1828800"/>
          </a:xfrm>
          <a:prstGeom prst="roundRect">
            <a:avLst>
              <a:gd name="adj" fmla="val 4500"/>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7" name="Text 5"/>
          <p:cNvSpPr/>
          <p:nvPr/>
        </p:nvSpPr>
        <p:spPr>
          <a:xfrm>
            <a:off x="5166360" y="1234440"/>
            <a:ext cx="3200400" cy="274320"/>
          </a:xfrm>
          <a:prstGeom prst="rect">
            <a:avLst/>
          </a:prstGeom>
          <a:noFill/>
          <a:ln/>
        </p:spPr>
        <p:txBody>
          <a:bodyPr wrap="square" lIns="0" tIns="0" rIns="0" bIns="0" rtlCol="0" anchor="ctr"/>
          <a:lstStyle/>
          <a:p>
            <a:pPr marL="0" indent="0">
              <a:buNone/>
            </a:pPr>
            <a:r>
              <a:rPr lang="en-US" sz="1150" b="1" dirty="0">
                <a:solidFill>
                  <a:srgbClr val="17263D"/>
                </a:solidFill>
                <a:latin typeface="Calibri" pitchFamily="34" charset="0"/>
                <a:ea typeface="Calibri" pitchFamily="34" charset="-122"/>
                <a:cs typeface="Calibri" pitchFamily="34" charset="-120"/>
              </a:rPr>
              <a:t>TLS-Handshake meines iPhones (Server-Log)</a:t>
            </a:r>
            <a:endParaRPr lang="en-US" sz="1150" dirty="0"/>
          </a:p>
        </p:txBody>
      </p:sp>
      <p:sp>
        <p:nvSpPr>
          <p:cNvPr id="8" name="Text 6"/>
          <p:cNvSpPr/>
          <p:nvPr/>
        </p:nvSpPr>
        <p:spPr>
          <a:xfrm>
            <a:off x="5166360" y="1572768"/>
            <a:ext cx="3200400" cy="1188720"/>
          </a:xfrm>
          <a:prstGeom prst="rect">
            <a:avLst/>
          </a:prstGeom>
          <a:noFill/>
          <a:ln/>
        </p:spPr>
        <p:txBody>
          <a:bodyPr wrap="square" rtlCol="0" anchor="t"/>
          <a:lstStyle/>
          <a:p>
            <a:pPr marL="0" indent="0">
              <a:lnSpc>
                <a:spcPct val="115000"/>
              </a:lnSpc>
              <a:buNone/>
            </a:pPr>
            <a:r>
              <a:rPr lang="en-US" sz="1250" dirty="0">
                <a:solidFill>
                  <a:srgbClr val="5B6B82"/>
                </a:solidFill>
                <a:latin typeface="Courier New" pitchFamily="34" charset="0"/>
                <a:ea typeface="Courier New" pitchFamily="34" charset="-122"/>
                <a:cs typeface="Courier New" pitchFamily="34" charset="-120"/>
              </a:rPr>
              <a:t>GET /pqc-test  200</a:t>
            </a:r>
            <a:endParaRPr lang="en-US" sz="1250" dirty="0"/>
          </a:p>
          <a:p>
            <a:pPr marL="0" indent="0">
              <a:lnSpc>
                <a:spcPct val="115000"/>
              </a:lnSpc>
              <a:buNone/>
            </a:pPr>
            <a:r>
              <a:rPr lang="en-US" sz="1250" dirty="0">
                <a:solidFill>
                  <a:srgbClr val="5B6B82"/>
                </a:solidFill>
                <a:latin typeface="Courier New" pitchFamily="34" charset="0"/>
                <a:ea typeface="Courier New" pitchFamily="34" charset="-122"/>
                <a:cs typeface="Courier New" pitchFamily="34" charset="-120"/>
              </a:rPr>
              <a:t>"TLSv1.3"</a:t>
            </a:r>
            <a:endParaRPr lang="en-US" sz="1250" dirty="0"/>
          </a:p>
          <a:p>
            <a:pPr marL="0" indent="0">
              <a:lnSpc>
                <a:spcPct val="115000"/>
              </a:lnSpc>
              <a:buNone/>
            </a:pPr>
            <a:r>
              <a:rPr lang="en-US" sz="1250" b="1" dirty="0">
                <a:solidFill>
                  <a:srgbClr val="0E7A57"/>
                </a:solidFill>
                <a:latin typeface="Courier New" pitchFamily="34" charset="0"/>
                <a:ea typeface="Courier New" pitchFamily="34" charset="-122"/>
                <a:cs typeface="Courier New" pitchFamily="34" charset="-120"/>
              </a:rPr>
              <a:t>"X25519MLKEM768"</a:t>
            </a:r>
            <a:endParaRPr lang="en-US" sz="1250" dirty="0"/>
          </a:p>
        </p:txBody>
      </p:sp>
      <p:sp>
        <p:nvSpPr>
          <p:cNvPr id="9" name="Shape 7"/>
          <p:cNvSpPr/>
          <p:nvPr/>
        </p:nvSpPr>
        <p:spPr>
          <a:xfrm>
            <a:off x="4937760" y="3154680"/>
            <a:ext cx="3657600" cy="1143000"/>
          </a:xfrm>
          <a:prstGeom prst="roundRect">
            <a:avLst>
              <a:gd name="adj" fmla="val 7200"/>
            </a:avLst>
          </a:prstGeom>
          <a:solidFill>
            <a:srgbClr val="E6EFFB"/>
          </a:solidFill>
          <a:ln/>
        </p:spPr>
        <p:txBody>
          <a:bodyPr/>
          <a:lstStyle/>
          <a:p>
            <a:endParaRPr lang="en-GB"/>
          </a:p>
        </p:txBody>
      </p:sp>
      <p:sp>
        <p:nvSpPr>
          <p:cNvPr id="10" name="Text 8"/>
          <p:cNvSpPr/>
          <p:nvPr/>
        </p:nvSpPr>
        <p:spPr>
          <a:xfrm>
            <a:off x="5166360" y="3310128"/>
            <a:ext cx="3200400" cy="868680"/>
          </a:xfrm>
          <a:prstGeom prst="rect">
            <a:avLst/>
          </a:prstGeom>
          <a:noFill/>
          <a:ln/>
        </p:spPr>
        <p:txBody>
          <a:bodyPr wrap="square" rtlCol="0" anchor="t"/>
          <a:lstStyle/>
          <a:p>
            <a:pPr marL="0" indent="0">
              <a:buNone/>
            </a:pPr>
            <a:r>
              <a:rPr lang="en-US" sz="1250" b="1" dirty="0">
                <a:solidFill>
                  <a:srgbClr val="17263D"/>
                </a:solidFill>
                <a:latin typeface="Calibri" pitchFamily="34" charset="0"/>
                <a:ea typeface="Calibri" pitchFamily="34" charset="-122"/>
                <a:cs typeface="Calibri" pitchFamily="34" charset="-120"/>
              </a:rPr>
              <a:t>Metadaten sichtbar, Inhalte unlesbar.</a:t>
            </a:r>
            <a:endParaRPr lang="en-US" sz="1250" dirty="0"/>
          </a:p>
          <a:p>
            <a:pPr marL="0" indent="0">
              <a:buNone/>
            </a:pPr>
            <a:r>
              <a:rPr lang="en-US" sz="1250" dirty="0">
                <a:solidFill>
                  <a:srgbClr val="17263D"/>
                </a:solidFill>
                <a:latin typeface="Calibri" pitchFamily="34" charset="0"/>
                <a:ea typeface="Calibri" pitchFamily="34" charset="-122"/>
                <a:cs typeface="Calibri" pitchFamily="34" charset="-120"/>
              </a:rPr>
              <a:t>Selbst ueber offenes WLAN, und erst recht in der Quanten-Aera.</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marL="0" indent="0">
              <a:buNone/>
            </a:pPr>
            <a:r>
              <a:rPr lang="en-US" sz="2800" b="1" dirty="0">
                <a:solidFill>
                  <a:srgbClr val="17263D"/>
                </a:solidFill>
                <a:latin typeface="Cambria" pitchFamily="34" charset="0"/>
                <a:ea typeface="Cambria" pitchFamily="34" charset="-122"/>
                <a:cs typeface="Cambria" pitchFamily="34" charset="-120"/>
              </a:rPr>
              <a:t>Quantensicherheit kostet weniger als eine Millisekunde</a:t>
            </a:r>
            <a:endParaRPr lang="en-US" sz="2800" dirty="0"/>
          </a:p>
        </p:txBody>
      </p:sp>
      <p:sp>
        <p:nvSpPr>
          <p:cNvPr id="3" name="Shape 1"/>
          <p:cNvSpPr/>
          <p:nvPr/>
        </p:nvSpPr>
        <p:spPr>
          <a:xfrm>
            <a:off x="548640" y="1234440"/>
            <a:ext cx="2560320" cy="2331720"/>
          </a:xfrm>
          <a:prstGeom prst="roundRect">
            <a:avLst>
              <a:gd name="adj" fmla="val 3922"/>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4" name="Text 2"/>
          <p:cNvSpPr/>
          <p:nvPr/>
        </p:nvSpPr>
        <p:spPr>
          <a:xfrm>
            <a:off x="548640" y="1463040"/>
            <a:ext cx="2560320" cy="914400"/>
          </a:xfrm>
          <a:prstGeom prst="rect">
            <a:avLst/>
          </a:prstGeom>
          <a:noFill/>
          <a:ln/>
        </p:spPr>
        <p:txBody>
          <a:bodyPr wrap="square" rtlCol="0" anchor="ctr"/>
          <a:lstStyle/>
          <a:p>
            <a:pPr marL="0" indent="0" algn="ctr">
              <a:buNone/>
            </a:pPr>
            <a:r>
              <a:rPr lang="en-US" sz="4400" b="1" dirty="0">
                <a:solidFill>
                  <a:srgbClr val="0E7A57"/>
                </a:solidFill>
                <a:latin typeface="Cambria" pitchFamily="34" charset="0"/>
                <a:ea typeface="Cambria" pitchFamily="34" charset="-122"/>
                <a:cs typeface="Cambria" pitchFamily="34" charset="-120"/>
              </a:rPr>
              <a:t>&lt; 5 ms</a:t>
            </a:r>
            <a:endParaRPr lang="en-US" sz="4400" dirty="0"/>
          </a:p>
        </p:txBody>
      </p:sp>
      <p:sp>
        <p:nvSpPr>
          <p:cNvPr id="5" name="Text 3"/>
          <p:cNvSpPr/>
          <p:nvPr/>
        </p:nvSpPr>
        <p:spPr>
          <a:xfrm>
            <a:off x="731520" y="2423160"/>
            <a:ext cx="2194560" cy="594360"/>
          </a:xfrm>
          <a:prstGeom prst="rect">
            <a:avLst/>
          </a:prstGeom>
          <a:noFill/>
          <a:ln/>
        </p:spPr>
        <p:txBody>
          <a:bodyPr wrap="square" rtlCol="0" anchor="t"/>
          <a:lstStyle/>
          <a:p>
            <a:pPr marL="0" indent="0" algn="ctr">
              <a:buNone/>
            </a:pPr>
            <a:r>
              <a:rPr lang="en-US" sz="1250" b="1" dirty="0">
                <a:solidFill>
                  <a:srgbClr val="17263D"/>
                </a:solidFill>
                <a:latin typeface="Calibri" pitchFamily="34" charset="0"/>
                <a:ea typeface="Calibri" pitchFamily="34" charset="-122"/>
                <a:cs typeface="Calibri" pitchFamily="34" charset="-120"/>
              </a:rPr>
              <a:t>PQ-</a:t>
            </a:r>
            <a:r>
              <a:rPr lang="en-US" sz="1250" b="1" dirty="0" err="1">
                <a:solidFill>
                  <a:srgbClr val="17263D"/>
                </a:solidFill>
                <a:latin typeface="Calibri" pitchFamily="34" charset="0"/>
                <a:ea typeface="Calibri" pitchFamily="34" charset="-122"/>
                <a:cs typeface="Calibri" pitchFamily="34" charset="-120"/>
              </a:rPr>
              <a:t>Schlüsseltausch</a:t>
            </a:r>
            <a:r>
              <a:rPr lang="en-US" sz="1250" b="1" dirty="0">
                <a:solidFill>
                  <a:srgbClr val="17263D"/>
                </a:solidFill>
                <a:latin typeface="Calibri" pitchFamily="34" charset="0"/>
                <a:ea typeface="Calibri" pitchFamily="34" charset="-122"/>
                <a:cs typeface="Calibri" pitchFamily="34" charset="-120"/>
              </a:rPr>
              <a:t> komplett</a:t>
            </a:r>
            <a:endParaRPr lang="en-US" sz="1250" dirty="0"/>
          </a:p>
        </p:txBody>
      </p:sp>
      <p:sp>
        <p:nvSpPr>
          <p:cNvPr id="6" name="Text 4"/>
          <p:cNvSpPr/>
          <p:nvPr/>
        </p:nvSpPr>
        <p:spPr>
          <a:xfrm>
            <a:off x="731520" y="3017520"/>
            <a:ext cx="2194560" cy="457200"/>
          </a:xfrm>
          <a:prstGeom prst="rect">
            <a:avLst/>
          </a:prstGeom>
          <a:noFill/>
          <a:ln/>
        </p:spPr>
        <p:txBody>
          <a:bodyPr wrap="square" rtlCol="0" anchor="t"/>
          <a:lstStyle/>
          <a:p>
            <a:pPr marL="0" indent="0" algn="ctr">
              <a:buNone/>
            </a:pPr>
            <a:r>
              <a:rPr lang="en-US" sz="1050" dirty="0">
                <a:solidFill>
                  <a:srgbClr val="5B6B82"/>
                </a:solidFill>
                <a:latin typeface="Calibri" pitchFamily="34" charset="0"/>
                <a:ea typeface="Calibri" pitchFamily="34" charset="-122"/>
                <a:cs typeface="Calibri" pitchFamily="34" charset="-120"/>
              </a:rPr>
              <a:t>Ziel: 500 ms. 100x besser.</a:t>
            </a:r>
            <a:endParaRPr lang="en-US" sz="1050" dirty="0"/>
          </a:p>
        </p:txBody>
      </p:sp>
      <p:sp>
        <p:nvSpPr>
          <p:cNvPr id="7" name="Shape 5"/>
          <p:cNvSpPr/>
          <p:nvPr/>
        </p:nvSpPr>
        <p:spPr>
          <a:xfrm>
            <a:off x="3337560" y="1234440"/>
            <a:ext cx="2560320" cy="2331720"/>
          </a:xfrm>
          <a:prstGeom prst="roundRect">
            <a:avLst>
              <a:gd name="adj" fmla="val 3922"/>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8" name="Text 6"/>
          <p:cNvSpPr/>
          <p:nvPr/>
        </p:nvSpPr>
        <p:spPr>
          <a:xfrm>
            <a:off x="3337560" y="1463040"/>
            <a:ext cx="2560320" cy="914400"/>
          </a:xfrm>
          <a:prstGeom prst="rect">
            <a:avLst/>
          </a:prstGeom>
          <a:noFill/>
          <a:ln/>
        </p:spPr>
        <p:txBody>
          <a:bodyPr wrap="square" rtlCol="0" anchor="ctr"/>
          <a:lstStyle/>
          <a:p>
            <a:pPr marL="0" indent="0" algn="ctr">
              <a:buNone/>
            </a:pPr>
            <a:r>
              <a:rPr lang="en-US" sz="4400" b="1" dirty="0">
                <a:solidFill>
                  <a:srgbClr val="0A1F3C"/>
                </a:solidFill>
                <a:latin typeface="Cambria" pitchFamily="34" charset="0"/>
                <a:ea typeface="Cambria" pitchFamily="34" charset="-122"/>
                <a:cs typeface="Cambria" pitchFamily="34" charset="-120"/>
              </a:rPr>
              <a:t>0.5 ms</a:t>
            </a:r>
            <a:endParaRPr lang="en-US" sz="4400" dirty="0"/>
          </a:p>
        </p:txBody>
      </p:sp>
      <p:sp>
        <p:nvSpPr>
          <p:cNvPr id="9" name="Text 7"/>
          <p:cNvSpPr/>
          <p:nvPr/>
        </p:nvSpPr>
        <p:spPr>
          <a:xfrm>
            <a:off x="3520440" y="2423160"/>
            <a:ext cx="2194560" cy="594360"/>
          </a:xfrm>
          <a:prstGeom prst="rect">
            <a:avLst/>
          </a:prstGeom>
          <a:noFill/>
          <a:ln/>
        </p:spPr>
        <p:txBody>
          <a:bodyPr wrap="square" rtlCol="0" anchor="t"/>
          <a:lstStyle/>
          <a:p>
            <a:pPr marL="0" indent="0" algn="ctr">
              <a:buNone/>
            </a:pPr>
            <a:r>
              <a:rPr lang="en-US" sz="1250" b="1" dirty="0">
                <a:solidFill>
                  <a:srgbClr val="17263D"/>
                </a:solidFill>
                <a:latin typeface="Calibri" pitchFamily="34" charset="0"/>
                <a:ea typeface="Calibri" pitchFamily="34" charset="-122"/>
                <a:cs typeface="Calibri" pitchFamily="34" charset="-120"/>
              </a:rPr>
              <a:t>Login-</a:t>
            </a:r>
            <a:r>
              <a:rPr lang="en-US" sz="1250" b="1" dirty="0" err="1">
                <a:solidFill>
                  <a:srgbClr val="17263D"/>
                </a:solidFill>
                <a:latin typeface="Calibri" pitchFamily="34" charset="0"/>
                <a:ea typeface="Calibri" pitchFamily="34" charset="-122"/>
                <a:cs typeface="Calibri" pitchFamily="34" charset="-120"/>
              </a:rPr>
              <a:t>Nachweis</a:t>
            </a:r>
            <a:r>
              <a:rPr lang="en-US" sz="1250" b="1" dirty="0">
                <a:solidFill>
                  <a:srgbClr val="17263D"/>
                </a:solidFill>
                <a:latin typeface="Calibri" pitchFamily="34" charset="0"/>
                <a:ea typeface="Calibri" pitchFamily="34" charset="-122"/>
                <a:cs typeface="Calibri" pitchFamily="34" charset="-120"/>
              </a:rPr>
              <a:t> </a:t>
            </a:r>
            <a:r>
              <a:rPr lang="en-US" sz="1250" b="1" dirty="0" err="1">
                <a:solidFill>
                  <a:srgbClr val="17263D"/>
                </a:solidFill>
                <a:latin typeface="Calibri" pitchFamily="34" charset="0"/>
                <a:ea typeface="Calibri" pitchFamily="34" charset="-122"/>
                <a:cs typeface="Calibri" pitchFamily="34" charset="-120"/>
              </a:rPr>
              <a:t>prüfen</a:t>
            </a:r>
            <a:r>
              <a:rPr lang="en-US" sz="1250" b="1" dirty="0">
                <a:solidFill>
                  <a:srgbClr val="17263D"/>
                </a:solidFill>
                <a:latin typeface="Calibri" pitchFamily="34" charset="0"/>
                <a:ea typeface="Calibri" pitchFamily="34" charset="-122"/>
                <a:cs typeface="Calibri" pitchFamily="34" charset="-120"/>
              </a:rPr>
              <a:t> (ML-DSA-65)</a:t>
            </a:r>
            <a:endParaRPr lang="en-US" sz="1250" dirty="0"/>
          </a:p>
        </p:txBody>
      </p:sp>
      <p:sp>
        <p:nvSpPr>
          <p:cNvPr id="10" name="Text 8"/>
          <p:cNvSpPr/>
          <p:nvPr/>
        </p:nvSpPr>
        <p:spPr>
          <a:xfrm>
            <a:off x="3520440" y="3017520"/>
            <a:ext cx="2194560" cy="457200"/>
          </a:xfrm>
          <a:prstGeom prst="rect">
            <a:avLst/>
          </a:prstGeom>
          <a:noFill/>
          <a:ln/>
        </p:spPr>
        <p:txBody>
          <a:bodyPr wrap="square" rtlCol="0" anchor="t"/>
          <a:lstStyle/>
          <a:p>
            <a:pPr marL="0" indent="0" algn="ctr">
              <a:buNone/>
            </a:pPr>
            <a:r>
              <a:rPr lang="en-US" sz="1050" dirty="0">
                <a:solidFill>
                  <a:srgbClr val="5B6B82"/>
                </a:solidFill>
                <a:latin typeface="Calibri" pitchFamily="34" charset="0"/>
                <a:ea typeface="Calibri" pitchFamily="34" charset="-122"/>
                <a:cs typeface="Calibri" pitchFamily="34" charset="-120"/>
              </a:rPr>
              <a:t>Ziel: 10 ms. 20x besser.</a:t>
            </a:r>
            <a:endParaRPr lang="en-US" sz="1050" dirty="0"/>
          </a:p>
        </p:txBody>
      </p:sp>
      <p:sp>
        <p:nvSpPr>
          <p:cNvPr id="11" name="Shape 9"/>
          <p:cNvSpPr/>
          <p:nvPr/>
        </p:nvSpPr>
        <p:spPr>
          <a:xfrm>
            <a:off x="6126480" y="1234440"/>
            <a:ext cx="2560320" cy="2331720"/>
          </a:xfrm>
          <a:prstGeom prst="roundRect">
            <a:avLst>
              <a:gd name="adj" fmla="val 3922"/>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12" name="Text 10"/>
          <p:cNvSpPr/>
          <p:nvPr/>
        </p:nvSpPr>
        <p:spPr>
          <a:xfrm>
            <a:off x="6126480" y="1463040"/>
            <a:ext cx="2560320" cy="914400"/>
          </a:xfrm>
          <a:prstGeom prst="rect">
            <a:avLst/>
          </a:prstGeom>
          <a:noFill/>
          <a:ln/>
        </p:spPr>
        <p:txBody>
          <a:bodyPr wrap="square" rtlCol="0" anchor="ctr"/>
          <a:lstStyle/>
          <a:p>
            <a:pPr marL="0" indent="0" algn="ctr">
              <a:buNone/>
            </a:pPr>
            <a:r>
              <a:rPr lang="en-US" sz="4400" b="1" dirty="0">
                <a:solidFill>
                  <a:srgbClr val="E8A13D"/>
                </a:solidFill>
                <a:latin typeface="Cambria" pitchFamily="34" charset="0"/>
                <a:ea typeface="Cambria" pitchFamily="34" charset="-122"/>
                <a:cs typeface="Cambria" pitchFamily="34" charset="-120"/>
              </a:rPr>
              <a:t>0.2 ms</a:t>
            </a:r>
            <a:endParaRPr lang="en-US" sz="4400" dirty="0"/>
          </a:p>
        </p:txBody>
      </p:sp>
      <p:sp>
        <p:nvSpPr>
          <p:cNvPr id="13" name="Text 11"/>
          <p:cNvSpPr/>
          <p:nvPr/>
        </p:nvSpPr>
        <p:spPr>
          <a:xfrm>
            <a:off x="6309360" y="2423160"/>
            <a:ext cx="2194560" cy="594360"/>
          </a:xfrm>
          <a:prstGeom prst="rect">
            <a:avLst/>
          </a:prstGeom>
          <a:noFill/>
          <a:ln/>
        </p:spPr>
        <p:txBody>
          <a:bodyPr wrap="square" rtlCol="0" anchor="t"/>
          <a:lstStyle/>
          <a:p>
            <a:pPr marL="0" indent="0" algn="ctr">
              <a:buNone/>
            </a:pPr>
            <a:r>
              <a:rPr lang="en-US" sz="1250" b="1" dirty="0" err="1">
                <a:solidFill>
                  <a:srgbClr val="17263D"/>
                </a:solidFill>
                <a:latin typeface="Calibri" pitchFamily="34" charset="0"/>
                <a:ea typeface="Calibri" pitchFamily="34" charset="-122"/>
                <a:cs typeface="Calibri" pitchFamily="34" charset="-120"/>
              </a:rPr>
              <a:t>Verschlüsselung</a:t>
            </a:r>
            <a:r>
              <a:rPr lang="en-US" sz="1250" b="1" dirty="0">
                <a:solidFill>
                  <a:srgbClr val="17263D"/>
                </a:solidFill>
                <a:latin typeface="Calibri" pitchFamily="34" charset="0"/>
                <a:ea typeface="Calibri" pitchFamily="34" charset="-122"/>
                <a:cs typeface="Calibri" pitchFamily="34" charset="-120"/>
              </a:rPr>
              <a:t> pro Anfrage</a:t>
            </a:r>
            <a:endParaRPr lang="en-US" sz="1250" dirty="0"/>
          </a:p>
        </p:txBody>
      </p:sp>
      <p:sp>
        <p:nvSpPr>
          <p:cNvPr id="14" name="Text 12"/>
          <p:cNvSpPr/>
          <p:nvPr/>
        </p:nvSpPr>
        <p:spPr>
          <a:xfrm>
            <a:off x="6309360" y="3017520"/>
            <a:ext cx="2194560" cy="457200"/>
          </a:xfrm>
          <a:prstGeom prst="rect">
            <a:avLst/>
          </a:prstGeom>
          <a:noFill/>
          <a:ln/>
        </p:spPr>
        <p:txBody>
          <a:bodyPr wrap="square" rtlCol="0" anchor="t"/>
          <a:lstStyle/>
          <a:p>
            <a:pPr marL="0" indent="0" algn="ctr">
              <a:buNone/>
            </a:pPr>
            <a:r>
              <a:rPr lang="en-US" sz="1050" dirty="0">
                <a:solidFill>
                  <a:srgbClr val="5B6B82"/>
                </a:solidFill>
                <a:latin typeface="Calibri" pitchFamily="34" charset="0"/>
                <a:ea typeface="Calibri" pitchFamily="34" charset="-122"/>
                <a:cs typeface="Calibri" pitchFamily="34" charset="-120"/>
              </a:rPr>
              <a:t>Weniger als der Web-Server selbst braucht.</a:t>
            </a:r>
            <a:endParaRPr lang="en-US" sz="1050" dirty="0"/>
          </a:p>
        </p:txBody>
      </p:sp>
      <p:sp>
        <p:nvSpPr>
          <p:cNvPr id="15" name="Text 13"/>
          <p:cNvSpPr/>
          <p:nvPr/>
        </p:nvSpPr>
        <p:spPr>
          <a:xfrm>
            <a:off x="548640" y="3977640"/>
            <a:ext cx="8046720" cy="365760"/>
          </a:xfrm>
          <a:prstGeom prst="rect">
            <a:avLst/>
          </a:prstGeom>
          <a:noFill/>
          <a:ln/>
        </p:spPr>
        <p:txBody>
          <a:bodyPr wrap="square" rtlCol="0" anchor="ctr"/>
          <a:lstStyle/>
          <a:p>
            <a:pPr marL="0" indent="0" algn="ctr">
              <a:buNone/>
            </a:pPr>
            <a:r>
              <a:rPr lang="en-US" sz="1300" dirty="0">
                <a:solidFill>
                  <a:srgbClr val="5B6B82"/>
                </a:solidFill>
                <a:latin typeface="Calibri" pitchFamily="34" charset="0"/>
                <a:ea typeface="Calibri" pitchFamily="34" charset="-122"/>
                <a:cs typeface="Calibri" pitchFamily="34" charset="-120"/>
              </a:rPr>
              <a:t>Reproduzierbare Benchmarks (P95/P50), Skripte im Repo.  </a:t>
            </a:r>
            <a:r>
              <a:rPr lang="en-US" sz="1300" b="1" dirty="0">
                <a:solidFill>
                  <a:srgbClr val="0E7A57"/>
                </a:solidFill>
                <a:latin typeface="Calibri" pitchFamily="34" charset="0"/>
                <a:ea typeface="Calibri" pitchFamily="34" charset="-122"/>
                <a:cs typeface="Calibri" pitchFamily="34" charset="-120"/>
              </a:rPr>
              <a:t>420 automatisierte Tests, alle gruen.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marL="0" indent="0">
              <a:buNone/>
            </a:pPr>
            <a:r>
              <a:rPr lang="en-US" sz="2900" b="1" dirty="0">
                <a:solidFill>
                  <a:srgbClr val="17263D"/>
                </a:solidFill>
                <a:latin typeface="Cambria" pitchFamily="34" charset="0"/>
                <a:ea typeface="Cambria" pitchFamily="34" charset="-122"/>
                <a:cs typeface="Cambria" pitchFamily="34" charset="-120"/>
              </a:rPr>
              <a:t>Ehrliche Einordnung: Wann braucht es das?</a:t>
            </a:r>
            <a:endParaRPr lang="en-US" sz="2900" dirty="0"/>
          </a:p>
        </p:txBody>
      </p:sp>
      <p:sp>
        <p:nvSpPr>
          <p:cNvPr id="3" name="Shape 1"/>
          <p:cNvSpPr/>
          <p:nvPr/>
        </p:nvSpPr>
        <p:spPr>
          <a:xfrm>
            <a:off x="548640" y="1143000"/>
            <a:ext cx="3931920" cy="3063240"/>
          </a:xfrm>
          <a:prstGeom prst="roundRect">
            <a:avLst>
              <a:gd name="adj" fmla="val 2985"/>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4" name="Text 2"/>
          <p:cNvSpPr/>
          <p:nvPr/>
        </p:nvSpPr>
        <p:spPr>
          <a:xfrm>
            <a:off x="777240" y="1325880"/>
            <a:ext cx="3474720" cy="320040"/>
          </a:xfrm>
          <a:prstGeom prst="rect">
            <a:avLst/>
          </a:prstGeom>
          <a:noFill/>
          <a:ln/>
        </p:spPr>
        <p:txBody>
          <a:bodyPr wrap="square" lIns="0" tIns="0" rIns="0" bIns="0" rtlCol="0" anchor="ctr"/>
          <a:lstStyle/>
          <a:p>
            <a:pPr marL="0" indent="0">
              <a:buNone/>
            </a:pPr>
            <a:r>
              <a:rPr lang="en-US" sz="1500" b="1" dirty="0">
                <a:solidFill>
                  <a:srgbClr val="17263D"/>
                </a:solidFill>
                <a:latin typeface="Calibri" pitchFamily="34" charset="0"/>
                <a:ea typeface="Calibri" pitchFamily="34" charset="-122"/>
                <a:cs typeface="Calibri" pitchFamily="34" charset="-120"/>
              </a:rPr>
              <a:t>Der Markt loest es gerade selbst</a:t>
            </a:r>
            <a:endParaRPr lang="en-US" sz="1500" dirty="0"/>
          </a:p>
        </p:txBody>
      </p:sp>
      <p:sp>
        <p:nvSpPr>
          <p:cNvPr id="5" name="Text 3"/>
          <p:cNvSpPr/>
          <p:nvPr/>
        </p:nvSpPr>
        <p:spPr>
          <a:xfrm>
            <a:off x="777240" y="1737360"/>
            <a:ext cx="3474720" cy="2286000"/>
          </a:xfrm>
          <a:prstGeom prst="rect">
            <a:avLst/>
          </a:prstGeom>
          <a:noFill/>
          <a:ln/>
        </p:spPr>
        <p:txBody>
          <a:bodyPr wrap="square" rtlCol="0" anchor="t"/>
          <a:lstStyle/>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Browser sprechen PQ-TLS seit 2024</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iOS 26: von Haus aus dabei (live gezeigt)</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Android: noch offen, ohne Zeitplan</a:t>
            </a:r>
            <a:endParaRPr lang="en-US" sz="1250" dirty="0"/>
          </a:p>
          <a:p>
            <a:pPr marL="342900" indent="-342900">
              <a:spcAft>
                <a:spcPts val="800"/>
              </a:spcAft>
              <a:buSzPct val="100000"/>
              <a:buChar char="•"/>
            </a:pPr>
            <a:r>
              <a:rPr lang="en-US" sz="1250" b="1" dirty="0">
                <a:solidFill>
                  <a:srgbClr val="17263D"/>
                </a:solidFill>
                <a:latin typeface="Calibri" pitchFamily="34" charset="0"/>
                <a:ea typeface="Calibri" pitchFamily="34" charset="-122"/>
                <a:cs typeface="Calibri" pitchFamily="34" charset="-120"/>
              </a:rPr>
              <a:t>Fuer die meisten Apps gilt: Plattform-Rollout nutzen statt eigene Krypto bauen</a:t>
            </a:r>
            <a:endParaRPr lang="en-US" sz="1250" dirty="0"/>
          </a:p>
        </p:txBody>
      </p:sp>
      <p:sp>
        <p:nvSpPr>
          <p:cNvPr id="6" name="Shape 4"/>
          <p:cNvSpPr/>
          <p:nvPr/>
        </p:nvSpPr>
        <p:spPr>
          <a:xfrm>
            <a:off x="4663440" y="1143000"/>
            <a:ext cx="3931920" cy="3063240"/>
          </a:xfrm>
          <a:prstGeom prst="roundRect">
            <a:avLst>
              <a:gd name="adj" fmla="val 2985"/>
            </a:avLst>
          </a:prstGeom>
          <a:solidFill>
            <a:srgbClr val="EAF7F1"/>
          </a:solidFill>
          <a:ln/>
          <a:effectLst>
            <a:outerShdw blurRad="101600" dist="38100" dir="2700000" algn="bl" rotWithShape="0">
              <a:srgbClr val="1A2A44">
                <a:alpha val="18000"/>
              </a:srgbClr>
            </a:outerShdw>
          </a:effectLst>
        </p:spPr>
        <p:txBody>
          <a:bodyPr/>
          <a:lstStyle/>
          <a:p>
            <a:endParaRPr lang="en-GB"/>
          </a:p>
        </p:txBody>
      </p:sp>
      <p:sp>
        <p:nvSpPr>
          <p:cNvPr id="7" name="Text 5"/>
          <p:cNvSpPr/>
          <p:nvPr/>
        </p:nvSpPr>
        <p:spPr>
          <a:xfrm>
            <a:off x="4892040" y="1325880"/>
            <a:ext cx="3474720" cy="320040"/>
          </a:xfrm>
          <a:prstGeom prst="rect">
            <a:avLst/>
          </a:prstGeom>
          <a:noFill/>
          <a:ln/>
        </p:spPr>
        <p:txBody>
          <a:bodyPr wrap="square" lIns="0" tIns="0" rIns="0" bIns="0" rtlCol="0" anchor="ctr"/>
          <a:lstStyle/>
          <a:p>
            <a:pPr marL="0" indent="0">
              <a:buNone/>
            </a:pPr>
            <a:r>
              <a:rPr lang="en-US" sz="1500" b="1" dirty="0">
                <a:solidFill>
                  <a:srgbClr val="0E7A57"/>
                </a:solidFill>
                <a:latin typeface="Calibri" pitchFamily="34" charset="0"/>
                <a:ea typeface="Calibri" pitchFamily="34" charset="-122"/>
                <a:cs typeface="Calibri" pitchFamily="34" charset="-120"/>
              </a:rPr>
              <a:t>Wann eine eigene Schicht richtig ist</a:t>
            </a:r>
            <a:endParaRPr lang="en-US" sz="1500" dirty="0"/>
          </a:p>
        </p:txBody>
      </p:sp>
      <p:sp>
        <p:nvSpPr>
          <p:cNvPr id="8" name="Text 6"/>
          <p:cNvSpPr/>
          <p:nvPr/>
        </p:nvSpPr>
        <p:spPr>
          <a:xfrm>
            <a:off x="4892040" y="1737360"/>
            <a:ext cx="3474720" cy="2286000"/>
          </a:xfrm>
          <a:prstGeom prst="rect">
            <a:avLst/>
          </a:prstGeom>
          <a:noFill/>
          <a:ln/>
        </p:spPr>
        <p:txBody>
          <a:bodyPr wrap="square" rtlCol="0" anchor="t"/>
          <a:lstStyle/>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Heute schon alle Geraete abdecken (Android-Luecke)</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Schutz ueber das TLS-Ende hinaus (Ende-zu-Ende)</a:t>
            </a:r>
            <a:endParaRPr lang="en-US" sz="1250" dirty="0"/>
          </a:p>
          <a:p>
            <a:pPr marL="342900" indent="-342900">
              <a:spcAft>
                <a:spcPts val="800"/>
              </a:spcAft>
              <a:buSzPct val="100000"/>
              <a:buChar char="•"/>
            </a:pPr>
            <a:r>
              <a:rPr lang="en-US" sz="1250" dirty="0">
                <a:solidFill>
                  <a:srgbClr val="17263D"/>
                </a:solidFill>
                <a:latin typeface="Calibri" pitchFamily="34" charset="0"/>
                <a:ea typeface="Calibri" pitchFamily="34" charset="-122"/>
                <a:cs typeface="Calibri" pitchFamily="34" charset="-120"/>
              </a:rPr>
              <a:t>Daten, die 2035 noch geheim sein muessen</a:t>
            </a:r>
            <a:endParaRPr lang="en-US" sz="1250" dirty="0"/>
          </a:p>
          <a:p>
            <a:pPr marL="342900" indent="-342900">
              <a:spcAft>
                <a:spcPts val="800"/>
              </a:spcAft>
              <a:buSzPct val="100000"/>
              <a:buChar char="•"/>
            </a:pPr>
            <a:r>
              <a:rPr lang="en-US" sz="1250" b="1" dirty="0">
                <a:solidFill>
                  <a:srgbClr val="17263D"/>
                </a:solidFill>
                <a:latin typeface="Calibri" pitchFamily="34" charset="0"/>
                <a:ea typeface="Calibri" pitchFamily="34" charset="-122"/>
                <a:cs typeface="Calibri" pitchFamily="34" charset="-120"/>
              </a:rPr>
              <a:t>Genau so machen es Signal und Apple iMessage</a:t>
            </a:r>
            <a:endParaRPr lang="en-US" sz="1250" dirty="0"/>
          </a:p>
        </p:txBody>
      </p:sp>
      <p:sp>
        <p:nvSpPr>
          <p:cNvPr id="9" name="Text 7"/>
          <p:cNvSpPr/>
          <p:nvPr/>
        </p:nvSpPr>
        <p:spPr>
          <a:xfrm>
            <a:off x="548640" y="4434840"/>
            <a:ext cx="8046720" cy="365760"/>
          </a:xfrm>
          <a:prstGeom prst="rect">
            <a:avLst/>
          </a:prstGeom>
          <a:noFill/>
          <a:ln/>
        </p:spPr>
        <p:txBody>
          <a:bodyPr wrap="square" rtlCol="0" anchor="ctr"/>
          <a:lstStyle/>
          <a:p>
            <a:pPr marL="0" indent="0" algn="ctr">
              <a:buNone/>
            </a:pPr>
            <a:r>
              <a:rPr lang="en-US" sz="1300" i="1" dirty="0">
                <a:solidFill>
                  <a:srgbClr val="5B6B82"/>
                </a:solidFill>
                <a:latin typeface="Calibri" pitchFamily="34" charset="0"/>
                <a:ea typeface="Calibri" pitchFamily="34" charset="-122"/>
                <a:cs typeface="Calibri" pitchFamily="34" charset="-120"/>
              </a:rPr>
              <a:t>Mein System zeigt beides: den Plattform-Weg (Schicht 1) und den Ende-zu-Ende-Weg (Schicht 2).</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F3C"/>
        </a:solidFill>
        <a:effectLst/>
      </p:bgPr>
    </p:bg>
    <p:spTree>
      <p:nvGrpSpPr>
        <p:cNvPr id="1" name=""/>
        <p:cNvGrpSpPr/>
        <p:nvPr/>
      </p:nvGrpSpPr>
      <p:grpSpPr>
        <a:xfrm>
          <a:off x="0" y="0"/>
          <a:ext cx="0" cy="0"/>
          <a:chOff x="0" y="0"/>
          <a:chExt cx="0" cy="0"/>
        </a:xfrm>
      </p:grpSpPr>
      <p:sp>
        <p:nvSpPr>
          <p:cNvPr id="2" name="Text 0"/>
          <p:cNvSpPr/>
          <p:nvPr/>
        </p:nvSpPr>
        <p:spPr>
          <a:xfrm>
            <a:off x="640080" y="1371600"/>
            <a:ext cx="7863840" cy="1554480"/>
          </a:xfrm>
          <a:prstGeom prst="rect">
            <a:avLst/>
          </a:prstGeom>
          <a:noFill/>
          <a:ln/>
        </p:spPr>
        <p:txBody>
          <a:bodyPr wrap="square" rtlCol="0" anchor="ctr"/>
          <a:lstStyle/>
          <a:p>
            <a:pPr marL="0" indent="0">
              <a:lnSpc>
                <a:spcPct val="120000"/>
              </a:lnSpc>
              <a:buNone/>
            </a:pPr>
            <a:r>
              <a:rPr lang="en-US" sz="3200" b="1" dirty="0">
                <a:solidFill>
                  <a:srgbClr val="FFFFFF"/>
                </a:solidFill>
                <a:latin typeface="Cambria" pitchFamily="34" charset="0"/>
                <a:ea typeface="Cambria" pitchFamily="34" charset="-122"/>
                <a:cs typeface="Cambria" pitchFamily="34" charset="-120"/>
              </a:rPr>
              <a:t>Quantensicherheit ist kein Zukunftsprojekt.</a:t>
            </a:r>
            <a:endParaRPr lang="en-US" sz="3200" dirty="0"/>
          </a:p>
          <a:p>
            <a:pPr marL="0" indent="0">
              <a:lnSpc>
                <a:spcPct val="120000"/>
              </a:lnSpc>
              <a:buNone/>
            </a:pPr>
            <a:r>
              <a:rPr lang="en-US" sz="3200" b="1" dirty="0">
                <a:solidFill>
                  <a:srgbClr val="21C08B"/>
                </a:solidFill>
                <a:latin typeface="Cambria" pitchFamily="34" charset="0"/>
                <a:ea typeface="Cambria" pitchFamily="34" charset="-122"/>
                <a:cs typeface="Cambria" pitchFamily="34" charset="-120"/>
              </a:rPr>
              <a:t>Sie lief gerade auf Ihrem Handy.</a:t>
            </a:r>
            <a:endParaRPr lang="en-US" sz="3200" dirty="0"/>
          </a:p>
        </p:txBody>
      </p:sp>
      <p:sp>
        <p:nvSpPr>
          <p:cNvPr id="3" name="Text 1"/>
          <p:cNvSpPr/>
          <p:nvPr/>
        </p:nvSpPr>
        <p:spPr>
          <a:xfrm>
            <a:off x="640080" y="3200400"/>
            <a:ext cx="7863840" cy="365760"/>
          </a:xfrm>
          <a:prstGeom prst="rect">
            <a:avLst/>
          </a:prstGeom>
          <a:noFill/>
          <a:ln/>
        </p:spPr>
        <p:txBody>
          <a:bodyPr wrap="square" rtlCol="0" anchor="ctr"/>
          <a:lstStyle/>
          <a:p>
            <a:pPr marL="0" indent="0">
              <a:buNone/>
            </a:pPr>
            <a:r>
              <a:rPr lang="en-US" sz="1300" dirty="0">
                <a:solidFill>
                  <a:srgbClr val="8FA3C2"/>
                </a:solidFill>
                <a:latin typeface="Calibri" pitchFamily="34" charset="0"/>
                <a:ea typeface="Calibri" pitchFamily="34" charset="-122"/>
                <a:cs typeface="Calibri" pitchFamily="34" charset="-120"/>
              </a:rPr>
              <a:t>4 Sprints Scrum  |  60+ User Stories  |  420 Tests  |  vollstaendig dokumentiert im Repo</a:t>
            </a:r>
            <a:endParaRPr lang="en-US" sz="1300" dirty="0"/>
          </a:p>
        </p:txBody>
      </p:sp>
      <p:sp>
        <p:nvSpPr>
          <p:cNvPr id="4" name="Text 2"/>
          <p:cNvSpPr/>
          <p:nvPr/>
        </p:nvSpPr>
        <p:spPr>
          <a:xfrm>
            <a:off x="640080" y="3977640"/>
            <a:ext cx="786384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Fragen?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457200"/>
          </a:xfrm>
          <a:prstGeom prst="rect">
            <a:avLst/>
          </a:prstGeom>
          <a:noFill/>
          <a:ln/>
        </p:spPr>
        <p:txBody>
          <a:bodyPr wrap="square" rtlCol="0" anchor="ctr"/>
          <a:lstStyle/>
          <a:p>
            <a:pPr marL="0" indent="0">
              <a:buNone/>
            </a:pPr>
            <a:r>
              <a:rPr lang="en-US" sz="2500" b="1" dirty="0">
                <a:solidFill>
                  <a:srgbClr val="17263D"/>
                </a:solidFill>
                <a:latin typeface="Cambria" pitchFamily="34" charset="0"/>
                <a:ea typeface="Cambria" pitchFamily="34" charset="-122"/>
                <a:cs typeface="Cambria" pitchFamily="34" charset="-120"/>
              </a:rPr>
              <a:t>Backup: Der PQ-Handshake im Detail</a:t>
            </a:r>
            <a:endParaRPr lang="en-US" sz="2500" dirty="0"/>
          </a:p>
        </p:txBody>
      </p:sp>
      <p:sp>
        <p:nvSpPr>
          <p:cNvPr id="3" name="Shape 1"/>
          <p:cNvSpPr/>
          <p:nvPr/>
        </p:nvSpPr>
        <p:spPr>
          <a:xfrm>
            <a:off x="1508760" y="868680"/>
            <a:ext cx="1737360" cy="457200"/>
          </a:xfrm>
          <a:prstGeom prst="roundRect">
            <a:avLst>
              <a:gd name="adj" fmla="val 16000"/>
            </a:avLst>
          </a:prstGeom>
          <a:solidFill>
            <a:srgbClr val="0A1F3C"/>
          </a:solidFill>
          <a:ln/>
        </p:spPr>
        <p:txBody>
          <a:bodyPr/>
          <a:lstStyle/>
          <a:p>
            <a:endParaRPr lang="en-GB"/>
          </a:p>
        </p:txBody>
      </p:sp>
      <p:sp>
        <p:nvSpPr>
          <p:cNvPr id="4" name="Text 2"/>
          <p:cNvSpPr/>
          <p:nvPr/>
        </p:nvSpPr>
        <p:spPr>
          <a:xfrm>
            <a:off x="1508760" y="868680"/>
            <a:ext cx="17373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iPhone-App</a:t>
            </a:r>
            <a:endParaRPr lang="en-US" sz="1300" dirty="0"/>
          </a:p>
        </p:txBody>
      </p:sp>
      <p:sp>
        <p:nvSpPr>
          <p:cNvPr id="5" name="Shape 3"/>
          <p:cNvSpPr/>
          <p:nvPr/>
        </p:nvSpPr>
        <p:spPr>
          <a:xfrm>
            <a:off x="5897880" y="868680"/>
            <a:ext cx="1737360" cy="457200"/>
          </a:xfrm>
          <a:prstGeom prst="roundRect">
            <a:avLst>
              <a:gd name="adj" fmla="val 16000"/>
            </a:avLst>
          </a:prstGeom>
          <a:solidFill>
            <a:srgbClr val="0A1F3C"/>
          </a:solidFill>
          <a:ln/>
        </p:spPr>
        <p:txBody>
          <a:bodyPr/>
          <a:lstStyle/>
          <a:p>
            <a:endParaRPr lang="en-GB"/>
          </a:p>
        </p:txBody>
      </p:sp>
      <p:sp>
        <p:nvSpPr>
          <p:cNvPr id="6" name="Text 4"/>
          <p:cNvSpPr/>
          <p:nvPr/>
        </p:nvSpPr>
        <p:spPr>
          <a:xfrm>
            <a:off x="5897880" y="868680"/>
            <a:ext cx="17373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Auth-Service</a:t>
            </a:r>
            <a:endParaRPr lang="en-US" sz="1300" dirty="0"/>
          </a:p>
        </p:txBody>
      </p:sp>
      <p:sp>
        <p:nvSpPr>
          <p:cNvPr id="7" name="Shape 5"/>
          <p:cNvSpPr/>
          <p:nvPr/>
        </p:nvSpPr>
        <p:spPr>
          <a:xfrm>
            <a:off x="2377440" y="1325880"/>
            <a:ext cx="0" cy="3429000"/>
          </a:xfrm>
          <a:prstGeom prst="line">
            <a:avLst/>
          </a:prstGeom>
          <a:noFill/>
          <a:ln w="19050">
            <a:solidFill>
              <a:srgbClr val="B9C8DE"/>
            </a:solidFill>
            <a:prstDash val="dash"/>
          </a:ln>
        </p:spPr>
        <p:txBody>
          <a:bodyPr/>
          <a:lstStyle/>
          <a:p>
            <a:endParaRPr lang="en-GB"/>
          </a:p>
        </p:txBody>
      </p:sp>
      <p:sp>
        <p:nvSpPr>
          <p:cNvPr id="8" name="Shape 6"/>
          <p:cNvSpPr/>
          <p:nvPr/>
        </p:nvSpPr>
        <p:spPr>
          <a:xfrm>
            <a:off x="6766560" y="1325880"/>
            <a:ext cx="0" cy="3429000"/>
          </a:xfrm>
          <a:prstGeom prst="line">
            <a:avLst/>
          </a:prstGeom>
          <a:noFill/>
          <a:ln w="19050">
            <a:solidFill>
              <a:srgbClr val="B9C8DE"/>
            </a:solidFill>
            <a:prstDash val="dash"/>
          </a:ln>
        </p:spPr>
        <p:txBody>
          <a:bodyPr/>
          <a:lstStyle/>
          <a:p>
            <a:endParaRPr lang="en-GB"/>
          </a:p>
        </p:txBody>
      </p:sp>
      <p:sp>
        <p:nvSpPr>
          <p:cNvPr id="9" name="Shape 7"/>
          <p:cNvSpPr/>
          <p:nvPr/>
        </p:nvSpPr>
        <p:spPr>
          <a:xfrm>
            <a:off x="2377440" y="1783080"/>
            <a:ext cx="4389120" cy="0"/>
          </a:xfrm>
          <a:prstGeom prst="line">
            <a:avLst/>
          </a:prstGeom>
          <a:noFill/>
          <a:ln w="28575">
            <a:solidFill>
              <a:srgbClr val="E8A13D"/>
            </a:solidFill>
            <a:prstDash val="solid"/>
            <a:tailEnd type="triangle"/>
          </a:ln>
        </p:spPr>
        <p:txBody>
          <a:bodyPr/>
          <a:lstStyle/>
          <a:p>
            <a:endParaRPr lang="en-GB"/>
          </a:p>
        </p:txBody>
      </p:sp>
      <p:sp>
        <p:nvSpPr>
          <p:cNvPr id="10" name="Text 8"/>
          <p:cNvSpPr/>
          <p:nvPr/>
        </p:nvSpPr>
        <p:spPr>
          <a:xfrm>
            <a:off x="2560320" y="1490472"/>
            <a:ext cx="4023360" cy="274320"/>
          </a:xfrm>
          <a:prstGeom prst="rect">
            <a:avLst/>
          </a:prstGeom>
          <a:noFill/>
          <a:ln/>
        </p:spPr>
        <p:txBody>
          <a:bodyPr wrap="square" lIns="0" tIns="0" rIns="0" bIns="0" rtlCol="0" anchor="ctr"/>
          <a:lstStyle/>
          <a:p>
            <a:pPr marL="0" indent="0" algn="ctr">
              <a:buNone/>
            </a:pPr>
            <a:r>
              <a:rPr lang="en-US" sz="1050" dirty="0">
                <a:solidFill>
                  <a:srgbClr val="17263D"/>
                </a:solidFill>
                <a:latin typeface="Calibri" pitchFamily="34" charset="0"/>
                <a:ea typeface="Calibri" pitchFamily="34" charset="-122"/>
                <a:cs typeface="Calibri" pitchFamily="34" charset="-120"/>
              </a:rPr>
              <a:t>Login mit Email und Passwort (Argon2id-geprueft)</a:t>
            </a:r>
            <a:endParaRPr lang="en-US" sz="1050" dirty="0"/>
          </a:p>
        </p:txBody>
      </p:sp>
      <p:sp>
        <p:nvSpPr>
          <p:cNvPr id="11" name="Shape 9"/>
          <p:cNvSpPr/>
          <p:nvPr/>
        </p:nvSpPr>
        <p:spPr>
          <a:xfrm>
            <a:off x="1810512" y="1655064"/>
            <a:ext cx="256032" cy="256032"/>
          </a:xfrm>
          <a:prstGeom prst="ellipse">
            <a:avLst/>
          </a:prstGeom>
          <a:solidFill>
            <a:srgbClr val="E8A13D"/>
          </a:solidFill>
          <a:ln/>
        </p:spPr>
        <p:txBody>
          <a:bodyPr/>
          <a:lstStyle/>
          <a:p>
            <a:endParaRPr lang="en-GB"/>
          </a:p>
        </p:txBody>
      </p:sp>
      <p:sp>
        <p:nvSpPr>
          <p:cNvPr id="12" name="Text 10"/>
          <p:cNvSpPr/>
          <p:nvPr/>
        </p:nvSpPr>
        <p:spPr>
          <a:xfrm>
            <a:off x="1810512" y="165506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3" name="Shape 11"/>
          <p:cNvSpPr/>
          <p:nvPr/>
        </p:nvSpPr>
        <p:spPr>
          <a:xfrm>
            <a:off x="2377440" y="2176272"/>
            <a:ext cx="4389120" cy="0"/>
          </a:xfrm>
          <a:prstGeom prst="line">
            <a:avLst/>
          </a:prstGeom>
          <a:noFill/>
          <a:ln w="28575">
            <a:solidFill>
              <a:srgbClr val="E8A13D"/>
            </a:solidFill>
            <a:prstDash val="solid"/>
            <a:headEnd type="triangle"/>
          </a:ln>
        </p:spPr>
        <p:txBody>
          <a:bodyPr/>
          <a:lstStyle/>
          <a:p>
            <a:endParaRPr lang="en-GB"/>
          </a:p>
        </p:txBody>
      </p:sp>
      <p:sp>
        <p:nvSpPr>
          <p:cNvPr id="14" name="Text 12"/>
          <p:cNvSpPr/>
          <p:nvPr/>
        </p:nvSpPr>
        <p:spPr>
          <a:xfrm>
            <a:off x="2560320" y="1883664"/>
            <a:ext cx="4023360" cy="274320"/>
          </a:xfrm>
          <a:prstGeom prst="rect">
            <a:avLst/>
          </a:prstGeom>
          <a:noFill/>
          <a:ln/>
        </p:spPr>
        <p:txBody>
          <a:bodyPr wrap="square" lIns="0" tIns="0" rIns="0" bIns="0" rtlCol="0" anchor="ctr"/>
          <a:lstStyle/>
          <a:p>
            <a:pPr marL="0" indent="0" algn="ctr">
              <a:buNone/>
            </a:pPr>
            <a:r>
              <a:rPr lang="en-US" sz="1050" dirty="0">
                <a:solidFill>
                  <a:srgbClr val="17263D"/>
                </a:solidFill>
                <a:latin typeface="Calibri" pitchFamily="34" charset="0"/>
                <a:ea typeface="Calibri" pitchFamily="34" charset="-122"/>
                <a:cs typeface="Calibri" pitchFamily="34" charset="-120"/>
              </a:rPr>
              <a:t>Broker-Token, ML-DSA-65-signiert (FIPS 204)</a:t>
            </a:r>
            <a:endParaRPr lang="en-US" sz="1050" dirty="0"/>
          </a:p>
        </p:txBody>
      </p:sp>
      <p:sp>
        <p:nvSpPr>
          <p:cNvPr id="15" name="Shape 13"/>
          <p:cNvSpPr/>
          <p:nvPr/>
        </p:nvSpPr>
        <p:spPr>
          <a:xfrm>
            <a:off x="1810512" y="2048256"/>
            <a:ext cx="256032" cy="256032"/>
          </a:xfrm>
          <a:prstGeom prst="ellipse">
            <a:avLst/>
          </a:prstGeom>
          <a:solidFill>
            <a:srgbClr val="E8A13D"/>
          </a:solidFill>
          <a:ln/>
        </p:spPr>
        <p:txBody>
          <a:bodyPr/>
          <a:lstStyle/>
          <a:p>
            <a:endParaRPr lang="en-GB"/>
          </a:p>
        </p:txBody>
      </p:sp>
      <p:sp>
        <p:nvSpPr>
          <p:cNvPr id="16" name="Text 14"/>
          <p:cNvSpPr/>
          <p:nvPr/>
        </p:nvSpPr>
        <p:spPr>
          <a:xfrm>
            <a:off x="1810512" y="204825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Shape 15"/>
          <p:cNvSpPr/>
          <p:nvPr/>
        </p:nvSpPr>
        <p:spPr>
          <a:xfrm>
            <a:off x="1188720" y="2414016"/>
            <a:ext cx="2377440" cy="329184"/>
          </a:xfrm>
          <a:prstGeom prst="roundRect">
            <a:avLst>
              <a:gd name="adj" fmla="val 16667"/>
            </a:avLst>
          </a:prstGeom>
          <a:solidFill>
            <a:srgbClr val="E6EFFB"/>
          </a:solidFill>
          <a:ln/>
        </p:spPr>
        <p:txBody>
          <a:bodyPr/>
          <a:lstStyle/>
          <a:p>
            <a:endParaRPr lang="en-GB"/>
          </a:p>
        </p:txBody>
      </p:sp>
      <p:sp>
        <p:nvSpPr>
          <p:cNvPr id="18" name="Text 16"/>
          <p:cNvSpPr/>
          <p:nvPr/>
        </p:nvSpPr>
        <p:spPr>
          <a:xfrm>
            <a:off x="1188720" y="2414016"/>
            <a:ext cx="2377440" cy="329184"/>
          </a:xfrm>
          <a:prstGeom prst="rect">
            <a:avLst/>
          </a:prstGeom>
          <a:noFill/>
          <a:ln/>
        </p:spPr>
        <p:txBody>
          <a:bodyPr wrap="square" lIns="0" tIns="0" rIns="0" bIns="0" rtlCol="0" anchor="ctr"/>
          <a:lstStyle/>
          <a:p>
            <a:pPr marL="0" indent="0" algn="ctr">
              <a:buNone/>
            </a:pPr>
            <a:r>
              <a:rPr lang="en-US" sz="1000" b="1" dirty="0">
                <a:solidFill>
                  <a:srgbClr val="17263D"/>
                </a:solidFill>
                <a:latin typeface="Calibri" pitchFamily="34" charset="0"/>
                <a:ea typeface="Calibri" pitchFamily="34" charset="-122"/>
                <a:cs typeface="Calibri" pitchFamily="34" charset="-120"/>
              </a:rPr>
              <a:t>erzeugt ML-KEM-768-Schluesselpaar</a:t>
            </a:r>
            <a:endParaRPr lang="en-US" sz="1000" dirty="0"/>
          </a:p>
        </p:txBody>
      </p:sp>
      <p:sp>
        <p:nvSpPr>
          <p:cNvPr id="19" name="Shape 17"/>
          <p:cNvSpPr/>
          <p:nvPr/>
        </p:nvSpPr>
        <p:spPr>
          <a:xfrm>
            <a:off x="594360" y="2441448"/>
            <a:ext cx="256032" cy="256032"/>
          </a:xfrm>
          <a:prstGeom prst="ellipse">
            <a:avLst/>
          </a:prstGeom>
          <a:solidFill>
            <a:srgbClr val="0A1F3C"/>
          </a:solidFill>
          <a:ln/>
        </p:spPr>
        <p:txBody>
          <a:bodyPr/>
          <a:lstStyle/>
          <a:p>
            <a:endParaRPr lang="en-GB"/>
          </a:p>
        </p:txBody>
      </p:sp>
      <p:sp>
        <p:nvSpPr>
          <p:cNvPr id="20" name="Text 18"/>
          <p:cNvSpPr/>
          <p:nvPr/>
        </p:nvSpPr>
        <p:spPr>
          <a:xfrm>
            <a:off x="594360" y="244144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Shape 19"/>
          <p:cNvSpPr/>
          <p:nvPr/>
        </p:nvSpPr>
        <p:spPr>
          <a:xfrm>
            <a:off x="2377440" y="2962656"/>
            <a:ext cx="4389120" cy="0"/>
          </a:xfrm>
          <a:prstGeom prst="line">
            <a:avLst/>
          </a:prstGeom>
          <a:noFill/>
          <a:ln w="28575">
            <a:solidFill>
              <a:srgbClr val="0A1F3C"/>
            </a:solidFill>
            <a:prstDash val="solid"/>
            <a:tailEnd type="triangle"/>
          </a:ln>
        </p:spPr>
        <p:txBody>
          <a:bodyPr/>
          <a:lstStyle/>
          <a:p>
            <a:endParaRPr lang="en-GB"/>
          </a:p>
        </p:txBody>
      </p:sp>
      <p:sp>
        <p:nvSpPr>
          <p:cNvPr id="22" name="Text 20"/>
          <p:cNvSpPr/>
          <p:nvPr/>
        </p:nvSpPr>
        <p:spPr>
          <a:xfrm>
            <a:off x="2560320" y="2670048"/>
            <a:ext cx="4023360" cy="274320"/>
          </a:xfrm>
          <a:prstGeom prst="rect">
            <a:avLst/>
          </a:prstGeom>
          <a:noFill/>
          <a:ln/>
        </p:spPr>
        <p:txBody>
          <a:bodyPr wrap="square" lIns="0" tIns="0" rIns="0" bIns="0" rtlCol="0" anchor="ctr"/>
          <a:lstStyle/>
          <a:p>
            <a:pPr marL="0" indent="0" algn="ctr">
              <a:buNone/>
            </a:pPr>
            <a:r>
              <a:rPr lang="en-US" sz="1050" dirty="0">
                <a:solidFill>
                  <a:srgbClr val="17263D"/>
                </a:solidFill>
                <a:latin typeface="Calibri" pitchFamily="34" charset="0"/>
                <a:ea typeface="Calibri" pitchFamily="34" charset="-122"/>
                <a:cs typeface="Calibri" pitchFamily="34" charset="-120"/>
              </a:rPr>
              <a:t>Public Key an POST /session/init (mit Token)</a:t>
            </a:r>
            <a:endParaRPr lang="en-US" sz="1050" dirty="0"/>
          </a:p>
        </p:txBody>
      </p:sp>
      <p:sp>
        <p:nvSpPr>
          <p:cNvPr id="23" name="Shape 21"/>
          <p:cNvSpPr/>
          <p:nvPr/>
        </p:nvSpPr>
        <p:spPr>
          <a:xfrm>
            <a:off x="1810512" y="2834640"/>
            <a:ext cx="256032" cy="256032"/>
          </a:xfrm>
          <a:prstGeom prst="ellipse">
            <a:avLst/>
          </a:prstGeom>
          <a:solidFill>
            <a:srgbClr val="0A1F3C"/>
          </a:solidFill>
          <a:ln/>
        </p:spPr>
        <p:txBody>
          <a:bodyPr/>
          <a:lstStyle/>
          <a:p>
            <a:endParaRPr lang="en-GB"/>
          </a:p>
        </p:txBody>
      </p:sp>
      <p:sp>
        <p:nvSpPr>
          <p:cNvPr id="24" name="Text 22"/>
          <p:cNvSpPr/>
          <p:nvPr/>
        </p:nvSpPr>
        <p:spPr>
          <a:xfrm>
            <a:off x="1810512" y="283464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Shape 23"/>
          <p:cNvSpPr/>
          <p:nvPr/>
        </p:nvSpPr>
        <p:spPr>
          <a:xfrm>
            <a:off x="2377440" y="3355848"/>
            <a:ext cx="4389120" cy="0"/>
          </a:xfrm>
          <a:prstGeom prst="line">
            <a:avLst/>
          </a:prstGeom>
          <a:noFill/>
          <a:ln w="28575">
            <a:solidFill>
              <a:srgbClr val="0A1F3C"/>
            </a:solidFill>
            <a:prstDash val="solid"/>
            <a:headEnd type="triangle"/>
          </a:ln>
        </p:spPr>
        <p:txBody>
          <a:bodyPr/>
          <a:lstStyle/>
          <a:p>
            <a:endParaRPr lang="en-GB"/>
          </a:p>
        </p:txBody>
      </p:sp>
      <p:sp>
        <p:nvSpPr>
          <p:cNvPr id="26" name="Text 24"/>
          <p:cNvSpPr/>
          <p:nvPr/>
        </p:nvSpPr>
        <p:spPr>
          <a:xfrm>
            <a:off x="2560320" y="3063240"/>
            <a:ext cx="4023360" cy="274320"/>
          </a:xfrm>
          <a:prstGeom prst="rect">
            <a:avLst/>
          </a:prstGeom>
          <a:noFill/>
          <a:ln/>
        </p:spPr>
        <p:txBody>
          <a:bodyPr wrap="square" lIns="0" tIns="0" rIns="0" bIns="0" rtlCol="0" anchor="ctr"/>
          <a:lstStyle/>
          <a:p>
            <a:pPr marL="0" indent="0" algn="ctr">
              <a:buNone/>
            </a:pPr>
            <a:r>
              <a:rPr lang="en-US" sz="1050" dirty="0">
                <a:solidFill>
                  <a:srgbClr val="17263D"/>
                </a:solidFill>
                <a:latin typeface="Calibri" pitchFamily="34" charset="0"/>
                <a:ea typeface="Calibri" pitchFamily="34" charset="-122"/>
                <a:cs typeface="Calibri" pitchFamily="34" charset="-120"/>
              </a:rPr>
              <a:t>Encapsulation: Ciphertext plus Session-ID</a:t>
            </a:r>
            <a:endParaRPr lang="en-US" sz="1050" dirty="0"/>
          </a:p>
        </p:txBody>
      </p:sp>
      <p:sp>
        <p:nvSpPr>
          <p:cNvPr id="27" name="Shape 25"/>
          <p:cNvSpPr/>
          <p:nvPr/>
        </p:nvSpPr>
        <p:spPr>
          <a:xfrm>
            <a:off x="1810512" y="3227832"/>
            <a:ext cx="256032" cy="256032"/>
          </a:xfrm>
          <a:prstGeom prst="ellipse">
            <a:avLst/>
          </a:prstGeom>
          <a:solidFill>
            <a:srgbClr val="0A1F3C"/>
          </a:solidFill>
          <a:ln/>
        </p:spPr>
        <p:txBody>
          <a:bodyPr/>
          <a:lstStyle/>
          <a:p>
            <a:endParaRPr lang="en-GB"/>
          </a:p>
        </p:txBody>
      </p:sp>
      <p:sp>
        <p:nvSpPr>
          <p:cNvPr id="28" name="Text 26"/>
          <p:cNvSpPr/>
          <p:nvPr/>
        </p:nvSpPr>
        <p:spPr>
          <a:xfrm>
            <a:off x="1810512" y="322783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9" name="Shape 27"/>
          <p:cNvSpPr/>
          <p:nvPr/>
        </p:nvSpPr>
        <p:spPr>
          <a:xfrm>
            <a:off x="2788920" y="3593592"/>
            <a:ext cx="3566160" cy="329184"/>
          </a:xfrm>
          <a:prstGeom prst="roundRect">
            <a:avLst>
              <a:gd name="adj" fmla="val 16667"/>
            </a:avLst>
          </a:prstGeom>
          <a:solidFill>
            <a:srgbClr val="EAF7F1"/>
          </a:solidFill>
          <a:ln/>
        </p:spPr>
        <p:txBody>
          <a:bodyPr/>
          <a:lstStyle/>
          <a:p>
            <a:endParaRPr lang="en-GB"/>
          </a:p>
        </p:txBody>
      </p:sp>
      <p:sp>
        <p:nvSpPr>
          <p:cNvPr id="30" name="Text 28"/>
          <p:cNvSpPr/>
          <p:nvPr/>
        </p:nvSpPr>
        <p:spPr>
          <a:xfrm>
            <a:off x="2788920" y="3593592"/>
            <a:ext cx="3566160" cy="329184"/>
          </a:xfrm>
          <a:prstGeom prst="rect">
            <a:avLst/>
          </a:prstGeom>
          <a:noFill/>
          <a:ln/>
        </p:spPr>
        <p:txBody>
          <a:bodyPr wrap="square" lIns="0" tIns="0" rIns="0" bIns="0" rtlCol="0" anchor="ctr"/>
          <a:lstStyle/>
          <a:p>
            <a:pPr marL="0" indent="0" algn="ctr">
              <a:buNone/>
            </a:pPr>
            <a:r>
              <a:rPr lang="en-US" sz="1000" b="1" dirty="0">
                <a:solidFill>
                  <a:srgbClr val="0E7A57"/>
                </a:solidFill>
                <a:latin typeface="Calibri" pitchFamily="34" charset="0"/>
                <a:ea typeface="Calibri" pitchFamily="34" charset="-122"/>
                <a:cs typeface="Calibri" pitchFamily="34" charset="-120"/>
              </a:rPr>
              <a:t>beide leiten per HKDF den AES-256-GCM-Schluessel ab</a:t>
            </a:r>
            <a:endParaRPr lang="en-US" sz="1000" dirty="0"/>
          </a:p>
        </p:txBody>
      </p:sp>
      <p:sp>
        <p:nvSpPr>
          <p:cNvPr id="31" name="Shape 29"/>
          <p:cNvSpPr/>
          <p:nvPr/>
        </p:nvSpPr>
        <p:spPr>
          <a:xfrm>
            <a:off x="1810512" y="3630168"/>
            <a:ext cx="256032" cy="256032"/>
          </a:xfrm>
          <a:prstGeom prst="ellipse">
            <a:avLst/>
          </a:prstGeom>
          <a:solidFill>
            <a:srgbClr val="0E7A57"/>
          </a:solidFill>
          <a:ln/>
        </p:spPr>
        <p:txBody>
          <a:bodyPr/>
          <a:lstStyle/>
          <a:p>
            <a:endParaRPr lang="en-GB"/>
          </a:p>
        </p:txBody>
      </p:sp>
      <p:sp>
        <p:nvSpPr>
          <p:cNvPr id="32" name="Text 30"/>
          <p:cNvSpPr/>
          <p:nvPr/>
        </p:nvSpPr>
        <p:spPr>
          <a:xfrm>
            <a:off x="1810512" y="363016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3" name="Shape 31"/>
          <p:cNvSpPr/>
          <p:nvPr/>
        </p:nvSpPr>
        <p:spPr>
          <a:xfrm>
            <a:off x="2377440" y="4160520"/>
            <a:ext cx="4389120" cy="0"/>
          </a:xfrm>
          <a:prstGeom prst="line">
            <a:avLst/>
          </a:prstGeom>
          <a:noFill/>
          <a:ln w="28575">
            <a:solidFill>
              <a:srgbClr val="0E7A57"/>
            </a:solidFill>
            <a:prstDash val="solid"/>
            <a:tailEnd type="triangle"/>
          </a:ln>
        </p:spPr>
        <p:txBody>
          <a:bodyPr/>
          <a:lstStyle/>
          <a:p>
            <a:endParaRPr lang="en-GB"/>
          </a:p>
        </p:txBody>
      </p:sp>
      <p:sp>
        <p:nvSpPr>
          <p:cNvPr id="34" name="Text 32"/>
          <p:cNvSpPr/>
          <p:nvPr/>
        </p:nvSpPr>
        <p:spPr>
          <a:xfrm>
            <a:off x="2560320" y="3867912"/>
            <a:ext cx="4023360" cy="274320"/>
          </a:xfrm>
          <a:prstGeom prst="rect">
            <a:avLst/>
          </a:prstGeom>
          <a:noFill/>
          <a:ln/>
        </p:spPr>
        <p:txBody>
          <a:bodyPr wrap="square" lIns="0" tIns="0" rIns="0" bIns="0" rtlCol="0" anchor="ctr"/>
          <a:lstStyle/>
          <a:p>
            <a:pPr marL="0" indent="0" algn="ctr">
              <a:buNone/>
            </a:pPr>
            <a:r>
              <a:rPr lang="en-US" sz="1050" dirty="0">
                <a:solidFill>
                  <a:srgbClr val="17263D"/>
                </a:solidFill>
                <a:latin typeface="Calibri" pitchFamily="34" charset="0"/>
                <a:ea typeface="Calibri" pitchFamily="34" charset="-122"/>
                <a:cs typeface="Calibri" pitchFamily="34" charset="-120"/>
              </a:rPr>
              <a:t>jeder Request AES-256-GCM-verschluesselt (frische Nonce, AAD)</a:t>
            </a:r>
            <a:endParaRPr lang="en-US" sz="1050" dirty="0"/>
          </a:p>
        </p:txBody>
      </p:sp>
      <p:sp>
        <p:nvSpPr>
          <p:cNvPr id="35" name="Shape 33"/>
          <p:cNvSpPr/>
          <p:nvPr/>
        </p:nvSpPr>
        <p:spPr>
          <a:xfrm>
            <a:off x="1810512" y="4032504"/>
            <a:ext cx="256032" cy="256032"/>
          </a:xfrm>
          <a:prstGeom prst="ellipse">
            <a:avLst/>
          </a:prstGeom>
          <a:solidFill>
            <a:srgbClr val="0E7A57"/>
          </a:solidFill>
          <a:ln/>
        </p:spPr>
        <p:txBody>
          <a:bodyPr/>
          <a:lstStyle/>
          <a:p>
            <a:endParaRPr lang="en-GB"/>
          </a:p>
        </p:txBody>
      </p:sp>
      <p:sp>
        <p:nvSpPr>
          <p:cNvPr id="36" name="Text 34"/>
          <p:cNvSpPr/>
          <p:nvPr/>
        </p:nvSpPr>
        <p:spPr>
          <a:xfrm>
            <a:off x="1810512" y="403250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7" name="Shape 35"/>
          <p:cNvSpPr/>
          <p:nvPr/>
        </p:nvSpPr>
        <p:spPr>
          <a:xfrm>
            <a:off x="2377440" y="4553712"/>
            <a:ext cx="4389120" cy="0"/>
          </a:xfrm>
          <a:prstGeom prst="line">
            <a:avLst/>
          </a:prstGeom>
          <a:noFill/>
          <a:ln w="28575">
            <a:solidFill>
              <a:srgbClr val="D95757"/>
            </a:solidFill>
            <a:prstDash val="solid"/>
            <a:tailEnd type="triangle"/>
          </a:ln>
        </p:spPr>
        <p:txBody>
          <a:bodyPr/>
          <a:lstStyle/>
          <a:p>
            <a:endParaRPr lang="en-GB"/>
          </a:p>
        </p:txBody>
      </p:sp>
      <p:sp>
        <p:nvSpPr>
          <p:cNvPr id="38" name="Text 36"/>
          <p:cNvSpPr/>
          <p:nvPr/>
        </p:nvSpPr>
        <p:spPr>
          <a:xfrm>
            <a:off x="2560320" y="4261104"/>
            <a:ext cx="4023360" cy="274320"/>
          </a:xfrm>
          <a:prstGeom prst="rect">
            <a:avLst/>
          </a:prstGeom>
          <a:noFill/>
          <a:ln/>
        </p:spPr>
        <p:txBody>
          <a:bodyPr wrap="square" lIns="0" tIns="0" rIns="0" bIns="0" rtlCol="0" anchor="ctr"/>
          <a:lstStyle/>
          <a:p>
            <a:pPr marL="0" indent="0" algn="ctr">
              <a:buNone/>
            </a:pPr>
            <a:r>
              <a:rPr lang="en-US" sz="1050" dirty="0">
                <a:solidFill>
                  <a:srgbClr val="17263D"/>
                </a:solidFill>
                <a:latin typeface="Calibri" pitchFamily="34" charset="0"/>
                <a:ea typeface="Calibri" pitchFamily="34" charset="-122"/>
                <a:cs typeface="Calibri" pitchFamily="34" charset="-120"/>
              </a:rPr>
              <a:t>gleiche Nonce nochmals: Replay, Server blockt mit HTTP 400</a:t>
            </a:r>
            <a:endParaRPr lang="en-US" sz="1050" dirty="0"/>
          </a:p>
        </p:txBody>
      </p:sp>
      <p:sp>
        <p:nvSpPr>
          <p:cNvPr id="39" name="Shape 37"/>
          <p:cNvSpPr/>
          <p:nvPr/>
        </p:nvSpPr>
        <p:spPr>
          <a:xfrm>
            <a:off x="1810512" y="4425696"/>
            <a:ext cx="256032" cy="256032"/>
          </a:xfrm>
          <a:prstGeom prst="ellipse">
            <a:avLst/>
          </a:prstGeom>
          <a:solidFill>
            <a:srgbClr val="D95757"/>
          </a:solidFill>
          <a:ln/>
        </p:spPr>
        <p:txBody>
          <a:bodyPr/>
          <a:lstStyle/>
          <a:p>
            <a:endParaRPr lang="en-GB"/>
          </a:p>
        </p:txBody>
      </p:sp>
      <p:sp>
        <p:nvSpPr>
          <p:cNvPr id="40" name="Text 38"/>
          <p:cNvSpPr/>
          <p:nvPr/>
        </p:nvSpPr>
        <p:spPr>
          <a:xfrm>
            <a:off x="1810512" y="442569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41" name="Shape 39"/>
          <p:cNvSpPr/>
          <p:nvPr/>
        </p:nvSpPr>
        <p:spPr>
          <a:xfrm>
            <a:off x="822960" y="4864608"/>
            <a:ext cx="128016" cy="128016"/>
          </a:xfrm>
          <a:prstGeom prst="ellipse">
            <a:avLst/>
          </a:prstGeom>
          <a:solidFill>
            <a:srgbClr val="E8A13D"/>
          </a:solidFill>
          <a:ln/>
        </p:spPr>
        <p:txBody>
          <a:bodyPr/>
          <a:lstStyle/>
          <a:p>
            <a:endParaRPr lang="en-GB"/>
          </a:p>
        </p:txBody>
      </p:sp>
      <p:sp>
        <p:nvSpPr>
          <p:cNvPr id="42" name="Text 40"/>
          <p:cNvSpPr/>
          <p:nvPr/>
        </p:nvSpPr>
        <p:spPr>
          <a:xfrm>
            <a:off x="1024128" y="4791456"/>
            <a:ext cx="18288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Authentifizierung</a:t>
            </a:r>
            <a:endParaRPr lang="en-US" sz="1000" dirty="0"/>
          </a:p>
        </p:txBody>
      </p:sp>
      <p:sp>
        <p:nvSpPr>
          <p:cNvPr id="43" name="Shape 41"/>
          <p:cNvSpPr/>
          <p:nvPr/>
        </p:nvSpPr>
        <p:spPr>
          <a:xfrm>
            <a:off x="2880360" y="4864608"/>
            <a:ext cx="128016" cy="128016"/>
          </a:xfrm>
          <a:prstGeom prst="ellipse">
            <a:avLst/>
          </a:prstGeom>
          <a:solidFill>
            <a:srgbClr val="0A1F3C"/>
          </a:solidFill>
          <a:ln/>
        </p:spPr>
        <p:txBody>
          <a:bodyPr/>
          <a:lstStyle/>
          <a:p>
            <a:endParaRPr lang="en-GB"/>
          </a:p>
        </p:txBody>
      </p:sp>
      <p:sp>
        <p:nvSpPr>
          <p:cNvPr id="44" name="Text 42"/>
          <p:cNvSpPr/>
          <p:nvPr/>
        </p:nvSpPr>
        <p:spPr>
          <a:xfrm>
            <a:off x="3081528" y="4791456"/>
            <a:ext cx="18288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PQ-Schluesseltausch</a:t>
            </a:r>
            <a:endParaRPr lang="en-US" sz="1000" dirty="0"/>
          </a:p>
        </p:txBody>
      </p:sp>
      <p:sp>
        <p:nvSpPr>
          <p:cNvPr id="45" name="Shape 43"/>
          <p:cNvSpPr/>
          <p:nvPr/>
        </p:nvSpPr>
        <p:spPr>
          <a:xfrm>
            <a:off x="4937760" y="4864608"/>
            <a:ext cx="128016" cy="128016"/>
          </a:xfrm>
          <a:prstGeom prst="ellipse">
            <a:avLst/>
          </a:prstGeom>
          <a:solidFill>
            <a:srgbClr val="0E7A57"/>
          </a:solidFill>
          <a:ln/>
        </p:spPr>
        <p:txBody>
          <a:bodyPr/>
          <a:lstStyle/>
          <a:p>
            <a:endParaRPr lang="en-GB"/>
          </a:p>
        </p:txBody>
      </p:sp>
      <p:sp>
        <p:nvSpPr>
          <p:cNvPr id="46" name="Text 44"/>
          <p:cNvSpPr/>
          <p:nvPr/>
        </p:nvSpPr>
        <p:spPr>
          <a:xfrm>
            <a:off x="5138928" y="4791456"/>
            <a:ext cx="18288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Verschluesselter Kanal</a:t>
            </a:r>
            <a:endParaRPr lang="en-US" sz="1000" dirty="0"/>
          </a:p>
        </p:txBody>
      </p:sp>
      <p:sp>
        <p:nvSpPr>
          <p:cNvPr id="47" name="Shape 45"/>
          <p:cNvSpPr/>
          <p:nvPr/>
        </p:nvSpPr>
        <p:spPr>
          <a:xfrm>
            <a:off x="6995160" y="4864608"/>
            <a:ext cx="128016" cy="128016"/>
          </a:xfrm>
          <a:prstGeom prst="ellipse">
            <a:avLst/>
          </a:prstGeom>
          <a:solidFill>
            <a:srgbClr val="D95757"/>
          </a:solidFill>
          <a:ln/>
        </p:spPr>
        <p:txBody>
          <a:bodyPr/>
          <a:lstStyle/>
          <a:p>
            <a:endParaRPr lang="en-GB"/>
          </a:p>
        </p:txBody>
      </p:sp>
      <p:sp>
        <p:nvSpPr>
          <p:cNvPr id="48" name="Text 46"/>
          <p:cNvSpPr/>
          <p:nvPr/>
        </p:nvSpPr>
        <p:spPr>
          <a:xfrm>
            <a:off x="7196328" y="4791456"/>
            <a:ext cx="18288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Replay-Schutz</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marL="0" indent="0">
              <a:buNone/>
            </a:pPr>
            <a:r>
              <a:rPr lang="en-US" sz="2600" b="1" dirty="0">
                <a:solidFill>
                  <a:srgbClr val="17263D"/>
                </a:solidFill>
                <a:latin typeface="Cambria" pitchFamily="34" charset="0"/>
                <a:ea typeface="Cambria" pitchFamily="34" charset="-122"/>
                <a:cs typeface="Cambria" pitchFamily="34" charset="-120"/>
              </a:rPr>
              <a:t>Backup: Qualitaet, Sicherheit, offene Punkte</a:t>
            </a:r>
            <a:endParaRPr lang="en-US" sz="2600" dirty="0"/>
          </a:p>
        </p:txBody>
      </p:sp>
      <p:sp>
        <p:nvSpPr>
          <p:cNvPr id="3" name="Shape 1"/>
          <p:cNvSpPr/>
          <p:nvPr/>
        </p:nvSpPr>
        <p:spPr>
          <a:xfrm>
            <a:off x="548640" y="960120"/>
            <a:ext cx="3931920" cy="3383280"/>
          </a:xfrm>
          <a:prstGeom prst="roundRect">
            <a:avLst>
              <a:gd name="adj" fmla="val 2703"/>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4" name="Text 2"/>
          <p:cNvSpPr/>
          <p:nvPr/>
        </p:nvSpPr>
        <p:spPr>
          <a:xfrm>
            <a:off x="777240" y="1097280"/>
            <a:ext cx="3474720" cy="320040"/>
          </a:xfrm>
          <a:prstGeom prst="rect">
            <a:avLst/>
          </a:prstGeom>
          <a:noFill/>
          <a:ln/>
        </p:spPr>
        <p:txBody>
          <a:bodyPr wrap="square" lIns="0" tIns="0" rIns="0" bIns="0" rtlCol="0" anchor="ctr"/>
          <a:lstStyle/>
          <a:p>
            <a:pPr marL="0" indent="0">
              <a:buNone/>
            </a:pPr>
            <a:r>
              <a:rPr lang="en-US" sz="1400" b="1" dirty="0">
                <a:solidFill>
                  <a:srgbClr val="0E7A57"/>
                </a:solidFill>
                <a:latin typeface="Calibri" pitchFamily="34" charset="0"/>
                <a:ea typeface="Calibri" pitchFamily="34" charset="-122"/>
                <a:cs typeface="Calibri" pitchFamily="34" charset="-120"/>
              </a:rPr>
              <a:t>Abgesichert</a:t>
            </a:r>
            <a:endParaRPr lang="en-US" sz="1400" dirty="0"/>
          </a:p>
        </p:txBody>
      </p:sp>
      <p:sp>
        <p:nvSpPr>
          <p:cNvPr id="5" name="Text 3"/>
          <p:cNvSpPr/>
          <p:nvPr/>
        </p:nvSpPr>
        <p:spPr>
          <a:xfrm>
            <a:off x="777240" y="1463040"/>
            <a:ext cx="3474720" cy="2743200"/>
          </a:xfrm>
          <a:prstGeom prst="rect">
            <a:avLst/>
          </a:prstGeom>
          <a:noFill/>
          <a:ln/>
        </p:spPr>
        <p:txBody>
          <a:bodyPr wrap="square" rtlCol="0" anchor="t"/>
          <a:lstStyle/>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420 Tests, davon 9 Integrationstests fuer OIDC-Broker und End-to-End-Kette</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Docker-Testrunner mit echter liboqs-Krypto (kein Mock)</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Schluessel-Rotation plus JWKS-Endpoint umgesetzt</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Timing-Angriff auf Login (User-Enumeration) getestet und gefixt</a:t>
            </a:r>
            <a:endParaRPr lang="en-US" sz="1150" dirty="0"/>
          </a:p>
        </p:txBody>
      </p:sp>
      <p:sp>
        <p:nvSpPr>
          <p:cNvPr id="6" name="Shape 4"/>
          <p:cNvSpPr/>
          <p:nvPr/>
        </p:nvSpPr>
        <p:spPr>
          <a:xfrm>
            <a:off x="4663440" y="960120"/>
            <a:ext cx="3931920" cy="3383280"/>
          </a:xfrm>
          <a:prstGeom prst="roundRect">
            <a:avLst>
              <a:gd name="adj" fmla="val 2703"/>
            </a:avLst>
          </a:prstGeom>
          <a:solidFill>
            <a:srgbClr val="FDF3E6"/>
          </a:solidFill>
          <a:ln/>
          <a:effectLst>
            <a:outerShdw blurRad="101600" dist="38100" dir="2700000" algn="bl" rotWithShape="0">
              <a:srgbClr val="1A2A44">
                <a:alpha val="18000"/>
              </a:srgbClr>
            </a:outerShdw>
          </a:effectLst>
        </p:spPr>
        <p:txBody>
          <a:bodyPr/>
          <a:lstStyle/>
          <a:p>
            <a:endParaRPr lang="en-GB"/>
          </a:p>
        </p:txBody>
      </p:sp>
      <p:sp>
        <p:nvSpPr>
          <p:cNvPr id="7" name="Text 5"/>
          <p:cNvSpPr/>
          <p:nvPr/>
        </p:nvSpPr>
        <p:spPr>
          <a:xfrm>
            <a:off x="4892040" y="1097280"/>
            <a:ext cx="3474720" cy="320040"/>
          </a:xfrm>
          <a:prstGeom prst="rect">
            <a:avLst/>
          </a:prstGeom>
          <a:noFill/>
          <a:ln/>
        </p:spPr>
        <p:txBody>
          <a:bodyPr wrap="square" lIns="0" tIns="0" rIns="0" bIns="0" rtlCol="0" anchor="ctr"/>
          <a:lstStyle/>
          <a:p>
            <a:pPr marL="0" indent="0">
              <a:buNone/>
            </a:pPr>
            <a:r>
              <a:rPr lang="en-US" sz="1400" b="1" dirty="0">
                <a:solidFill>
                  <a:srgbClr val="B07818"/>
                </a:solidFill>
                <a:latin typeface="Calibri" pitchFamily="34" charset="0"/>
                <a:ea typeface="Calibri" pitchFamily="34" charset="-122"/>
                <a:cs typeface="Calibri" pitchFamily="34" charset="-120"/>
              </a:rPr>
              <a:t>Offen und dokumentiert</a:t>
            </a:r>
            <a:endParaRPr lang="en-US" sz="1400" dirty="0"/>
          </a:p>
        </p:txBody>
      </p:sp>
      <p:sp>
        <p:nvSpPr>
          <p:cNvPr id="8" name="Text 6"/>
          <p:cNvSpPr/>
          <p:nvPr/>
        </p:nvSpPr>
        <p:spPr>
          <a:xfrm>
            <a:off x="4892040" y="1463040"/>
            <a:ext cx="3474720" cy="2743200"/>
          </a:xfrm>
          <a:prstGeom prst="rect">
            <a:avLst/>
          </a:prstGeom>
          <a:noFill/>
          <a:ln/>
        </p:spPr>
        <p:txBody>
          <a:bodyPr wrap="square" rtlCol="0" anchor="t"/>
          <a:lstStyle/>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Response-Codes erlauben Session-ID-Enumeration (Finding F-142, Fix geplant als SEC-6)</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Mobile PQ-TLS: iOS 26 ja, Android nein (R-T08)</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Demo-Pfad Publikum laeuft ueber HTTP: Vertraulichkeit traegt dort allein Schicht 2</a:t>
            </a:r>
            <a:endParaRPr lang="en-US" sz="1150" dirty="0"/>
          </a:p>
          <a:p>
            <a:pPr marL="342900" indent="-342900">
              <a:spcAft>
                <a:spcPts val="700"/>
              </a:spcAft>
              <a:buSzPct val="100000"/>
              <a:buChar char="•"/>
            </a:pPr>
            <a:r>
              <a:rPr lang="en-US" sz="1150" dirty="0">
                <a:solidFill>
                  <a:srgbClr val="17263D"/>
                </a:solidFill>
                <a:latin typeface="Calibri" pitchFamily="34" charset="0"/>
                <a:ea typeface="Calibri" pitchFamily="34" charset="-122"/>
                <a:cs typeface="Calibri" pitchFamily="34" charset="-120"/>
              </a:rPr>
              <a:t>Federation in-App: Redirect-Design offen (F-086), Broker server-seitig voll getestet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marL="0" indent="0">
              <a:buNone/>
            </a:pPr>
            <a:r>
              <a:rPr lang="en-US" sz="2600" b="1" dirty="0">
                <a:solidFill>
                  <a:srgbClr val="17263D"/>
                </a:solidFill>
                <a:latin typeface="Cambria" pitchFamily="34" charset="0"/>
                <a:ea typeface="Cambria" pitchFamily="34" charset="-122"/>
                <a:cs typeface="Cambria" pitchFamily="34" charset="-120"/>
              </a:rPr>
              <a:t>Backup: Projektvorgehen</a:t>
            </a:r>
            <a:endParaRPr lang="en-US" sz="2600" dirty="0"/>
          </a:p>
        </p:txBody>
      </p:sp>
      <p:sp>
        <p:nvSpPr>
          <p:cNvPr id="3" name="Shape 1"/>
          <p:cNvSpPr/>
          <p:nvPr/>
        </p:nvSpPr>
        <p:spPr>
          <a:xfrm>
            <a:off x="548640" y="960120"/>
            <a:ext cx="3931920" cy="1554480"/>
          </a:xfrm>
          <a:prstGeom prst="roundRect">
            <a:avLst>
              <a:gd name="adj" fmla="val 5882"/>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4" name="Text 2"/>
          <p:cNvSpPr/>
          <p:nvPr/>
        </p:nvSpPr>
        <p:spPr>
          <a:xfrm>
            <a:off x="749808" y="1069848"/>
            <a:ext cx="3566160" cy="301752"/>
          </a:xfrm>
          <a:prstGeom prst="rect">
            <a:avLst/>
          </a:prstGeom>
          <a:noFill/>
          <a:ln/>
        </p:spPr>
        <p:txBody>
          <a:bodyPr wrap="square" lIns="0" tIns="0" rIns="0" bIns="0" rtlCol="0" anchor="ctr"/>
          <a:lstStyle/>
          <a:p>
            <a:pPr marL="0" indent="0">
              <a:buNone/>
            </a:pPr>
            <a:r>
              <a:rPr lang="en-US" sz="1350" b="1" dirty="0">
                <a:solidFill>
                  <a:srgbClr val="0A1F3C"/>
                </a:solidFill>
                <a:latin typeface="Calibri" pitchFamily="34" charset="0"/>
                <a:ea typeface="Calibri" pitchFamily="34" charset="-122"/>
                <a:cs typeface="Calibri" pitchFamily="34" charset="-120"/>
              </a:rPr>
              <a:t>Scrum, solo adaptiert</a:t>
            </a:r>
            <a:endParaRPr lang="en-US" sz="1350" dirty="0"/>
          </a:p>
        </p:txBody>
      </p:sp>
      <p:sp>
        <p:nvSpPr>
          <p:cNvPr id="5" name="Text 3"/>
          <p:cNvSpPr/>
          <p:nvPr/>
        </p:nvSpPr>
        <p:spPr>
          <a:xfrm>
            <a:off x="749808" y="1399032"/>
            <a:ext cx="3566160" cy="105156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4 Sprints plus Setup-Sprint. Sprint-Goals, Planning, Review, Retro pro Sprint dokumentiert. Jira-Board mit 60+ Stories, MoSCoW-priorisiert, Fibonacci-Schaetzung.</a:t>
            </a:r>
            <a:endParaRPr lang="en-US" sz="1050" dirty="0"/>
          </a:p>
        </p:txBody>
      </p:sp>
      <p:sp>
        <p:nvSpPr>
          <p:cNvPr id="6" name="Shape 4"/>
          <p:cNvSpPr/>
          <p:nvPr/>
        </p:nvSpPr>
        <p:spPr>
          <a:xfrm>
            <a:off x="4709160" y="960120"/>
            <a:ext cx="3931920" cy="1554480"/>
          </a:xfrm>
          <a:prstGeom prst="roundRect">
            <a:avLst>
              <a:gd name="adj" fmla="val 5882"/>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7" name="Text 5"/>
          <p:cNvSpPr/>
          <p:nvPr/>
        </p:nvSpPr>
        <p:spPr>
          <a:xfrm>
            <a:off x="4910328" y="1069848"/>
            <a:ext cx="3566160" cy="301752"/>
          </a:xfrm>
          <a:prstGeom prst="rect">
            <a:avLst/>
          </a:prstGeom>
          <a:noFill/>
          <a:ln/>
        </p:spPr>
        <p:txBody>
          <a:bodyPr wrap="square" lIns="0" tIns="0" rIns="0" bIns="0" rtlCol="0" anchor="ctr"/>
          <a:lstStyle/>
          <a:p>
            <a:pPr marL="0" indent="0">
              <a:buNone/>
            </a:pPr>
            <a:r>
              <a:rPr lang="en-US" sz="1350" b="1" dirty="0">
                <a:solidFill>
                  <a:srgbClr val="0A1F3C"/>
                </a:solidFill>
                <a:latin typeface="Calibri" pitchFamily="34" charset="0"/>
                <a:ea typeface="Calibri" pitchFamily="34" charset="-122"/>
                <a:cs typeface="Calibri" pitchFamily="34" charset="-120"/>
              </a:rPr>
              <a:t>Risiko-getrieben</a:t>
            </a:r>
            <a:endParaRPr lang="en-US" sz="1350" dirty="0"/>
          </a:p>
        </p:txBody>
      </p:sp>
      <p:sp>
        <p:nvSpPr>
          <p:cNvPr id="8" name="Text 6"/>
          <p:cNvSpPr/>
          <p:nvPr/>
        </p:nvSpPr>
        <p:spPr>
          <a:xfrm>
            <a:off x="4910328" y="1399032"/>
            <a:ext cx="3566160" cy="105156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Risk-Register mit Scores und Massnahmen, kritisches Risiko R-S04 (Doku-Zeit) aktiv gesteuert: Halbzeit-Check, harte Defer-Regeln, Demo vor Feature-Vollstaendigkeit.</a:t>
            </a:r>
            <a:endParaRPr lang="en-US" sz="1050" dirty="0"/>
          </a:p>
        </p:txBody>
      </p:sp>
      <p:sp>
        <p:nvSpPr>
          <p:cNvPr id="9" name="Shape 7"/>
          <p:cNvSpPr/>
          <p:nvPr/>
        </p:nvSpPr>
        <p:spPr>
          <a:xfrm>
            <a:off x="548640" y="2697480"/>
            <a:ext cx="3931920" cy="1554480"/>
          </a:xfrm>
          <a:prstGeom prst="roundRect">
            <a:avLst>
              <a:gd name="adj" fmla="val 5882"/>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10" name="Text 8"/>
          <p:cNvSpPr/>
          <p:nvPr/>
        </p:nvSpPr>
        <p:spPr>
          <a:xfrm>
            <a:off x="749808" y="2807208"/>
            <a:ext cx="3566160" cy="301752"/>
          </a:xfrm>
          <a:prstGeom prst="rect">
            <a:avLst/>
          </a:prstGeom>
          <a:noFill/>
          <a:ln/>
        </p:spPr>
        <p:txBody>
          <a:bodyPr wrap="square" lIns="0" tIns="0" rIns="0" bIns="0" rtlCol="0" anchor="ctr"/>
          <a:lstStyle/>
          <a:p>
            <a:pPr marL="0" indent="0">
              <a:buNone/>
            </a:pPr>
            <a:r>
              <a:rPr lang="en-US" sz="1350" b="1" dirty="0">
                <a:solidFill>
                  <a:srgbClr val="0A1F3C"/>
                </a:solidFill>
                <a:latin typeface="Calibri" pitchFamily="34" charset="0"/>
                <a:ea typeface="Calibri" pitchFamily="34" charset="-122"/>
                <a:cs typeface="Calibri" pitchFamily="34" charset="-120"/>
              </a:rPr>
              <a:t>AI als Werkzeug, gemessen</a:t>
            </a:r>
            <a:endParaRPr lang="en-US" sz="1350" dirty="0"/>
          </a:p>
        </p:txBody>
      </p:sp>
      <p:sp>
        <p:nvSpPr>
          <p:cNvPr id="11" name="Text 9"/>
          <p:cNvSpPr/>
          <p:nvPr/>
        </p:nvSpPr>
        <p:spPr>
          <a:xfrm>
            <a:off x="749808" y="3136392"/>
            <a:ext cx="3566160" cy="105156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Pair-Engineering mit AI, pro Story Zeit erfasst: Multiplier 2.8x bis 10x je nach Story-Typ. Lesson: Commit-Granularitaet litt, fuers naechste Projekt kleinere Schritte.</a:t>
            </a:r>
            <a:endParaRPr lang="en-US" sz="1050" dirty="0"/>
          </a:p>
        </p:txBody>
      </p:sp>
      <p:sp>
        <p:nvSpPr>
          <p:cNvPr id="12" name="Shape 10"/>
          <p:cNvSpPr/>
          <p:nvPr/>
        </p:nvSpPr>
        <p:spPr>
          <a:xfrm>
            <a:off x="4709160" y="2697480"/>
            <a:ext cx="3931920" cy="1554480"/>
          </a:xfrm>
          <a:prstGeom prst="roundRect">
            <a:avLst>
              <a:gd name="adj" fmla="val 5882"/>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13" name="Text 11"/>
          <p:cNvSpPr/>
          <p:nvPr/>
        </p:nvSpPr>
        <p:spPr>
          <a:xfrm>
            <a:off x="4910328" y="2807208"/>
            <a:ext cx="3566160" cy="301752"/>
          </a:xfrm>
          <a:prstGeom prst="rect">
            <a:avLst/>
          </a:prstGeom>
          <a:noFill/>
          <a:ln/>
        </p:spPr>
        <p:txBody>
          <a:bodyPr wrap="square" lIns="0" tIns="0" rIns="0" bIns="0" rtlCol="0" anchor="ctr"/>
          <a:lstStyle/>
          <a:p>
            <a:pPr marL="0" indent="0">
              <a:buNone/>
            </a:pPr>
            <a:r>
              <a:rPr lang="en-US" sz="1350" b="1" dirty="0">
                <a:solidFill>
                  <a:srgbClr val="0A1F3C"/>
                </a:solidFill>
                <a:latin typeface="Calibri" pitchFamily="34" charset="0"/>
                <a:ea typeface="Calibri" pitchFamily="34" charset="-122"/>
                <a:cs typeface="Calibri" pitchFamily="34" charset="-120"/>
              </a:rPr>
              <a:t>Transparenz</a:t>
            </a:r>
            <a:endParaRPr lang="en-US" sz="1350" dirty="0"/>
          </a:p>
        </p:txBody>
      </p:sp>
      <p:sp>
        <p:nvSpPr>
          <p:cNvPr id="14" name="Text 12"/>
          <p:cNvSpPr/>
          <p:nvPr/>
        </p:nvSpPr>
        <p:spPr>
          <a:xfrm>
            <a:off x="4910328" y="3136392"/>
            <a:ext cx="3566160" cy="105156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Alles im Repo: Sprint-Journale, Evidence pro Story, Demos D-001 bis D-009, Findings-Log mit 145 Eintraegen, Mentoren hatten jederzeit Einblick.</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457200"/>
          </a:xfrm>
          <a:prstGeom prst="rect">
            <a:avLst/>
          </a:prstGeom>
          <a:noFill/>
          <a:ln/>
        </p:spPr>
        <p:txBody>
          <a:bodyPr wrap="square" rtlCol="0" anchor="ctr"/>
          <a:lstStyle/>
          <a:p>
            <a:pPr marL="0" indent="0">
              <a:buNone/>
            </a:pPr>
            <a:r>
              <a:rPr lang="en-US" sz="2500" b="1" dirty="0">
                <a:solidFill>
                  <a:srgbClr val="17263D"/>
                </a:solidFill>
                <a:latin typeface="Cambria" pitchFamily="34" charset="0"/>
                <a:ea typeface="Cambria" pitchFamily="34" charset="-122"/>
                <a:cs typeface="Cambria" pitchFamily="34" charset="-120"/>
              </a:rPr>
              <a:t>Backup: Gesamtarchitektur</a:t>
            </a:r>
            <a:endParaRPr lang="en-US" sz="2500" dirty="0"/>
          </a:p>
        </p:txBody>
      </p:sp>
      <p:sp>
        <p:nvSpPr>
          <p:cNvPr id="3" name="Shape 1"/>
          <p:cNvSpPr/>
          <p:nvPr/>
        </p:nvSpPr>
        <p:spPr>
          <a:xfrm>
            <a:off x="502920" y="914400"/>
            <a:ext cx="2148840" cy="3246120"/>
          </a:xfrm>
          <a:prstGeom prst="roundRect">
            <a:avLst>
              <a:gd name="adj" fmla="val 4255"/>
            </a:avLst>
          </a:prstGeom>
          <a:solidFill>
            <a:srgbClr val="E6EFFB"/>
          </a:solidFill>
          <a:ln/>
          <a:effectLst>
            <a:outerShdw blurRad="101600" dist="38100" dir="2700000" algn="bl" rotWithShape="0">
              <a:srgbClr val="1A2A44">
                <a:alpha val="18000"/>
              </a:srgbClr>
            </a:outerShdw>
          </a:effectLst>
        </p:spPr>
        <p:txBody>
          <a:bodyPr/>
          <a:lstStyle/>
          <a:p>
            <a:endParaRPr lang="en-GB"/>
          </a:p>
        </p:txBody>
      </p:sp>
      <p:sp>
        <p:nvSpPr>
          <p:cNvPr id="4" name="Text 2"/>
          <p:cNvSpPr/>
          <p:nvPr/>
        </p:nvSpPr>
        <p:spPr>
          <a:xfrm>
            <a:off x="502920" y="987552"/>
            <a:ext cx="2148840" cy="274320"/>
          </a:xfrm>
          <a:prstGeom prst="rect">
            <a:avLst/>
          </a:prstGeom>
          <a:noFill/>
          <a:ln/>
        </p:spPr>
        <p:txBody>
          <a:bodyPr wrap="square" rtlCol="0" anchor="ctr"/>
          <a:lstStyle/>
          <a:p>
            <a:pPr marL="0" indent="0" algn="ctr">
              <a:buNone/>
            </a:pPr>
            <a:r>
              <a:rPr lang="en-US" sz="1150" b="1" dirty="0">
                <a:solidFill>
                  <a:srgbClr val="17263D"/>
                </a:solidFill>
                <a:latin typeface="Calibri" pitchFamily="34" charset="0"/>
                <a:ea typeface="Calibri" pitchFamily="34" charset="-122"/>
                <a:cs typeface="Calibri" pitchFamily="34" charset="-120"/>
              </a:rPr>
              <a:t>iPhone-App (Expo / RN)</a:t>
            </a:r>
            <a:endParaRPr lang="en-US" sz="1150" dirty="0"/>
          </a:p>
        </p:txBody>
      </p:sp>
      <p:sp>
        <p:nvSpPr>
          <p:cNvPr id="5" name="Shape 3"/>
          <p:cNvSpPr/>
          <p:nvPr/>
        </p:nvSpPr>
        <p:spPr>
          <a:xfrm>
            <a:off x="640080" y="1353312"/>
            <a:ext cx="1874520" cy="603504"/>
          </a:xfrm>
          <a:prstGeom prst="roundRect">
            <a:avLst>
              <a:gd name="adj" fmla="val 9091"/>
            </a:avLst>
          </a:prstGeom>
          <a:solidFill>
            <a:srgbClr val="FFFFFF"/>
          </a:solidFill>
          <a:ln/>
        </p:spPr>
        <p:txBody>
          <a:bodyPr/>
          <a:lstStyle/>
          <a:p>
            <a:endParaRPr lang="en-GB"/>
          </a:p>
        </p:txBody>
      </p:sp>
      <p:sp>
        <p:nvSpPr>
          <p:cNvPr id="6" name="Text 4"/>
          <p:cNvSpPr/>
          <p:nvPr/>
        </p:nvSpPr>
        <p:spPr>
          <a:xfrm>
            <a:off x="731520" y="1399032"/>
            <a:ext cx="1691640" cy="219456"/>
          </a:xfrm>
          <a:prstGeom prst="rect">
            <a:avLst/>
          </a:prstGeom>
          <a:noFill/>
          <a:ln/>
        </p:spPr>
        <p:txBody>
          <a:bodyPr wrap="square" lIns="0" tIns="0" rIns="0" bIns="0" rtlCol="0" anchor="ctr"/>
          <a:lstStyle/>
          <a:p>
            <a:pPr marL="0" indent="0">
              <a:buNone/>
            </a:pPr>
            <a:r>
              <a:rPr lang="en-US" sz="950" b="1" dirty="0">
                <a:solidFill>
                  <a:srgbClr val="0A1F3C"/>
                </a:solidFill>
                <a:latin typeface="Calibri" pitchFamily="34" charset="0"/>
                <a:ea typeface="Calibri" pitchFamily="34" charset="-122"/>
                <a:cs typeface="Calibri" pitchFamily="34" charset="-120"/>
              </a:rPr>
              <a:t>Screens</a:t>
            </a:r>
            <a:endParaRPr lang="en-US" sz="950" dirty="0"/>
          </a:p>
        </p:txBody>
      </p:sp>
      <p:sp>
        <p:nvSpPr>
          <p:cNvPr id="7" name="Text 5"/>
          <p:cNvSpPr/>
          <p:nvPr/>
        </p:nvSpPr>
        <p:spPr>
          <a:xfrm>
            <a:off x="731520" y="1609344"/>
            <a:ext cx="1691640" cy="329184"/>
          </a:xfrm>
          <a:prstGeom prst="rect">
            <a:avLst/>
          </a:prstGeom>
          <a:noFill/>
          <a:ln/>
        </p:spPr>
        <p:txBody>
          <a:bodyPr wrap="square" lIns="0" tIns="0" rIns="0" bIns="0" rtlCol="0" anchor="t"/>
          <a:lstStyle/>
          <a:p>
            <a:pPr marL="0" indent="0">
              <a:buNone/>
            </a:pPr>
            <a:r>
              <a:rPr lang="en-US" sz="800" dirty="0">
                <a:solidFill>
                  <a:srgbClr val="5B6B82"/>
                </a:solidFill>
                <a:latin typeface="Calibri" pitchFamily="34" charset="0"/>
                <a:ea typeface="Calibri" pitchFamily="34" charset="-122"/>
                <a:cs typeface="Calibri" pitchFamily="34" charset="-120"/>
              </a:rPr>
              <a:t>Login, Home, Profil</a:t>
            </a:r>
            <a:endParaRPr lang="en-US" sz="800" dirty="0"/>
          </a:p>
        </p:txBody>
      </p:sp>
      <p:sp>
        <p:nvSpPr>
          <p:cNvPr id="8" name="Shape 6"/>
          <p:cNvSpPr/>
          <p:nvPr/>
        </p:nvSpPr>
        <p:spPr>
          <a:xfrm>
            <a:off x="640080" y="2048256"/>
            <a:ext cx="1874520" cy="603504"/>
          </a:xfrm>
          <a:prstGeom prst="roundRect">
            <a:avLst>
              <a:gd name="adj" fmla="val 9091"/>
            </a:avLst>
          </a:prstGeom>
          <a:solidFill>
            <a:srgbClr val="FFFFFF"/>
          </a:solidFill>
          <a:ln/>
        </p:spPr>
        <p:txBody>
          <a:bodyPr/>
          <a:lstStyle/>
          <a:p>
            <a:endParaRPr lang="en-GB"/>
          </a:p>
        </p:txBody>
      </p:sp>
      <p:sp>
        <p:nvSpPr>
          <p:cNvPr id="9" name="Text 7"/>
          <p:cNvSpPr/>
          <p:nvPr/>
        </p:nvSpPr>
        <p:spPr>
          <a:xfrm>
            <a:off x="731520" y="2093976"/>
            <a:ext cx="1691640" cy="219456"/>
          </a:xfrm>
          <a:prstGeom prst="rect">
            <a:avLst/>
          </a:prstGeom>
          <a:noFill/>
          <a:ln/>
        </p:spPr>
        <p:txBody>
          <a:bodyPr wrap="square" lIns="0" tIns="0" rIns="0" bIns="0" rtlCol="0" anchor="ctr"/>
          <a:lstStyle/>
          <a:p>
            <a:pPr marL="0" indent="0">
              <a:buNone/>
            </a:pPr>
            <a:r>
              <a:rPr lang="en-US" sz="950" b="1" dirty="0">
                <a:solidFill>
                  <a:srgbClr val="0A1F3C"/>
                </a:solidFill>
                <a:latin typeface="Calibri" pitchFamily="34" charset="0"/>
                <a:ea typeface="Calibri" pitchFamily="34" charset="-122"/>
                <a:cs typeface="Calibri" pitchFamily="34" charset="-120"/>
              </a:rPr>
              <a:t>Crypto-Layer</a:t>
            </a:r>
            <a:endParaRPr lang="en-US" sz="950" dirty="0"/>
          </a:p>
        </p:txBody>
      </p:sp>
      <p:sp>
        <p:nvSpPr>
          <p:cNvPr id="10" name="Text 8"/>
          <p:cNvSpPr/>
          <p:nvPr/>
        </p:nvSpPr>
        <p:spPr>
          <a:xfrm>
            <a:off x="731520" y="2304288"/>
            <a:ext cx="1691640" cy="329184"/>
          </a:xfrm>
          <a:prstGeom prst="rect">
            <a:avLst/>
          </a:prstGeom>
          <a:noFill/>
          <a:ln/>
        </p:spPr>
        <p:txBody>
          <a:bodyPr wrap="square" lIns="0" tIns="0" rIns="0" bIns="0" rtlCol="0" anchor="t"/>
          <a:lstStyle/>
          <a:p>
            <a:pPr marL="0" indent="0">
              <a:buNone/>
            </a:pPr>
            <a:r>
              <a:rPr lang="en-US" sz="800" dirty="0">
                <a:solidFill>
                  <a:srgbClr val="5B6B82"/>
                </a:solidFill>
                <a:latin typeface="Calibri" pitchFamily="34" charset="0"/>
                <a:ea typeface="Calibri" pitchFamily="34" charset="-122"/>
                <a:cs typeface="Calibri" pitchFamily="34" charset="-120"/>
              </a:rPr>
              <a:t>ML-KEM-768, AES-GCM, HKDF (noble-post-quantum)</a:t>
            </a:r>
            <a:endParaRPr lang="en-US" sz="800" dirty="0"/>
          </a:p>
        </p:txBody>
      </p:sp>
      <p:sp>
        <p:nvSpPr>
          <p:cNvPr id="11" name="Shape 9"/>
          <p:cNvSpPr/>
          <p:nvPr/>
        </p:nvSpPr>
        <p:spPr>
          <a:xfrm>
            <a:off x="640080" y="2743200"/>
            <a:ext cx="1874520" cy="603504"/>
          </a:xfrm>
          <a:prstGeom prst="roundRect">
            <a:avLst>
              <a:gd name="adj" fmla="val 9091"/>
            </a:avLst>
          </a:prstGeom>
          <a:solidFill>
            <a:srgbClr val="FFFFFF"/>
          </a:solidFill>
          <a:ln/>
        </p:spPr>
        <p:txBody>
          <a:bodyPr/>
          <a:lstStyle/>
          <a:p>
            <a:endParaRPr lang="en-GB"/>
          </a:p>
        </p:txBody>
      </p:sp>
      <p:sp>
        <p:nvSpPr>
          <p:cNvPr id="12" name="Text 10"/>
          <p:cNvSpPr/>
          <p:nvPr/>
        </p:nvSpPr>
        <p:spPr>
          <a:xfrm>
            <a:off x="731520" y="2788920"/>
            <a:ext cx="1691640" cy="219456"/>
          </a:xfrm>
          <a:prstGeom prst="rect">
            <a:avLst/>
          </a:prstGeom>
          <a:noFill/>
          <a:ln/>
        </p:spPr>
        <p:txBody>
          <a:bodyPr wrap="square" lIns="0" tIns="0" rIns="0" bIns="0" rtlCol="0" anchor="ctr"/>
          <a:lstStyle/>
          <a:p>
            <a:pPr marL="0" indent="0">
              <a:buNone/>
            </a:pPr>
            <a:r>
              <a:rPr lang="en-US" sz="950" b="1" dirty="0">
                <a:solidFill>
                  <a:srgbClr val="0A1F3C"/>
                </a:solidFill>
                <a:latin typeface="Calibri" pitchFamily="34" charset="0"/>
                <a:ea typeface="Calibri" pitchFamily="34" charset="-122"/>
                <a:cs typeface="Calibri" pitchFamily="34" charset="-120"/>
              </a:rPr>
              <a:t>secureClient</a:t>
            </a:r>
            <a:endParaRPr lang="en-US" sz="950" dirty="0"/>
          </a:p>
        </p:txBody>
      </p:sp>
      <p:sp>
        <p:nvSpPr>
          <p:cNvPr id="13" name="Text 11"/>
          <p:cNvSpPr/>
          <p:nvPr/>
        </p:nvSpPr>
        <p:spPr>
          <a:xfrm>
            <a:off x="731520" y="2999232"/>
            <a:ext cx="1691640" cy="329184"/>
          </a:xfrm>
          <a:prstGeom prst="rect">
            <a:avLst/>
          </a:prstGeom>
          <a:noFill/>
          <a:ln/>
        </p:spPr>
        <p:txBody>
          <a:bodyPr wrap="square" lIns="0" tIns="0" rIns="0" bIns="0" rtlCol="0" anchor="t"/>
          <a:lstStyle/>
          <a:p>
            <a:pPr marL="0" indent="0">
              <a:buNone/>
            </a:pPr>
            <a:r>
              <a:rPr lang="en-US" sz="800" dirty="0">
                <a:solidFill>
                  <a:srgbClr val="5B6B82"/>
                </a:solidFill>
                <a:latin typeface="Calibri" pitchFamily="34" charset="0"/>
                <a:ea typeface="Calibri" pitchFamily="34" charset="-122"/>
                <a:cs typeface="Calibri" pitchFamily="34" charset="-120"/>
              </a:rPr>
              <a:t>verschluesselte Requests</a:t>
            </a:r>
            <a:endParaRPr lang="en-US" sz="800" dirty="0"/>
          </a:p>
        </p:txBody>
      </p:sp>
      <p:sp>
        <p:nvSpPr>
          <p:cNvPr id="14" name="Shape 12"/>
          <p:cNvSpPr/>
          <p:nvPr/>
        </p:nvSpPr>
        <p:spPr>
          <a:xfrm>
            <a:off x="640080" y="3438144"/>
            <a:ext cx="1874520" cy="603504"/>
          </a:xfrm>
          <a:prstGeom prst="roundRect">
            <a:avLst>
              <a:gd name="adj" fmla="val 9091"/>
            </a:avLst>
          </a:prstGeom>
          <a:solidFill>
            <a:srgbClr val="FFFFFF"/>
          </a:solidFill>
          <a:ln/>
        </p:spPr>
        <p:txBody>
          <a:bodyPr/>
          <a:lstStyle/>
          <a:p>
            <a:endParaRPr lang="en-GB"/>
          </a:p>
        </p:txBody>
      </p:sp>
      <p:sp>
        <p:nvSpPr>
          <p:cNvPr id="15" name="Text 13"/>
          <p:cNvSpPr/>
          <p:nvPr/>
        </p:nvSpPr>
        <p:spPr>
          <a:xfrm>
            <a:off x="731520" y="3483864"/>
            <a:ext cx="1691640" cy="219456"/>
          </a:xfrm>
          <a:prstGeom prst="rect">
            <a:avLst/>
          </a:prstGeom>
          <a:noFill/>
          <a:ln/>
        </p:spPr>
        <p:txBody>
          <a:bodyPr wrap="square" lIns="0" tIns="0" rIns="0" bIns="0" rtlCol="0" anchor="ctr"/>
          <a:lstStyle/>
          <a:p>
            <a:pPr marL="0" indent="0">
              <a:buNone/>
            </a:pPr>
            <a:r>
              <a:rPr lang="en-US" sz="950" b="1" dirty="0">
                <a:solidFill>
                  <a:srgbClr val="0A1F3C"/>
                </a:solidFill>
                <a:latin typeface="Calibri" pitchFamily="34" charset="0"/>
                <a:ea typeface="Calibri" pitchFamily="34" charset="-122"/>
                <a:cs typeface="Calibri" pitchFamily="34" charset="-120"/>
              </a:rPr>
              <a:t>SecureStore</a:t>
            </a:r>
            <a:endParaRPr lang="en-US" sz="950" dirty="0"/>
          </a:p>
        </p:txBody>
      </p:sp>
      <p:sp>
        <p:nvSpPr>
          <p:cNvPr id="16" name="Text 14"/>
          <p:cNvSpPr/>
          <p:nvPr/>
        </p:nvSpPr>
        <p:spPr>
          <a:xfrm>
            <a:off x="731520" y="3694176"/>
            <a:ext cx="1691640" cy="329184"/>
          </a:xfrm>
          <a:prstGeom prst="rect">
            <a:avLst/>
          </a:prstGeom>
          <a:noFill/>
          <a:ln/>
        </p:spPr>
        <p:txBody>
          <a:bodyPr wrap="square" lIns="0" tIns="0" rIns="0" bIns="0" rtlCol="0" anchor="t"/>
          <a:lstStyle/>
          <a:p>
            <a:pPr marL="0" indent="0">
              <a:buNone/>
            </a:pPr>
            <a:r>
              <a:rPr lang="en-US" sz="800" dirty="0">
                <a:solidFill>
                  <a:srgbClr val="5B6B82"/>
                </a:solidFill>
                <a:latin typeface="Calibri" pitchFamily="34" charset="0"/>
                <a:ea typeface="Calibri" pitchFamily="34" charset="-122"/>
                <a:cs typeface="Calibri" pitchFamily="34" charset="-120"/>
              </a:rPr>
              <a:t>Token-Ablage</a:t>
            </a:r>
            <a:endParaRPr lang="en-US" sz="800" dirty="0"/>
          </a:p>
        </p:txBody>
      </p:sp>
      <p:sp>
        <p:nvSpPr>
          <p:cNvPr id="17" name="Shape 15"/>
          <p:cNvSpPr/>
          <p:nvPr/>
        </p:nvSpPr>
        <p:spPr>
          <a:xfrm>
            <a:off x="3017520" y="2148840"/>
            <a:ext cx="1371600" cy="914400"/>
          </a:xfrm>
          <a:prstGeom prst="roundRect">
            <a:avLst>
              <a:gd name="adj" fmla="val 8000"/>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18" name="Text 16"/>
          <p:cNvSpPr/>
          <p:nvPr/>
        </p:nvSpPr>
        <p:spPr>
          <a:xfrm>
            <a:off x="3017520" y="2240280"/>
            <a:ext cx="1371600" cy="256032"/>
          </a:xfrm>
          <a:prstGeom prst="rect">
            <a:avLst/>
          </a:prstGeom>
          <a:noFill/>
          <a:ln/>
        </p:spPr>
        <p:txBody>
          <a:bodyPr wrap="square" rtlCol="0" anchor="ctr"/>
          <a:lstStyle/>
          <a:p>
            <a:pPr marL="0" indent="0" algn="ctr">
              <a:buNone/>
            </a:pPr>
            <a:r>
              <a:rPr lang="en-US" sz="1150" b="1" dirty="0">
                <a:solidFill>
                  <a:srgbClr val="17263D"/>
                </a:solidFill>
                <a:latin typeface="Calibri" pitchFamily="34" charset="0"/>
                <a:ea typeface="Calibri" pitchFamily="34" charset="-122"/>
                <a:cs typeface="Calibri" pitchFamily="34" charset="-120"/>
              </a:rPr>
              <a:t>nginx</a:t>
            </a:r>
            <a:endParaRPr lang="en-US" sz="1150" dirty="0"/>
          </a:p>
        </p:txBody>
      </p:sp>
      <p:sp>
        <p:nvSpPr>
          <p:cNvPr id="19" name="Text 17"/>
          <p:cNvSpPr/>
          <p:nvPr/>
        </p:nvSpPr>
        <p:spPr>
          <a:xfrm>
            <a:off x="3017520" y="2505456"/>
            <a:ext cx="1371600" cy="502920"/>
          </a:xfrm>
          <a:prstGeom prst="rect">
            <a:avLst/>
          </a:prstGeom>
          <a:noFill/>
          <a:ln/>
        </p:spPr>
        <p:txBody>
          <a:bodyPr wrap="square" rtlCol="0" anchor="ctr"/>
          <a:lstStyle/>
          <a:p>
            <a:pPr marL="0" indent="0" algn="ctr">
              <a:buNone/>
            </a:pPr>
            <a:r>
              <a:rPr lang="en-US" sz="750" dirty="0">
                <a:solidFill>
                  <a:srgbClr val="5B6B82"/>
                </a:solidFill>
                <a:latin typeface="Calibri" pitchFamily="34" charset="0"/>
                <a:ea typeface="Calibri" pitchFamily="34" charset="-122"/>
                <a:cs typeface="Calibri" pitchFamily="34" charset="-120"/>
              </a:rPr>
              <a:t>oqs-provider</a:t>
            </a:r>
            <a:endParaRPr lang="en-US" sz="750" dirty="0"/>
          </a:p>
          <a:p>
            <a:pPr marL="0" indent="0" algn="ctr">
              <a:buNone/>
            </a:pPr>
            <a:r>
              <a:rPr lang="en-US" sz="750" dirty="0">
                <a:solidFill>
                  <a:srgbClr val="5B6B82"/>
                </a:solidFill>
                <a:latin typeface="Calibri" pitchFamily="34" charset="0"/>
                <a:ea typeface="Calibri" pitchFamily="34" charset="-122"/>
                <a:cs typeface="Calibri" pitchFamily="34" charset="-120"/>
              </a:rPr>
              <a:t>TLS X25519MLKEM768</a:t>
            </a:r>
            <a:endParaRPr lang="en-US" sz="750" dirty="0"/>
          </a:p>
        </p:txBody>
      </p:sp>
      <p:sp>
        <p:nvSpPr>
          <p:cNvPr id="20" name="Shape 18"/>
          <p:cNvSpPr/>
          <p:nvPr/>
        </p:nvSpPr>
        <p:spPr>
          <a:xfrm>
            <a:off x="2651760" y="2606040"/>
            <a:ext cx="365760" cy="0"/>
          </a:xfrm>
          <a:prstGeom prst="line">
            <a:avLst/>
          </a:prstGeom>
          <a:noFill/>
          <a:ln w="31750">
            <a:solidFill>
              <a:srgbClr val="0E7A57"/>
            </a:solidFill>
            <a:prstDash val="solid"/>
            <a:tailEnd type="triangle"/>
          </a:ln>
        </p:spPr>
        <p:txBody>
          <a:bodyPr/>
          <a:lstStyle/>
          <a:p>
            <a:endParaRPr lang="en-GB"/>
          </a:p>
        </p:txBody>
      </p:sp>
      <p:sp>
        <p:nvSpPr>
          <p:cNvPr id="21" name="Shape 19"/>
          <p:cNvSpPr/>
          <p:nvPr/>
        </p:nvSpPr>
        <p:spPr>
          <a:xfrm>
            <a:off x="4389120" y="2606040"/>
            <a:ext cx="365760" cy="0"/>
          </a:xfrm>
          <a:prstGeom prst="line">
            <a:avLst/>
          </a:prstGeom>
          <a:noFill/>
          <a:ln w="31750">
            <a:solidFill>
              <a:srgbClr val="0E7A57"/>
            </a:solidFill>
            <a:prstDash val="solid"/>
            <a:tailEnd type="triangle"/>
          </a:ln>
        </p:spPr>
        <p:txBody>
          <a:bodyPr/>
          <a:lstStyle/>
          <a:p>
            <a:endParaRPr lang="en-GB"/>
          </a:p>
        </p:txBody>
      </p:sp>
      <p:sp>
        <p:nvSpPr>
          <p:cNvPr id="22" name="Shape 20"/>
          <p:cNvSpPr/>
          <p:nvPr/>
        </p:nvSpPr>
        <p:spPr>
          <a:xfrm>
            <a:off x="2880360" y="914400"/>
            <a:ext cx="1645920" cy="777240"/>
          </a:xfrm>
          <a:prstGeom prst="roundRect">
            <a:avLst>
              <a:gd name="adj" fmla="val 9412"/>
            </a:avLst>
          </a:prstGeom>
          <a:solidFill>
            <a:srgbClr val="FDF3E6"/>
          </a:solidFill>
          <a:ln w="15875">
            <a:solidFill>
              <a:srgbClr val="E8A13D"/>
            </a:solidFill>
            <a:prstDash val="dash"/>
          </a:ln>
        </p:spPr>
        <p:txBody>
          <a:bodyPr/>
          <a:lstStyle/>
          <a:p>
            <a:endParaRPr lang="en-GB"/>
          </a:p>
        </p:txBody>
      </p:sp>
      <p:sp>
        <p:nvSpPr>
          <p:cNvPr id="23" name="Text 21"/>
          <p:cNvSpPr/>
          <p:nvPr/>
        </p:nvSpPr>
        <p:spPr>
          <a:xfrm>
            <a:off x="2880360" y="1005840"/>
            <a:ext cx="1645920" cy="256032"/>
          </a:xfrm>
          <a:prstGeom prst="rect">
            <a:avLst/>
          </a:prstGeom>
          <a:noFill/>
          <a:ln/>
        </p:spPr>
        <p:txBody>
          <a:bodyPr wrap="square" rtlCol="0" anchor="ctr"/>
          <a:lstStyle/>
          <a:p>
            <a:pPr marL="0" indent="0" algn="ctr">
              <a:buNone/>
            </a:pPr>
            <a:r>
              <a:rPr lang="en-US" sz="1000" b="1" dirty="0">
                <a:solidFill>
                  <a:srgbClr val="17263D"/>
                </a:solidFill>
                <a:latin typeface="Calibri" pitchFamily="34" charset="0"/>
                <a:ea typeface="Calibri" pitchFamily="34" charset="-122"/>
                <a:cs typeface="Calibri" pitchFamily="34" charset="-120"/>
              </a:rPr>
              <a:t>Google / Microsoft</a:t>
            </a:r>
            <a:endParaRPr lang="en-US" sz="1000" dirty="0"/>
          </a:p>
        </p:txBody>
      </p:sp>
      <p:sp>
        <p:nvSpPr>
          <p:cNvPr id="24" name="Text 22"/>
          <p:cNvSpPr/>
          <p:nvPr/>
        </p:nvSpPr>
        <p:spPr>
          <a:xfrm>
            <a:off x="2880360" y="1261872"/>
            <a:ext cx="1645920" cy="256032"/>
          </a:xfrm>
          <a:prstGeom prst="rect">
            <a:avLst/>
          </a:prstGeom>
          <a:noFill/>
          <a:ln/>
        </p:spPr>
        <p:txBody>
          <a:bodyPr wrap="square"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externe IdPs (OIDC)</a:t>
            </a:r>
            <a:endParaRPr lang="en-US" sz="850" dirty="0"/>
          </a:p>
        </p:txBody>
      </p:sp>
      <p:sp>
        <p:nvSpPr>
          <p:cNvPr id="25" name="Shape 23"/>
          <p:cNvSpPr/>
          <p:nvPr/>
        </p:nvSpPr>
        <p:spPr>
          <a:xfrm>
            <a:off x="4526280" y="1298448"/>
            <a:ext cx="502920" cy="0"/>
          </a:xfrm>
          <a:prstGeom prst="line">
            <a:avLst/>
          </a:prstGeom>
          <a:noFill/>
          <a:ln w="22225">
            <a:solidFill>
              <a:srgbClr val="E8A13D"/>
            </a:solidFill>
            <a:prstDash val="dash"/>
            <a:tailEnd type="triangle"/>
          </a:ln>
        </p:spPr>
        <p:txBody>
          <a:bodyPr/>
          <a:lstStyle/>
          <a:p>
            <a:endParaRPr lang="en-GB"/>
          </a:p>
        </p:txBody>
      </p:sp>
      <p:sp>
        <p:nvSpPr>
          <p:cNvPr id="26" name="Shape 24"/>
          <p:cNvSpPr/>
          <p:nvPr/>
        </p:nvSpPr>
        <p:spPr>
          <a:xfrm>
            <a:off x="5029200" y="914400"/>
            <a:ext cx="3611880" cy="3246120"/>
          </a:xfrm>
          <a:prstGeom prst="roundRect">
            <a:avLst>
              <a:gd name="adj" fmla="val 2817"/>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27" name="Text 25"/>
          <p:cNvSpPr/>
          <p:nvPr/>
        </p:nvSpPr>
        <p:spPr>
          <a:xfrm>
            <a:off x="5029200" y="987552"/>
            <a:ext cx="3611880" cy="274320"/>
          </a:xfrm>
          <a:prstGeom prst="rect">
            <a:avLst/>
          </a:prstGeom>
          <a:noFill/>
          <a:ln/>
        </p:spPr>
        <p:txBody>
          <a:bodyPr wrap="square" rtlCol="0" anchor="ctr"/>
          <a:lstStyle/>
          <a:p>
            <a:pPr marL="0" indent="0" algn="ctr">
              <a:buNone/>
            </a:pPr>
            <a:r>
              <a:rPr lang="en-US" sz="1150" b="1" dirty="0">
                <a:solidFill>
                  <a:srgbClr val="17263D"/>
                </a:solidFill>
                <a:latin typeface="Calibri" pitchFamily="34" charset="0"/>
                <a:ea typeface="Calibri" pitchFamily="34" charset="-122"/>
                <a:cs typeface="Calibri" pitchFamily="34" charset="-120"/>
              </a:rPr>
              <a:t>Auth-Service (Python / FastAPI)</a:t>
            </a:r>
            <a:endParaRPr lang="en-US" sz="1150" dirty="0"/>
          </a:p>
        </p:txBody>
      </p:sp>
      <p:sp>
        <p:nvSpPr>
          <p:cNvPr id="28" name="Shape 26"/>
          <p:cNvSpPr/>
          <p:nvPr/>
        </p:nvSpPr>
        <p:spPr>
          <a:xfrm>
            <a:off x="5166360" y="1353312"/>
            <a:ext cx="1645920" cy="804672"/>
          </a:xfrm>
          <a:prstGeom prst="roundRect">
            <a:avLst>
              <a:gd name="adj" fmla="val 6818"/>
            </a:avLst>
          </a:prstGeom>
          <a:solidFill>
            <a:srgbClr val="FFFFFF"/>
          </a:solidFill>
          <a:ln/>
        </p:spPr>
        <p:txBody>
          <a:bodyPr/>
          <a:lstStyle/>
          <a:p>
            <a:endParaRPr lang="en-GB"/>
          </a:p>
        </p:txBody>
      </p:sp>
      <p:sp>
        <p:nvSpPr>
          <p:cNvPr id="29" name="Text 27"/>
          <p:cNvSpPr/>
          <p:nvPr/>
        </p:nvSpPr>
        <p:spPr>
          <a:xfrm>
            <a:off x="5257800" y="1408176"/>
            <a:ext cx="1463040" cy="237744"/>
          </a:xfrm>
          <a:prstGeom prst="rect">
            <a:avLst/>
          </a:prstGeom>
          <a:noFill/>
          <a:ln/>
        </p:spPr>
        <p:txBody>
          <a:bodyPr wrap="square" lIns="0" tIns="0" rIns="0" bIns="0" rtlCol="0" anchor="ctr"/>
          <a:lstStyle/>
          <a:p>
            <a:pPr marL="0" indent="0">
              <a:buNone/>
            </a:pPr>
            <a:r>
              <a:rPr lang="en-US" sz="900" b="1" dirty="0">
                <a:solidFill>
                  <a:srgbClr val="0A1F3C"/>
                </a:solidFill>
                <a:latin typeface="Calibri" pitchFamily="34" charset="0"/>
                <a:ea typeface="Calibri" pitchFamily="34" charset="-122"/>
                <a:cs typeface="Calibri" pitchFamily="34" charset="-120"/>
              </a:rPr>
              <a:t>Router</a:t>
            </a:r>
            <a:endParaRPr lang="en-US" sz="900" dirty="0"/>
          </a:p>
        </p:txBody>
      </p:sp>
      <p:sp>
        <p:nvSpPr>
          <p:cNvPr id="30" name="Text 28"/>
          <p:cNvSpPr/>
          <p:nvPr/>
        </p:nvSpPr>
        <p:spPr>
          <a:xfrm>
            <a:off x="5257800" y="1645920"/>
            <a:ext cx="1463040" cy="475488"/>
          </a:xfrm>
          <a:prstGeom prst="rect">
            <a:avLst/>
          </a:prstGeom>
          <a:noFill/>
          <a:ln/>
        </p:spPr>
        <p:txBody>
          <a:bodyPr wrap="square" lIns="0" tIns="0" rIns="0" bIns="0" rtlCol="0" anchor="t"/>
          <a:lstStyle/>
          <a:p>
            <a:pPr marL="0" indent="0">
              <a:buNone/>
            </a:pPr>
            <a:r>
              <a:rPr lang="en-US" sz="750" dirty="0">
                <a:solidFill>
                  <a:srgbClr val="5B6B82"/>
                </a:solidFill>
                <a:latin typeface="Calibri" pitchFamily="34" charset="0"/>
                <a:ea typeface="Calibri" pitchFamily="34" charset="-122"/>
                <a:cs typeface="Calibri" pitchFamily="34" charset="-120"/>
              </a:rPr>
              <a:t>/auth, /session, /api, /auth/federated, /jwks</a:t>
            </a:r>
            <a:endParaRPr lang="en-US" sz="750" dirty="0"/>
          </a:p>
        </p:txBody>
      </p:sp>
      <p:sp>
        <p:nvSpPr>
          <p:cNvPr id="31" name="Shape 29"/>
          <p:cNvSpPr/>
          <p:nvPr/>
        </p:nvSpPr>
        <p:spPr>
          <a:xfrm>
            <a:off x="6949440" y="1353312"/>
            <a:ext cx="1645920" cy="804672"/>
          </a:xfrm>
          <a:prstGeom prst="roundRect">
            <a:avLst>
              <a:gd name="adj" fmla="val 6818"/>
            </a:avLst>
          </a:prstGeom>
          <a:solidFill>
            <a:srgbClr val="FFFFFF"/>
          </a:solidFill>
          <a:ln/>
        </p:spPr>
        <p:txBody>
          <a:bodyPr/>
          <a:lstStyle/>
          <a:p>
            <a:endParaRPr lang="en-GB"/>
          </a:p>
        </p:txBody>
      </p:sp>
      <p:sp>
        <p:nvSpPr>
          <p:cNvPr id="32" name="Text 30"/>
          <p:cNvSpPr/>
          <p:nvPr/>
        </p:nvSpPr>
        <p:spPr>
          <a:xfrm>
            <a:off x="7040880" y="1408176"/>
            <a:ext cx="1463040" cy="237744"/>
          </a:xfrm>
          <a:prstGeom prst="rect">
            <a:avLst/>
          </a:prstGeom>
          <a:noFill/>
          <a:ln/>
        </p:spPr>
        <p:txBody>
          <a:bodyPr wrap="square" lIns="0" tIns="0" rIns="0" bIns="0" rtlCol="0" anchor="ctr"/>
          <a:lstStyle/>
          <a:p>
            <a:pPr marL="0" indent="0">
              <a:buNone/>
            </a:pPr>
            <a:r>
              <a:rPr lang="en-US" sz="900" b="1" dirty="0">
                <a:solidFill>
                  <a:srgbClr val="0A1F3C"/>
                </a:solidFill>
                <a:latin typeface="Calibri" pitchFamily="34" charset="0"/>
                <a:ea typeface="Calibri" pitchFamily="34" charset="-122"/>
                <a:cs typeface="Calibri" pitchFamily="34" charset="-120"/>
              </a:rPr>
              <a:t>OIDC-Broker</a:t>
            </a:r>
            <a:endParaRPr lang="en-US" sz="900" dirty="0"/>
          </a:p>
        </p:txBody>
      </p:sp>
      <p:sp>
        <p:nvSpPr>
          <p:cNvPr id="33" name="Text 31"/>
          <p:cNvSpPr/>
          <p:nvPr/>
        </p:nvSpPr>
        <p:spPr>
          <a:xfrm>
            <a:off x="7040880" y="1645920"/>
            <a:ext cx="1463040" cy="475488"/>
          </a:xfrm>
          <a:prstGeom prst="rect">
            <a:avLst/>
          </a:prstGeom>
          <a:noFill/>
          <a:ln/>
        </p:spPr>
        <p:txBody>
          <a:bodyPr wrap="square" lIns="0" tIns="0" rIns="0" bIns="0" rtlCol="0" anchor="t"/>
          <a:lstStyle/>
          <a:p>
            <a:pPr marL="0" indent="0">
              <a:buNone/>
            </a:pPr>
            <a:r>
              <a:rPr lang="en-US" sz="750" dirty="0">
                <a:solidFill>
                  <a:srgbClr val="5B6B82"/>
                </a:solidFill>
                <a:latin typeface="Calibri" pitchFamily="34" charset="0"/>
                <a:ea typeface="Calibri" pitchFamily="34" charset="-122"/>
                <a:cs typeface="Calibri" pitchFamily="34" charset="-120"/>
              </a:rPr>
              <a:t>Federation, State, Code-Exchange</a:t>
            </a:r>
            <a:endParaRPr lang="en-US" sz="750" dirty="0"/>
          </a:p>
        </p:txBody>
      </p:sp>
      <p:sp>
        <p:nvSpPr>
          <p:cNvPr id="34" name="Shape 32"/>
          <p:cNvSpPr/>
          <p:nvPr/>
        </p:nvSpPr>
        <p:spPr>
          <a:xfrm>
            <a:off x="5166360" y="2286000"/>
            <a:ext cx="1645920" cy="804672"/>
          </a:xfrm>
          <a:prstGeom prst="roundRect">
            <a:avLst>
              <a:gd name="adj" fmla="val 6818"/>
            </a:avLst>
          </a:prstGeom>
          <a:solidFill>
            <a:srgbClr val="FFFFFF"/>
          </a:solidFill>
          <a:ln/>
        </p:spPr>
        <p:txBody>
          <a:bodyPr/>
          <a:lstStyle/>
          <a:p>
            <a:endParaRPr lang="en-GB"/>
          </a:p>
        </p:txBody>
      </p:sp>
      <p:sp>
        <p:nvSpPr>
          <p:cNvPr id="35" name="Text 33"/>
          <p:cNvSpPr/>
          <p:nvPr/>
        </p:nvSpPr>
        <p:spPr>
          <a:xfrm>
            <a:off x="5257800" y="2340864"/>
            <a:ext cx="1463040" cy="237744"/>
          </a:xfrm>
          <a:prstGeom prst="rect">
            <a:avLst/>
          </a:prstGeom>
          <a:noFill/>
          <a:ln/>
        </p:spPr>
        <p:txBody>
          <a:bodyPr wrap="square" lIns="0" tIns="0" rIns="0" bIns="0" rtlCol="0" anchor="ctr"/>
          <a:lstStyle/>
          <a:p>
            <a:pPr marL="0" indent="0">
              <a:buNone/>
            </a:pPr>
            <a:r>
              <a:rPr lang="en-US" sz="900" b="1" dirty="0">
                <a:solidFill>
                  <a:srgbClr val="0A1F3C"/>
                </a:solidFill>
                <a:latin typeface="Calibri" pitchFamily="34" charset="0"/>
                <a:ea typeface="Calibri" pitchFamily="34" charset="-122"/>
                <a:cs typeface="Calibri" pitchFamily="34" charset="-120"/>
              </a:rPr>
              <a:t>TokenService</a:t>
            </a:r>
            <a:endParaRPr lang="en-US" sz="900" dirty="0"/>
          </a:p>
        </p:txBody>
      </p:sp>
      <p:sp>
        <p:nvSpPr>
          <p:cNvPr id="36" name="Text 34"/>
          <p:cNvSpPr/>
          <p:nvPr/>
        </p:nvSpPr>
        <p:spPr>
          <a:xfrm>
            <a:off x="5257800" y="2578608"/>
            <a:ext cx="1463040" cy="475488"/>
          </a:xfrm>
          <a:prstGeom prst="rect">
            <a:avLst/>
          </a:prstGeom>
          <a:noFill/>
          <a:ln/>
        </p:spPr>
        <p:txBody>
          <a:bodyPr wrap="square" lIns="0" tIns="0" rIns="0" bIns="0" rtlCol="0" anchor="t"/>
          <a:lstStyle/>
          <a:p>
            <a:pPr marL="0" indent="0">
              <a:buNone/>
            </a:pPr>
            <a:r>
              <a:rPr lang="en-US" sz="750" dirty="0">
                <a:solidFill>
                  <a:srgbClr val="5B6B82"/>
                </a:solidFill>
                <a:latin typeface="Calibri" pitchFamily="34" charset="0"/>
                <a:ea typeface="Calibri" pitchFamily="34" charset="-122"/>
                <a:cs typeface="Calibri" pitchFamily="34" charset="-120"/>
              </a:rPr>
              <a:t>ML-DSA-65 Sign/Verify, Key-Rotation</a:t>
            </a:r>
            <a:endParaRPr lang="en-US" sz="750" dirty="0"/>
          </a:p>
        </p:txBody>
      </p:sp>
      <p:sp>
        <p:nvSpPr>
          <p:cNvPr id="37" name="Shape 35"/>
          <p:cNvSpPr/>
          <p:nvPr/>
        </p:nvSpPr>
        <p:spPr>
          <a:xfrm>
            <a:off x="6949440" y="2286000"/>
            <a:ext cx="1645920" cy="804672"/>
          </a:xfrm>
          <a:prstGeom prst="roundRect">
            <a:avLst>
              <a:gd name="adj" fmla="val 6818"/>
            </a:avLst>
          </a:prstGeom>
          <a:solidFill>
            <a:srgbClr val="FFFFFF"/>
          </a:solidFill>
          <a:ln/>
        </p:spPr>
        <p:txBody>
          <a:bodyPr/>
          <a:lstStyle/>
          <a:p>
            <a:endParaRPr lang="en-GB"/>
          </a:p>
        </p:txBody>
      </p:sp>
      <p:sp>
        <p:nvSpPr>
          <p:cNvPr id="38" name="Text 36"/>
          <p:cNvSpPr/>
          <p:nvPr/>
        </p:nvSpPr>
        <p:spPr>
          <a:xfrm>
            <a:off x="7040880" y="2340864"/>
            <a:ext cx="1463040" cy="237744"/>
          </a:xfrm>
          <a:prstGeom prst="rect">
            <a:avLst/>
          </a:prstGeom>
          <a:noFill/>
          <a:ln/>
        </p:spPr>
        <p:txBody>
          <a:bodyPr wrap="square" lIns="0" tIns="0" rIns="0" bIns="0" rtlCol="0" anchor="ctr"/>
          <a:lstStyle/>
          <a:p>
            <a:pPr marL="0" indent="0">
              <a:buNone/>
            </a:pPr>
            <a:r>
              <a:rPr lang="en-US" sz="900" b="1" dirty="0">
                <a:solidFill>
                  <a:srgbClr val="0A1F3C"/>
                </a:solidFill>
                <a:latin typeface="Calibri" pitchFamily="34" charset="0"/>
                <a:ea typeface="Calibri" pitchFamily="34" charset="-122"/>
                <a:cs typeface="Calibri" pitchFamily="34" charset="-120"/>
              </a:rPr>
              <a:t>CryptoFacade + Registry</a:t>
            </a:r>
            <a:endParaRPr lang="en-US" sz="900" dirty="0"/>
          </a:p>
        </p:txBody>
      </p:sp>
      <p:sp>
        <p:nvSpPr>
          <p:cNvPr id="39" name="Text 37"/>
          <p:cNvSpPr/>
          <p:nvPr/>
        </p:nvSpPr>
        <p:spPr>
          <a:xfrm>
            <a:off x="7040880" y="2578608"/>
            <a:ext cx="1463040" cy="475488"/>
          </a:xfrm>
          <a:prstGeom prst="rect">
            <a:avLst/>
          </a:prstGeom>
          <a:noFill/>
          <a:ln/>
        </p:spPr>
        <p:txBody>
          <a:bodyPr wrap="square" lIns="0" tIns="0" rIns="0" bIns="0" rtlCol="0" anchor="t"/>
          <a:lstStyle/>
          <a:p>
            <a:pPr marL="0" indent="0">
              <a:buNone/>
            </a:pPr>
            <a:r>
              <a:rPr lang="en-US" sz="750" dirty="0">
                <a:solidFill>
                  <a:srgbClr val="5B6B82"/>
                </a:solidFill>
                <a:latin typeface="Calibri" pitchFamily="34" charset="0"/>
                <a:ea typeface="Calibri" pitchFamily="34" charset="-122"/>
                <a:cs typeface="Calibri" pitchFamily="34" charset="-120"/>
              </a:rPr>
              <a:t>liboqs, Crypto-Agility</a:t>
            </a:r>
            <a:endParaRPr lang="en-US" sz="750" dirty="0"/>
          </a:p>
        </p:txBody>
      </p:sp>
      <p:sp>
        <p:nvSpPr>
          <p:cNvPr id="40" name="Shape 38"/>
          <p:cNvSpPr/>
          <p:nvPr/>
        </p:nvSpPr>
        <p:spPr>
          <a:xfrm>
            <a:off x="5166360" y="3218688"/>
            <a:ext cx="1645920" cy="804672"/>
          </a:xfrm>
          <a:prstGeom prst="roundRect">
            <a:avLst>
              <a:gd name="adj" fmla="val 6818"/>
            </a:avLst>
          </a:prstGeom>
          <a:solidFill>
            <a:srgbClr val="FFFFFF"/>
          </a:solidFill>
          <a:ln/>
        </p:spPr>
        <p:txBody>
          <a:bodyPr/>
          <a:lstStyle/>
          <a:p>
            <a:endParaRPr lang="en-GB"/>
          </a:p>
        </p:txBody>
      </p:sp>
      <p:sp>
        <p:nvSpPr>
          <p:cNvPr id="41" name="Text 39"/>
          <p:cNvSpPr/>
          <p:nvPr/>
        </p:nvSpPr>
        <p:spPr>
          <a:xfrm>
            <a:off x="5257800" y="3273552"/>
            <a:ext cx="1463040" cy="237744"/>
          </a:xfrm>
          <a:prstGeom prst="rect">
            <a:avLst/>
          </a:prstGeom>
          <a:noFill/>
          <a:ln/>
        </p:spPr>
        <p:txBody>
          <a:bodyPr wrap="square" lIns="0" tIns="0" rIns="0" bIns="0" rtlCol="0" anchor="ctr"/>
          <a:lstStyle/>
          <a:p>
            <a:pPr marL="0" indent="0">
              <a:buNone/>
            </a:pPr>
            <a:r>
              <a:rPr lang="en-US" sz="900" b="1" dirty="0">
                <a:solidFill>
                  <a:srgbClr val="0A1F3C"/>
                </a:solidFill>
                <a:latin typeface="Calibri" pitchFamily="34" charset="0"/>
                <a:ea typeface="Calibri" pitchFamily="34" charset="-122"/>
                <a:cs typeface="Calibri" pitchFamily="34" charset="-120"/>
              </a:rPr>
              <a:t>SessionService</a:t>
            </a:r>
            <a:endParaRPr lang="en-US" sz="900" dirty="0"/>
          </a:p>
        </p:txBody>
      </p:sp>
      <p:sp>
        <p:nvSpPr>
          <p:cNvPr id="42" name="Text 40"/>
          <p:cNvSpPr/>
          <p:nvPr/>
        </p:nvSpPr>
        <p:spPr>
          <a:xfrm>
            <a:off x="5257800" y="3511296"/>
            <a:ext cx="1463040" cy="475488"/>
          </a:xfrm>
          <a:prstGeom prst="rect">
            <a:avLst/>
          </a:prstGeom>
          <a:noFill/>
          <a:ln/>
        </p:spPr>
        <p:txBody>
          <a:bodyPr wrap="square" lIns="0" tIns="0" rIns="0" bIns="0" rtlCol="0" anchor="t"/>
          <a:lstStyle/>
          <a:p>
            <a:pPr marL="0" indent="0">
              <a:buNone/>
            </a:pPr>
            <a:r>
              <a:rPr lang="en-US" sz="750" dirty="0">
                <a:solidFill>
                  <a:srgbClr val="5B6B82"/>
                </a:solidFill>
                <a:latin typeface="Calibri" pitchFamily="34" charset="0"/>
                <a:ea typeface="Calibri" pitchFamily="34" charset="-122"/>
                <a:cs typeface="Calibri" pitchFamily="34" charset="-120"/>
              </a:rPr>
              <a:t>ML-KEM-Sessions, HKDF</a:t>
            </a:r>
            <a:endParaRPr lang="en-US" sz="750" dirty="0"/>
          </a:p>
        </p:txBody>
      </p:sp>
      <p:sp>
        <p:nvSpPr>
          <p:cNvPr id="43" name="Shape 41"/>
          <p:cNvSpPr/>
          <p:nvPr/>
        </p:nvSpPr>
        <p:spPr>
          <a:xfrm>
            <a:off x="6949440" y="3218688"/>
            <a:ext cx="1645920" cy="804672"/>
          </a:xfrm>
          <a:prstGeom prst="roundRect">
            <a:avLst>
              <a:gd name="adj" fmla="val 6818"/>
            </a:avLst>
          </a:prstGeom>
          <a:solidFill>
            <a:srgbClr val="FFFFFF"/>
          </a:solidFill>
          <a:ln/>
        </p:spPr>
        <p:txBody>
          <a:bodyPr/>
          <a:lstStyle/>
          <a:p>
            <a:endParaRPr lang="en-GB"/>
          </a:p>
        </p:txBody>
      </p:sp>
      <p:sp>
        <p:nvSpPr>
          <p:cNvPr id="44" name="Text 42"/>
          <p:cNvSpPr/>
          <p:nvPr/>
        </p:nvSpPr>
        <p:spPr>
          <a:xfrm>
            <a:off x="7040880" y="3273552"/>
            <a:ext cx="1463040" cy="237744"/>
          </a:xfrm>
          <a:prstGeom prst="rect">
            <a:avLst/>
          </a:prstGeom>
          <a:noFill/>
          <a:ln/>
        </p:spPr>
        <p:txBody>
          <a:bodyPr wrap="square" lIns="0" tIns="0" rIns="0" bIns="0" rtlCol="0" anchor="ctr"/>
          <a:lstStyle/>
          <a:p>
            <a:pPr marL="0" indent="0">
              <a:buNone/>
            </a:pPr>
            <a:r>
              <a:rPr lang="en-US" sz="900" b="1" dirty="0">
                <a:solidFill>
                  <a:srgbClr val="0A1F3C"/>
                </a:solidFill>
                <a:latin typeface="Calibri" pitchFamily="34" charset="0"/>
                <a:ea typeface="Calibri" pitchFamily="34" charset="-122"/>
                <a:cs typeface="Calibri" pitchFamily="34" charset="-120"/>
              </a:rPr>
              <a:t>NonceTracker + Argon2id</a:t>
            </a:r>
            <a:endParaRPr lang="en-US" sz="900" dirty="0"/>
          </a:p>
        </p:txBody>
      </p:sp>
      <p:sp>
        <p:nvSpPr>
          <p:cNvPr id="45" name="Text 43"/>
          <p:cNvSpPr/>
          <p:nvPr/>
        </p:nvSpPr>
        <p:spPr>
          <a:xfrm>
            <a:off x="7040880" y="3511296"/>
            <a:ext cx="1463040" cy="475488"/>
          </a:xfrm>
          <a:prstGeom prst="rect">
            <a:avLst/>
          </a:prstGeom>
          <a:noFill/>
          <a:ln/>
        </p:spPr>
        <p:txBody>
          <a:bodyPr wrap="square" lIns="0" tIns="0" rIns="0" bIns="0" rtlCol="0" anchor="t"/>
          <a:lstStyle/>
          <a:p>
            <a:pPr marL="0" indent="0">
              <a:buNone/>
            </a:pPr>
            <a:r>
              <a:rPr lang="en-US" sz="750" dirty="0">
                <a:solidFill>
                  <a:srgbClr val="5B6B82"/>
                </a:solidFill>
                <a:latin typeface="Calibri" pitchFamily="34" charset="0"/>
                <a:ea typeface="Calibri" pitchFamily="34" charset="-122"/>
                <a:cs typeface="Calibri" pitchFamily="34" charset="-120"/>
              </a:rPr>
              <a:t>Replay-Schutz, Passwort-Hashes</a:t>
            </a:r>
            <a:endParaRPr lang="en-US" sz="750" dirty="0"/>
          </a:p>
        </p:txBody>
      </p:sp>
      <p:sp>
        <p:nvSpPr>
          <p:cNvPr id="46" name="Shape 44"/>
          <p:cNvSpPr/>
          <p:nvPr/>
        </p:nvSpPr>
        <p:spPr>
          <a:xfrm>
            <a:off x="5029200" y="4389120"/>
            <a:ext cx="1691640" cy="502920"/>
          </a:xfrm>
          <a:prstGeom prst="roundRect">
            <a:avLst>
              <a:gd name="adj" fmla="val 12727"/>
            </a:avLst>
          </a:prstGeom>
          <a:solidFill>
            <a:srgbClr val="0A1F3C"/>
          </a:solidFill>
          <a:ln/>
        </p:spPr>
        <p:txBody>
          <a:bodyPr/>
          <a:lstStyle/>
          <a:p>
            <a:endParaRPr lang="en-GB"/>
          </a:p>
        </p:txBody>
      </p:sp>
      <p:sp>
        <p:nvSpPr>
          <p:cNvPr id="47" name="Text 45"/>
          <p:cNvSpPr/>
          <p:nvPr/>
        </p:nvSpPr>
        <p:spPr>
          <a:xfrm>
            <a:off x="5029200" y="4389120"/>
            <a:ext cx="1691640" cy="502920"/>
          </a:xfrm>
          <a:prstGeom prst="rect">
            <a:avLst/>
          </a:prstGeom>
          <a:noFill/>
          <a:ln/>
        </p:spPr>
        <p:txBody>
          <a:bodyPr wrap="square" lIns="0" tIns="0" rIns="0" bIns="0" rtlCol="0" anchor="ctr"/>
          <a:lstStyle/>
          <a:p>
            <a:pPr marL="0" indent="0" algn="ctr">
              <a:buNone/>
            </a:pPr>
            <a:r>
              <a:rPr lang="en-US" sz="850" dirty="0">
                <a:solidFill>
                  <a:srgbClr val="C9DCF5"/>
                </a:solidFill>
                <a:latin typeface="Calibri" pitchFamily="34" charset="0"/>
                <a:ea typeface="Calibri" pitchFamily="34" charset="-122"/>
                <a:cs typeface="Calibri" pitchFamily="34" charset="-120"/>
              </a:rPr>
              <a:t>Redis: Sessions, Nonces (TTL)</a:t>
            </a:r>
            <a:endParaRPr lang="en-US" sz="850" dirty="0"/>
          </a:p>
        </p:txBody>
      </p:sp>
      <p:sp>
        <p:nvSpPr>
          <p:cNvPr id="48" name="Shape 46"/>
          <p:cNvSpPr/>
          <p:nvPr/>
        </p:nvSpPr>
        <p:spPr>
          <a:xfrm>
            <a:off x="6949440" y="4389120"/>
            <a:ext cx="1691640" cy="502920"/>
          </a:xfrm>
          <a:prstGeom prst="roundRect">
            <a:avLst>
              <a:gd name="adj" fmla="val 12727"/>
            </a:avLst>
          </a:prstGeom>
          <a:solidFill>
            <a:srgbClr val="0A1F3C"/>
          </a:solidFill>
          <a:ln/>
        </p:spPr>
        <p:txBody>
          <a:bodyPr/>
          <a:lstStyle/>
          <a:p>
            <a:endParaRPr lang="en-GB"/>
          </a:p>
        </p:txBody>
      </p:sp>
      <p:sp>
        <p:nvSpPr>
          <p:cNvPr id="49" name="Text 47"/>
          <p:cNvSpPr/>
          <p:nvPr/>
        </p:nvSpPr>
        <p:spPr>
          <a:xfrm>
            <a:off x="6949440" y="4389120"/>
            <a:ext cx="1691640" cy="502920"/>
          </a:xfrm>
          <a:prstGeom prst="rect">
            <a:avLst/>
          </a:prstGeom>
          <a:noFill/>
          <a:ln/>
        </p:spPr>
        <p:txBody>
          <a:bodyPr wrap="square" lIns="0" tIns="0" rIns="0" bIns="0" rtlCol="0" anchor="ctr"/>
          <a:lstStyle/>
          <a:p>
            <a:pPr marL="0" indent="0" algn="ctr">
              <a:buNone/>
            </a:pPr>
            <a:r>
              <a:rPr lang="en-US" sz="850" dirty="0">
                <a:solidFill>
                  <a:srgbClr val="C9DCF5"/>
                </a:solidFill>
                <a:latin typeface="Calibri" pitchFamily="34" charset="0"/>
                <a:ea typeface="Calibri" pitchFamily="34" charset="-122"/>
                <a:cs typeface="Calibri" pitchFamily="34" charset="-120"/>
              </a:rPr>
              <a:t>SQLite: Users, Identities</a:t>
            </a:r>
            <a:endParaRPr lang="en-US" sz="850" dirty="0"/>
          </a:p>
        </p:txBody>
      </p:sp>
      <p:sp>
        <p:nvSpPr>
          <p:cNvPr id="50" name="Shape 48"/>
          <p:cNvSpPr/>
          <p:nvPr/>
        </p:nvSpPr>
        <p:spPr>
          <a:xfrm>
            <a:off x="5870448" y="4160520"/>
            <a:ext cx="0" cy="228600"/>
          </a:xfrm>
          <a:prstGeom prst="line">
            <a:avLst/>
          </a:prstGeom>
          <a:noFill/>
          <a:ln w="22225">
            <a:solidFill>
              <a:srgbClr val="8FA3C2"/>
            </a:solidFill>
            <a:prstDash val="solid"/>
          </a:ln>
        </p:spPr>
        <p:txBody>
          <a:bodyPr/>
          <a:lstStyle/>
          <a:p>
            <a:endParaRPr lang="en-GB"/>
          </a:p>
        </p:txBody>
      </p:sp>
      <p:sp>
        <p:nvSpPr>
          <p:cNvPr id="51" name="Shape 49"/>
          <p:cNvSpPr/>
          <p:nvPr/>
        </p:nvSpPr>
        <p:spPr>
          <a:xfrm>
            <a:off x="7790688" y="4160520"/>
            <a:ext cx="0" cy="228600"/>
          </a:xfrm>
          <a:prstGeom prst="line">
            <a:avLst/>
          </a:prstGeom>
          <a:noFill/>
          <a:ln w="22225">
            <a:solidFill>
              <a:srgbClr val="8FA3C2"/>
            </a:solidFill>
            <a:prstDash val="solid"/>
          </a:ln>
        </p:spPr>
        <p:txBody>
          <a:bodyPr/>
          <a:lstStyle/>
          <a:p>
            <a:endParaRPr lang="en-GB"/>
          </a:p>
        </p:txBody>
      </p:sp>
      <p:sp>
        <p:nvSpPr>
          <p:cNvPr id="52" name="Text 50"/>
          <p:cNvSpPr/>
          <p:nvPr/>
        </p:nvSpPr>
        <p:spPr>
          <a:xfrm>
            <a:off x="502920" y="4864608"/>
            <a:ext cx="8138160" cy="256032"/>
          </a:xfrm>
          <a:prstGeom prst="rect">
            <a:avLst/>
          </a:prstGeom>
          <a:noFill/>
          <a:ln/>
        </p:spPr>
        <p:txBody>
          <a:bodyPr wrap="square" rtlCol="0" anchor="ctr"/>
          <a:lstStyle/>
          <a:p>
            <a:pPr marL="0" indent="0">
              <a:buNone/>
            </a:pPr>
            <a:r>
              <a:rPr lang="en-US" sz="900" i="1" dirty="0">
                <a:solidFill>
                  <a:srgbClr val="5B6B82"/>
                </a:solidFill>
                <a:latin typeface="Calibri" pitchFamily="34" charset="0"/>
                <a:ea typeface="Calibri" pitchFamily="34" charset="-122"/>
                <a:cs typeface="Calibri" pitchFamily="34" charset="-120"/>
              </a:rPr>
              <a:t>Detail-Doku: docs/07_design.md (Architektur), docs/wire_format.md (Protokoll)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457200"/>
          </a:xfrm>
          <a:prstGeom prst="rect">
            <a:avLst/>
          </a:prstGeom>
          <a:noFill/>
          <a:ln/>
        </p:spPr>
        <p:txBody>
          <a:bodyPr wrap="square" rtlCol="0" anchor="ctr"/>
          <a:lstStyle/>
          <a:p>
            <a:pPr marL="0" indent="0">
              <a:buNone/>
            </a:pPr>
            <a:r>
              <a:rPr lang="en-US" sz="2500" b="1" dirty="0">
                <a:solidFill>
                  <a:srgbClr val="17263D"/>
                </a:solidFill>
                <a:latin typeface="Cambria" pitchFamily="34" charset="0"/>
                <a:ea typeface="Cambria" pitchFamily="34" charset="-122"/>
                <a:cs typeface="Cambria" pitchFamily="34" charset="-120"/>
              </a:rPr>
              <a:t>Backup: Die Algorithmen in Kuerze</a:t>
            </a:r>
            <a:endParaRPr lang="en-US" sz="2500" dirty="0"/>
          </a:p>
        </p:txBody>
      </p:sp>
      <p:sp>
        <p:nvSpPr>
          <p:cNvPr id="3" name="Shape 1"/>
          <p:cNvSpPr/>
          <p:nvPr/>
        </p:nvSpPr>
        <p:spPr>
          <a:xfrm>
            <a:off x="548640" y="914400"/>
            <a:ext cx="3931920" cy="3383280"/>
          </a:xfrm>
          <a:prstGeom prst="roundRect">
            <a:avLst>
              <a:gd name="adj" fmla="val 2703"/>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4" name="Text 2"/>
          <p:cNvSpPr/>
          <p:nvPr/>
        </p:nvSpPr>
        <p:spPr>
          <a:xfrm>
            <a:off x="777240" y="1024128"/>
            <a:ext cx="3474720" cy="274320"/>
          </a:xfrm>
          <a:prstGeom prst="rect">
            <a:avLst/>
          </a:prstGeom>
          <a:noFill/>
          <a:ln/>
        </p:spPr>
        <p:txBody>
          <a:bodyPr wrap="square" lIns="0" tIns="0" rIns="0" bIns="0" rtlCol="0" anchor="ctr"/>
          <a:lstStyle/>
          <a:p>
            <a:pPr marL="0" indent="0">
              <a:buNone/>
            </a:pPr>
            <a:r>
              <a:rPr lang="en-US" sz="1300" b="1" dirty="0">
                <a:solidFill>
                  <a:srgbClr val="17263D"/>
                </a:solidFill>
                <a:latin typeface="Calibri" pitchFamily="34" charset="0"/>
                <a:ea typeface="Calibri" pitchFamily="34" charset="-122"/>
                <a:cs typeface="Calibri" pitchFamily="34" charset="-120"/>
              </a:rPr>
              <a:t>Warum Gitter-Mathematik?</a:t>
            </a:r>
            <a:endParaRPr lang="en-US" sz="1300" dirty="0"/>
          </a:p>
        </p:txBody>
      </p:sp>
      <p:sp>
        <p:nvSpPr>
          <p:cNvPr id="5" name="Shape 3"/>
          <p:cNvSpPr/>
          <p:nvPr/>
        </p:nvSpPr>
        <p:spPr>
          <a:xfrm>
            <a:off x="914400" y="1481328"/>
            <a:ext cx="82296" cy="82296"/>
          </a:xfrm>
          <a:prstGeom prst="ellipse">
            <a:avLst/>
          </a:prstGeom>
          <a:solidFill>
            <a:srgbClr val="9DB2CC"/>
          </a:solidFill>
          <a:ln/>
        </p:spPr>
        <p:txBody>
          <a:bodyPr/>
          <a:lstStyle/>
          <a:p>
            <a:endParaRPr lang="en-GB"/>
          </a:p>
        </p:txBody>
      </p:sp>
      <p:sp>
        <p:nvSpPr>
          <p:cNvPr id="6" name="Shape 4"/>
          <p:cNvSpPr/>
          <p:nvPr/>
        </p:nvSpPr>
        <p:spPr>
          <a:xfrm>
            <a:off x="914400" y="1911096"/>
            <a:ext cx="82296" cy="82296"/>
          </a:xfrm>
          <a:prstGeom prst="ellipse">
            <a:avLst/>
          </a:prstGeom>
          <a:solidFill>
            <a:srgbClr val="9DB2CC"/>
          </a:solidFill>
          <a:ln/>
        </p:spPr>
        <p:txBody>
          <a:bodyPr/>
          <a:lstStyle/>
          <a:p>
            <a:endParaRPr lang="en-GB"/>
          </a:p>
        </p:txBody>
      </p:sp>
      <p:sp>
        <p:nvSpPr>
          <p:cNvPr id="7" name="Shape 5"/>
          <p:cNvSpPr/>
          <p:nvPr/>
        </p:nvSpPr>
        <p:spPr>
          <a:xfrm>
            <a:off x="914400" y="2340864"/>
            <a:ext cx="82296" cy="82296"/>
          </a:xfrm>
          <a:prstGeom prst="ellipse">
            <a:avLst/>
          </a:prstGeom>
          <a:solidFill>
            <a:srgbClr val="9DB2CC"/>
          </a:solidFill>
          <a:ln/>
        </p:spPr>
        <p:txBody>
          <a:bodyPr/>
          <a:lstStyle/>
          <a:p>
            <a:endParaRPr lang="en-GB"/>
          </a:p>
        </p:txBody>
      </p:sp>
      <p:sp>
        <p:nvSpPr>
          <p:cNvPr id="8" name="Shape 6"/>
          <p:cNvSpPr/>
          <p:nvPr/>
        </p:nvSpPr>
        <p:spPr>
          <a:xfrm>
            <a:off x="914400" y="2770632"/>
            <a:ext cx="82296" cy="82296"/>
          </a:xfrm>
          <a:prstGeom prst="ellipse">
            <a:avLst/>
          </a:prstGeom>
          <a:solidFill>
            <a:srgbClr val="9DB2CC"/>
          </a:solidFill>
          <a:ln/>
        </p:spPr>
        <p:txBody>
          <a:bodyPr/>
          <a:lstStyle/>
          <a:p>
            <a:endParaRPr lang="en-GB"/>
          </a:p>
        </p:txBody>
      </p:sp>
      <p:sp>
        <p:nvSpPr>
          <p:cNvPr id="9" name="Shape 7"/>
          <p:cNvSpPr/>
          <p:nvPr/>
        </p:nvSpPr>
        <p:spPr>
          <a:xfrm>
            <a:off x="1389888" y="1481328"/>
            <a:ext cx="82296" cy="82296"/>
          </a:xfrm>
          <a:prstGeom prst="ellipse">
            <a:avLst/>
          </a:prstGeom>
          <a:solidFill>
            <a:srgbClr val="9DB2CC"/>
          </a:solidFill>
          <a:ln/>
        </p:spPr>
        <p:txBody>
          <a:bodyPr/>
          <a:lstStyle/>
          <a:p>
            <a:endParaRPr lang="en-GB"/>
          </a:p>
        </p:txBody>
      </p:sp>
      <p:sp>
        <p:nvSpPr>
          <p:cNvPr id="10" name="Shape 8"/>
          <p:cNvSpPr/>
          <p:nvPr/>
        </p:nvSpPr>
        <p:spPr>
          <a:xfrm>
            <a:off x="1389888" y="1911096"/>
            <a:ext cx="82296" cy="82296"/>
          </a:xfrm>
          <a:prstGeom prst="ellipse">
            <a:avLst/>
          </a:prstGeom>
          <a:solidFill>
            <a:srgbClr val="9DB2CC"/>
          </a:solidFill>
          <a:ln/>
        </p:spPr>
        <p:txBody>
          <a:bodyPr/>
          <a:lstStyle/>
          <a:p>
            <a:endParaRPr lang="en-GB"/>
          </a:p>
        </p:txBody>
      </p:sp>
      <p:sp>
        <p:nvSpPr>
          <p:cNvPr id="11" name="Shape 9"/>
          <p:cNvSpPr/>
          <p:nvPr/>
        </p:nvSpPr>
        <p:spPr>
          <a:xfrm>
            <a:off x="1389888" y="2340864"/>
            <a:ext cx="82296" cy="82296"/>
          </a:xfrm>
          <a:prstGeom prst="ellipse">
            <a:avLst/>
          </a:prstGeom>
          <a:solidFill>
            <a:srgbClr val="9DB2CC"/>
          </a:solidFill>
          <a:ln/>
        </p:spPr>
        <p:txBody>
          <a:bodyPr/>
          <a:lstStyle/>
          <a:p>
            <a:endParaRPr lang="en-GB"/>
          </a:p>
        </p:txBody>
      </p:sp>
      <p:sp>
        <p:nvSpPr>
          <p:cNvPr id="12" name="Shape 10"/>
          <p:cNvSpPr/>
          <p:nvPr/>
        </p:nvSpPr>
        <p:spPr>
          <a:xfrm>
            <a:off x="1389888" y="2770632"/>
            <a:ext cx="82296" cy="82296"/>
          </a:xfrm>
          <a:prstGeom prst="ellipse">
            <a:avLst/>
          </a:prstGeom>
          <a:solidFill>
            <a:srgbClr val="9DB2CC"/>
          </a:solidFill>
          <a:ln/>
        </p:spPr>
        <p:txBody>
          <a:bodyPr/>
          <a:lstStyle/>
          <a:p>
            <a:endParaRPr lang="en-GB"/>
          </a:p>
        </p:txBody>
      </p:sp>
      <p:sp>
        <p:nvSpPr>
          <p:cNvPr id="13" name="Shape 11"/>
          <p:cNvSpPr/>
          <p:nvPr/>
        </p:nvSpPr>
        <p:spPr>
          <a:xfrm>
            <a:off x="1865376" y="1481328"/>
            <a:ext cx="82296" cy="82296"/>
          </a:xfrm>
          <a:prstGeom prst="ellipse">
            <a:avLst/>
          </a:prstGeom>
          <a:solidFill>
            <a:srgbClr val="9DB2CC"/>
          </a:solidFill>
          <a:ln/>
        </p:spPr>
        <p:txBody>
          <a:bodyPr/>
          <a:lstStyle/>
          <a:p>
            <a:endParaRPr lang="en-GB"/>
          </a:p>
        </p:txBody>
      </p:sp>
      <p:sp>
        <p:nvSpPr>
          <p:cNvPr id="14" name="Shape 12"/>
          <p:cNvSpPr/>
          <p:nvPr/>
        </p:nvSpPr>
        <p:spPr>
          <a:xfrm>
            <a:off x="1865376" y="1911096"/>
            <a:ext cx="82296" cy="82296"/>
          </a:xfrm>
          <a:prstGeom prst="ellipse">
            <a:avLst/>
          </a:prstGeom>
          <a:solidFill>
            <a:srgbClr val="9DB2CC"/>
          </a:solidFill>
          <a:ln/>
        </p:spPr>
        <p:txBody>
          <a:bodyPr/>
          <a:lstStyle/>
          <a:p>
            <a:endParaRPr lang="en-GB"/>
          </a:p>
        </p:txBody>
      </p:sp>
      <p:sp>
        <p:nvSpPr>
          <p:cNvPr id="15" name="Shape 13"/>
          <p:cNvSpPr/>
          <p:nvPr/>
        </p:nvSpPr>
        <p:spPr>
          <a:xfrm>
            <a:off x="1865376" y="2340864"/>
            <a:ext cx="82296" cy="82296"/>
          </a:xfrm>
          <a:prstGeom prst="ellipse">
            <a:avLst/>
          </a:prstGeom>
          <a:solidFill>
            <a:srgbClr val="9DB2CC"/>
          </a:solidFill>
          <a:ln/>
        </p:spPr>
        <p:txBody>
          <a:bodyPr/>
          <a:lstStyle/>
          <a:p>
            <a:endParaRPr lang="en-GB"/>
          </a:p>
        </p:txBody>
      </p:sp>
      <p:sp>
        <p:nvSpPr>
          <p:cNvPr id="16" name="Shape 14"/>
          <p:cNvSpPr/>
          <p:nvPr/>
        </p:nvSpPr>
        <p:spPr>
          <a:xfrm>
            <a:off x="1865376" y="2770632"/>
            <a:ext cx="82296" cy="82296"/>
          </a:xfrm>
          <a:prstGeom prst="ellipse">
            <a:avLst/>
          </a:prstGeom>
          <a:solidFill>
            <a:srgbClr val="9DB2CC"/>
          </a:solidFill>
          <a:ln/>
        </p:spPr>
        <p:txBody>
          <a:bodyPr/>
          <a:lstStyle/>
          <a:p>
            <a:endParaRPr lang="en-GB"/>
          </a:p>
        </p:txBody>
      </p:sp>
      <p:sp>
        <p:nvSpPr>
          <p:cNvPr id="17" name="Shape 15"/>
          <p:cNvSpPr/>
          <p:nvPr/>
        </p:nvSpPr>
        <p:spPr>
          <a:xfrm>
            <a:off x="2340864" y="1481328"/>
            <a:ext cx="82296" cy="82296"/>
          </a:xfrm>
          <a:prstGeom prst="ellipse">
            <a:avLst/>
          </a:prstGeom>
          <a:solidFill>
            <a:srgbClr val="9DB2CC"/>
          </a:solidFill>
          <a:ln/>
        </p:spPr>
        <p:txBody>
          <a:bodyPr/>
          <a:lstStyle/>
          <a:p>
            <a:endParaRPr lang="en-GB"/>
          </a:p>
        </p:txBody>
      </p:sp>
      <p:sp>
        <p:nvSpPr>
          <p:cNvPr id="18" name="Shape 16"/>
          <p:cNvSpPr/>
          <p:nvPr/>
        </p:nvSpPr>
        <p:spPr>
          <a:xfrm>
            <a:off x="2340864" y="1911096"/>
            <a:ext cx="82296" cy="82296"/>
          </a:xfrm>
          <a:prstGeom prst="ellipse">
            <a:avLst/>
          </a:prstGeom>
          <a:solidFill>
            <a:srgbClr val="9DB2CC"/>
          </a:solidFill>
          <a:ln/>
        </p:spPr>
        <p:txBody>
          <a:bodyPr/>
          <a:lstStyle/>
          <a:p>
            <a:endParaRPr lang="en-GB"/>
          </a:p>
        </p:txBody>
      </p:sp>
      <p:sp>
        <p:nvSpPr>
          <p:cNvPr id="19" name="Shape 17"/>
          <p:cNvSpPr/>
          <p:nvPr/>
        </p:nvSpPr>
        <p:spPr>
          <a:xfrm>
            <a:off x="2340864" y="2340864"/>
            <a:ext cx="82296" cy="82296"/>
          </a:xfrm>
          <a:prstGeom prst="ellipse">
            <a:avLst/>
          </a:prstGeom>
          <a:solidFill>
            <a:srgbClr val="9DB2CC"/>
          </a:solidFill>
          <a:ln/>
        </p:spPr>
        <p:txBody>
          <a:bodyPr/>
          <a:lstStyle/>
          <a:p>
            <a:endParaRPr lang="en-GB"/>
          </a:p>
        </p:txBody>
      </p:sp>
      <p:sp>
        <p:nvSpPr>
          <p:cNvPr id="20" name="Shape 18"/>
          <p:cNvSpPr/>
          <p:nvPr/>
        </p:nvSpPr>
        <p:spPr>
          <a:xfrm>
            <a:off x="2340864" y="2770632"/>
            <a:ext cx="82296" cy="82296"/>
          </a:xfrm>
          <a:prstGeom prst="ellipse">
            <a:avLst/>
          </a:prstGeom>
          <a:solidFill>
            <a:srgbClr val="9DB2CC"/>
          </a:solidFill>
          <a:ln/>
        </p:spPr>
        <p:txBody>
          <a:bodyPr/>
          <a:lstStyle/>
          <a:p>
            <a:endParaRPr lang="en-GB"/>
          </a:p>
        </p:txBody>
      </p:sp>
      <p:sp>
        <p:nvSpPr>
          <p:cNvPr id="21" name="Shape 19"/>
          <p:cNvSpPr/>
          <p:nvPr/>
        </p:nvSpPr>
        <p:spPr>
          <a:xfrm>
            <a:off x="2816352" y="1481328"/>
            <a:ext cx="82296" cy="82296"/>
          </a:xfrm>
          <a:prstGeom prst="ellipse">
            <a:avLst/>
          </a:prstGeom>
          <a:solidFill>
            <a:srgbClr val="9DB2CC"/>
          </a:solidFill>
          <a:ln/>
        </p:spPr>
        <p:txBody>
          <a:bodyPr/>
          <a:lstStyle/>
          <a:p>
            <a:endParaRPr lang="en-GB"/>
          </a:p>
        </p:txBody>
      </p:sp>
      <p:sp>
        <p:nvSpPr>
          <p:cNvPr id="22" name="Shape 20"/>
          <p:cNvSpPr/>
          <p:nvPr/>
        </p:nvSpPr>
        <p:spPr>
          <a:xfrm>
            <a:off x="2816352" y="1911096"/>
            <a:ext cx="82296" cy="82296"/>
          </a:xfrm>
          <a:prstGeom prst="ellipse">
            <a:avLst/>
          </a:prstGeom>
          <a:solidFill>
            <a:srgbClr val="9DB2CC"/>
          </a:solidFill>
          <a:ln/>
        </p:spPr>
        <p:txBody>
          <a:bodyPr/>
          <a:lstStyle/>
          <a:p>
            <a:endParaRPr lang="en-GB"/>
          </a:p>
        </p:txBody>
      </p:sp>
      <p:sp>
        <p:nvSpPr>
          <p:cNvPr id="23" name="Shape 21"/>
          <p:cNvSpPr/>
          <p:nvPr/>
        </p:nvSpPr>
        <p:spPr>
          <a:xfrm>
            <a:off x="2816352" y="2340864"/>
            <a:ext cx="82296" cy="82296"/>
          </a:xfrm>
          <a:prstGeom prst="ellipse">
            <a:avLst/>
          </a:prstGeom>
          <a:solidFill>
            <a:srgbClr val="9DB2CC"/>
          </a:solidFill>
          <a:ln/>
        </p:spPr>
        <p:txBody>
          <a:bodyPr/>
          <a:lstStyle/>
          <a:p>
            <a:endParaRPr lang="en-GB"/>
          </a:p>
        </p:txBody>
      </p:sp>
      <p:sp>
        <p:nvSpPr>
          <p:cNvPr id="24" name="Shape 22"/>
          <p:cNvSpPr/>
          <p:nvPr/>
        </p:nvSpPr>
        <p:spPr>
          <a:xfrm>
            <a:off x="2816352" y="2770632"/>
            <a:ext cx="82296" cy="82296"/>
          </a:xfrm>
          <a:prstGeom prst="ellipse">
            <a:avLst/>
          </a:prstGeom>
          <a:solidFill>
            <a:srgbClr val="9DB2CC"/>
          </a:solidFill>
          <a:ln/>
        </p:spPr>
        <p:txBody>
          <a:bodyPr/>
          <a:lstStyle/>
          <a:p>
            <a:endParaRPr lang="en-GB"/>
          </a:p>
        </p:txBody>
      </p:sp>
      <p:sp>
        <p:nvSpPr>
          <p:cNvPr id="25" name="Shape 23"/>
          <p:cNvSpPr/>
          <p:nvPr/>
        </p:nvSpPr>
        <p:spPr>
          <a:xfrm>
            <a:off x="3291840" y="1481328"/>
            <a:ext cx="82296" cy="82296"/>
          </a:xfrm>
          <a:prstGeom prst="ellipse">
            <a:avLst/>
          </a:prstGeom>
          <a:solidFill>
            <a:srgbClr val="9DB2CC"/>
          </a:solidFill>
          <a:ln/>
        </p:spPr>
        <p:txBody>
          <a:bodyPr/>
          <a:lstStyle/>
          <a:p>
            <a:endParaRPr lang="en-GB"/>
          </a:p>
        </p:txBody>
      </p:sp>
      <p:sp>
        <p:nvSpPr>
          <p:cNvPr id="26" name="Shape 24"/>
          <p:cNvSpPr/>
          <p:nvPr/>
        </p:nvSpPr>
        <p:spPr>
          <a:xfrm>
            <a:off x="3291840" y="1911096"/>
            <a:ext cx="82296" cy="82296"/>
          </a:xfrm>
          <a:prstGeom prst="ellipse">
            <a:avLst/>
          </a:prstGeom>
          <a:solidFill>
            <a:srgbClr val="9DB2CC"/>
          </a:solidFill>
          <a:ln/>
        </p:spPr>
        <p:txBody>
          <a:bodyPr/>
          <a:lstStyle/>
          <a:p>
            <a:endParaRPr lang="en-GB"/>
          </a:p>
        </p:txBody>
      </p:sp>
      <p:sp>
        <p:nvSpPr>
          <p:cNvPr id="27" name="Shape 25"/>
          <p:cNvSpPr/>
          <p:nvPr/>
        </p:nvSpPr>
        <p:spPr>
          <a:xfrm>
            <a:off x="3291840" y="2340864"/>
            <a:ext cx="82296" cy="82296"/>
          </a:xfrm>
          <a:prstGeom prst="ellipse">
            <a:avLst/>
          </a:prstGeom>
          <a:solidFill>
            <a:srgbClr val="9DB2CC"/>
          </a:solidFill>
          <a:ln/>
        </p:spPr>
        <p:txBody>
          <a:bodyPr/>
          <a:lstStyle/>
          <a:p>
            <a:endParaRPr lang="en-GB"/>
          </a:p>
        </p:txBody>
      </p:sp>
      <p:sp>
        <p:nvSpPr>
          <p:cNvPr id="28" name="Shape 26"/>
          <p:cNvSpPr/>
          <p:nvPr/>
        </p:nvSpPr>
        <p:spPr>
          <a:xfrm>
            <a:off x="3291840" y="2770632"/>
            <a:ext cx="82296" cy="82296"/>
          </a:xfrm>
          <a:prstGeom prst="ellipse">
            <a:avLst/>
          </a:prstGeom>
          <a:solidFill>
            <a:srgbClr val="9DB2CC"/>
          </a:solidFill>
          <a:ln/>
        </p:spPr>
        <p:txBody>
          <a:bodyPr/>
          <a:lstStyle/>
          <a:p>
            <a:endParaRPr lang="en-GB"/>
          </a:p>
        </p:txBody>
      </p:sp>
      <p:sp>
        <p:nvSpPr>
          <p:cNvPr id="29" name="Shape 27"/>
          <p:cNvSpPr/>
          <p:nvPr/>
        </p:nvSpPr>
        <p:spPr>
          <a:xfrm>
            <a:off x="3767328" y="1481328"/>
            <a:ext cx="82296" cy="82296"/>
          </a:xfrm>
          <a:prstGeom prst="ellipse">
            <a:avLst/>
          </a:prstGeom>
          <a:solidFill>
            <a:srgbClr val="9DB2CC"/>
          </a:solidFill>
          <a:ln/>
        </p:spPr>
        <p:txBody>
          <a:bodyPr/>
          <a:lstStyle/>
          <a:p>
            <a:endParaRPr lang="en-GB"/>
          </a:p>
        </p:txBody>
      </p:sp>
      <p:sp>
        <p:nvSpPr>
          <p:cNvPr id="30" name="Shape 28"/>
          <p:cNvSpPr/>
          <p:nvPr/>
        </p:nvSpPr>
        <p:spPr>
          <a:xfrm>
            <a:off x="3767328" y="1911096"/>
            <a:ext cx="82296" cy="82296"/>
          </a:xfrm>
          <a:prstGeom prst="ellipse">
            <a:avLst/>
          </a:prstGeom>
          <a:solidFill>
            <a:srgbClr val="9DB2CC"/>
          </a:solidFill>
          <a:ln/>
        </p:spPr>
        <p:txBody>
          <a:bodyPr/>
          <a:lstStyle/>
          <a:p>
            <a:endParaRPr lang="en-GB"/>
          </a:p>
        </p:txBody>
      </p:sp>
      <p:sp>
        <p:nvSpPr>
          <p:cNvPr id="31" name="Shape 29"/>
          <p:cNvSpPr/>
          <p:nvPr/>
        </p:nvSpPr>
        <p:spPr>
          <a:xfrm>
            <a:off x="3767328" y="2340864"/>
            <a:ext cx="82296" cy="82296"/>
          </a:xfrm>
          <a:prstGeom prst="ellipse">
            <a:avLst/>
          </a:prstGeom>
          <a:solidFill>
            <a:srgbClr val="9DB2CC"/>
          </a:solidFill>
          <a:ln/>
        </p:spPr>
        <p:txBody>
          <a:bodyPr/>
          <a:lstStyle/>
          <a:p>
            <a:endParaRPr lang="en-GB"/>
          </a:p>
        </p:txBody>
      </p:sp>
      <p:sp>
        <p:nvSpPr>
          <p:cNvPr id="32" name="Shape 30"/>
          <p:cNvSpPr/>
          <p:nvPr/>
        </p:nvSpPr>
        <p:spPr>
          <a:xfrm>
            <a:off x="3767328" y="2770632"/>
            <a:ext cx="82296" cy="82296"/>
          </a:xfrm>
          <a:prstGeom prst="ellipse">
            <a:avLst/>
          </a:prstGeom>
          <a:solidFill>
            <a:srgbClr val="9DB2CC"/>
          </a:solidFill>
          <a:ln/>
        </p:spPr>
        <p:txBody>
          <a:bodyPr/>
          <a:lstStyle/>
          <a:p>
            <a:endParaRPr lang="en-GB"/>
          </a:p>
        </p:txBody>
      </p:sp>
      <p:sp>
        <p:nvSpPr>
          <p:cNvPr id="33" name="Shape 31"/>
          <p:cNvSpPr/>
          <p:nvPr/>
        </p:nvSpPr>
        <p:spPr>
          <a:xfrm>
            <a:off x="2734056" y="2304288"/>
            <a:ext cx="146304" cy="146304"/>
          </a:xfrm>
          <a:prstGeom prst="ellipse">
            <a:avLst/>
          </a:prstGeom>
          <a:solidFill>
            <a:srgbClr val="0E7A57"/>
          </a:solidFill>
          <a:ln/>
        </p:spPr>
        <p:txBody>
          <a:bodyPr/>
          <a:lstStyle/>
          <a:p>
            <a:endParaRPr lang="en-GB"/>
          </a:p>
        </p:txBody>
      </p:sp>
      <p:sp>
        <p:nvSpPr>
          <p:cNvPr id="34" name="Shape 32"/>
          <p:cNvSpPr/>
          <p:nvPr/>
        </p:nvSpPr>
        <p:spPr>
          <a:xfrm>
            <a:off x="2121408" y="1993392"/>
            <a:ext cx="109728" cy="109728"/>
          </a:xfrm>
          <a:prstGeom prst="ellipse">
            <a:avLst/>
          </a:prstGeom>
          <a:solidFill>
            <a:srgbClr val="D95757"/>
          </a:solidFill>
          <a:ln/>
        </p:spPr>
        <p:txBody>
          <a:bodyPr/>
          <a:lstStyle/>
          <a:p>
            <a:endParaRPr lang="en-GB"/>
          </a:p>
        </p:txBody>
      </p:sp>
      <p:sp>
        <p:nvSpPr>
          <p:cNvPr id="35" name="Shape 33"/>
          <p:cNvSpPr/>
          <p:nvPr/>
        </p:nvSpPr>
        <p:spPr>
          <a:xfrm>
            <a:off x="2231136" y="2084832"/>
            <a:ext cx="512064" cy="265176"/>
          </a:xfrm>
          <a:prstGeom prst="line">
            <a:avLst/>
          </a:prstGeom>
          <a:noFill/>
          <a:ln w="22225">
            <a:solidFill>
              <a:srgbClr val="D95757"/>
            </a:solidFill>
            <a:prstDash val="dash"/>
            <a:tailEnd type="triangle"/>
          </a:ln>
        </p:spPr>
        <p:txBody>
          <a:bodyPr/>
          <a:lstStyle/>
          <a:p>
            <a:endParaRPr lang="en-GB"/>
          </a:p>
        </p:txBody>
      </p:sp>
      <p:sp>
        <p:nvSpPr>
          <p:cNvPr id="36" name="Text 34"/>
          <p:cNvSpPr/>
          <p:nvPr/>
        </p:nvSpPr>
        <p:spPr>
          <a:xfrm>
            <a:off x="2304288" y="1755648"/>
            <a:ext cx="274320" cy="274320"/>
          </a:xfrm>
          <a:prstGeom prst="rect">
            <a:avLst/>
          </a:prstGeom>
          <a:noFill/>
          <a:ln/>
        </p:spPr>
        <p:txBody>
          <a:bodyPr wrap="square" lIns="0" tIns="0" rIns="0" bIns="0" rtlCol="0" anchor="ctr"/>
          <a:lstStyle/>
          <a:p>
            <a:pPr marL="0" indent="0">
              <a:buNone/>
            </a:pPr>
            <a:r>
              <a:rPr lang="en-US" sz="1400" b="1" dirty="0">
                <a:solidFill>
                  <a:srgbClr val="D95757"/>
                </a:solidFill>
                <a:latin typeface="Cambria" pitchFamily="34" charset="0"/>
                <a:ea typeface="Cambria" pitchFamily="34" charset="-122"/>
                <a:cs typeface="Cambria" pitchFamily="34" charset="-120"/>
              </a:rPr>
              <a:t>?</a:t>
            </a:r>
            <a:endParaRPr lang="en-US" sz="1400" dirty="0"/>
          </a:p>
        </p:txBody>
      </p:sp>
      <p:sp>
        <p:nvSpPr>
          <p:cNvPr id="37" name="Text 35"/>
          <p:cNvSpPr/>
          <p:nvPr/>
        </p:nvSpPr>
        <p:spPr>
          <a:xfrm>
            <a:off x="777240" y="3246120"/>
            <a:ext cx="3474720" cy="960120"/>
          </a:xfrm>
          <a:prstGeom prst="rect">
            <a:avLst/>
          </a:prstGeom>
          <a:noFill/>
          <a:ln/>
        </p:spPr>
        <p:txBody>
          <a:bodyPr wrap="square" rtlCol="0" anchor="t"/>
          <a:lstStyle/>
          <a:p>
            <a:pPr marL="0" indent="0">
              <a:lnSpc>
                <a:spcPct val="110000"/>
              </a:lnSpc>
              <a:buNone/>
            </a:pPr>
            <a:r>
              <a:rPr lang="en-US" sz="1050" dirty="0">
                <a:solidFill>
                  <a:srgbClr val="5B6B82"/>
                </a:solidFill>
                <a:latin typeface="Calibri" pitchFamily="34" charset="0"/>
                <a:ea typeface="Calibri" pitchFamily="34" charset="-122"/>
                <a:cs typeface="Calibri" pitchFamily="34" charset="-120"/>
              </a:rPr>
              <a:t>Aufgabe: Finde zu einem Punkt (rot) den naechsten Gitterpunkt (gruen). In 2 Dimensionen trivial. ML-KEM und ML-DSA arbeiten in Dimension 256 und hoeher, dort ist das Problem auch fuer Quantencomputer praktisch unloesbar.</a:t>
            </a:r>
            <a:endParaRPr lang="en-US" sz="1050" dirty="0"/>
          </a:p>
        </p:txBody>
      </p:sp>
      <p:sp>
        <p:nvSpPr>
          <p:cNvPr id="38" name="Shape 36"/>
          <p:cNvSpPr/>
          <p:nvPr/>
        </p:nvSpPr>
        <p:spPr>
          <a:xfrm>
            <a:off x="4663440" y="914400"/>
            <a:ext cx="3931920" cy="2240280"/>
          </a:xfrm>
          <a:prstGeom prst="roundRect">
            <a:avLst>
              <a:gd name="adj" fmla="val 4082"/>
            </a:avLst>
          </a:prstGeom>
          <a:solidFill>
            <a:srgbClr val="F1F5FB"/>
          </a:solidFill>
          <a:ln/>
          <a:effectLst>
            <a:outerShdw blurRad="101600" dist="38100" dir="2700000" algn="bl" rotWithShape="0">
              <a:srgbClr val="1A2A44">
                <a:alpha val="18000"/>
              </a:srgbClr>
            </a:outerShdw>
          </a:effectLst>
        </p:spPr>
        <p:txBody>
          <a:bodyPr/>
          <a:lstStyle/>
          <a:p>
            <a:endParaRPr lang="en-GB"/>
          </a:p>
        </p:txBody>
      </p:sp>
      <p:sp>
        <p:nvSpPr>
          <p:cNvPr id="39" name="Text 37"/>
          <p:cNvSpPr/>
          <p:nvPr/>
        </p:nvSpPr>
        <p:spPr>
          <a:xfrm>
            <a:off x="4892040" y="1024128"/>
            <a:ext cx="3474720" cy="274320"/>
          </a:xfrm>
          <a:prstGeom prst="rect">
            <a:avLst/>
          </a:prstGeom>
          <a:noFill/>
          <a:ln/>
        </p:spPr>
        <p:txBody>
          <a:bodyPr wrap="square" lIns="0" tIns="0" rIns="0" bIns="0" rtlCol="0" anchor="ctr"/>
          <a:lstStyle/>
          <a:p>
            <a:pPr marL="0" indent="0">
              <a:buNone/>
            </a:pPr>
            <a:r>
              <a:rPr lang="en-US" sz="1300" b="1" dirty="0">
                <a:solidFill>
                  <a:srgbClr val="17263D"/>
                </a:solidFill>
                <a:latin typeface="Calibri" pitchFamily="34" charset="0"/>
                <a:ea typeface="Calibri" pitchFamily="34" charset="-122"/>
                <a:cs typeface="Calibri" pitchFamily="34" charset="-120"/>
              </a:rPr>
              <a:t>Der Preis: groessere Schluessel und Signaturen</a:t>
            </a:r>
            <a:endParaRPr lang="en-US" sz="1300" dirty="0"/>
          </a:p>
        </p:txBody>
      </p:sp>
      <p:sp>
        <p:nvSpPr>
          <p:cNvPr id="40" name="Text 38"/>
          <p:cNvSpPr/>
          <p:nvPr/>
        </p:nvSpPr>
        <p:spPr>
          <a:xfrm>
            <a:off x="4892040" y="1417320"/>
            <a:ext cx="1691640" cy="292608"/>
          </a:xfrm>
          <a:prstGeom prst="rect">
            <a:avLst/>
          </a:prstGeom>
          <a:noFill/>
          <a:ln/>
        </p:spPr>
        <p:txBody>
          <a:bodyPr wrap="square" lIns="0" tIns="0" rIns="0" bIns="0" rtlCol="0" anchor="ctr"/>
          <a:lstStyle/>
          <a:p>
            <a:pPr marL="0" indent="0">
              <a:buNone/>
            </a:pPr>
            <a:r>
              <a:rPr lang="en-US" sz="950" dirty="0">
                <a:solidFill>
                  <a:srgbClr val="17263D"/>
                </a:solidFill>
                <a:latin typeface="Calibri" pitchFamily="34" charset="0"/>
                <a:ea typeface="Calibri" pitchFamily="34" charset="-122"/>
                <a:cs typeface="Calibri" pitchFamily="34" charset="-120"/>
              </a:rPr>
              <a:t>Public Key X25519</a:t>
            </a:r>
            <a:endParaRPr lang="en-US" sz="950" dirty="0"/>
          </a:p>
        </p:txBody>
      </p:sp>
      <p:sp>
        <p:nvSpPr>
          <p:cNvPr id="41" name="Shape 39"/>
          <p:cNvSpPr/>
          <p:nvPr/>
        </p:nvSpPr>
        <p:spPr>
          <a:xfrm>
            <a:off x="6629400" y="1453896"/>
            <a:ext cx="45720" cy="201168"/>
          </a:xfrm>
          <a:prstGeom prst="roundRect">
            <a:avLst>
              <a:gd name="adj" fmla="val 40000"/>
            </a:avLst>
          </a:prstGeom>
          <a:solidFill>
            <a:srgbClr val="9DB2CC"/>
          </a:solidFill>
          <a:ln/>
        </p:spPr>
        <p:txBody>
          <a:bodyPr/>
          <a:lstStyle/>
          <a:p>
            <a:endParaRPr lang="en-GB"/>
          </a:p>
        </p:txBody>
      </p:sp>
      <p:sp>
        <p:nvSpPr>
          <p:cNvPr id="42" name="Text 40"/>
          <p:cNvSpPr/>
          <p:nvPr/>
        </p:nvSpPr>
        <p:spPr>
          <a:xfrm>
            <a:off x="6748272" y="1417320"/>
            <a:ext cx="822960" cy="292608"/>
          </a:xfrm>
          <a:prstGeom prst="rect">
            <a:avLst/>
          </a:prstGeom>
          <a:noFill/>
          <a:ln/>
        </p:spPr>
        <p:txBody>
          <a:bodyPr wrap="square" lIns="0" tIns="0" rIns="0" bIns="0" rtlCol="0" anchor="ctr"/>
          <a:lstStyle/>
          <a:p>
            <a:pPr marL="0" indent="0">
              <a:buNone/>
            </a:pPr>
            <a:r>
              <a:rPr lang="en-US" sz="900" b="1" dirty="0">
                <a:solidFill>
                  <a:srgbClr val="5B6B82"/>
                </a:solidFill>
                <a:latin typeface="Courier New" pitchFamily="34" charset="0"/>
                <a:ea typeface="Courier New" pitchFamily="34" charset="-122"/>
                <a:cs typeface="Courier New" pitchFamily="34" charset="-120"/>
              </a:rPr>
              <a:t>32 B</a:t>
            </a:r>
            <a:endParaRPr lang="en-US" sz="900" dirty="0"/>
          </a:p>
        </p:txBody>
      </p:sp>
      <p:sp>
        <p:nvSpPr>
          <p:cNvPr id="43" name="Text 41"/>
          <p:cNvSpPr/>
          <p:nvPr/>
        </p:nvSpPr>
        <p:spPr>
          <a:xfrm>
            <a:off x="4892040" y="1819656"/>
            <a:ext cx="1691640" cy="292608"/>
          </a:xfrm>
          <a:prstGeom prst="rect">
            <a:avLst/>
          </a:prstGeom>
          <a:noFill/>
          <a:ln/>
        </p:spPr>
        <p:txBody>
          <a:bodyPr wrap="square" lIns="0" tIns="0" rIns="0" bIns="0" rtlCol="0" anchor="ctr"/>
          <a:lstStyle/>
          <a:p>
            <a:pPr marL="0" indent="0">
              <a:buNone/>
            </a:pPr>
            <a:r>
              <a:rPr lang="en-US" sz="950" dirty="0">
                <a:solidFill>
                  <a:srgbClr val="17263D"/>
                </a:solidFill>
                <a:latin typeface="Calibri" pitchFamily="34" charset="0"/>
                <a:ea typeface="Calibri" pitchFamily="34" charset="-122"/>
                <a:cs typeface="Calibri" pitchFamily="34" charset="-120"/>
              </a:rPr>
              <a:t>Public Key ML-KEM-768</a:t>
            </a:r>
            <a:endParaRPr lang="en-US" sz="950" dirty="0"/>
          </a:p>
        </p:txBody>
      </p:sp>
      <p:sp>
        <p:nvSpPr>
          <p:cNvPr id="44" name="Shape 42"/>
          <p:cNvSpPr/>
          <p:nvPr/>
        </p:nvSpPr>
        <p:spPr>
          <a:xfrm>
            <a:off x="6629400" y="1856232"/>
            <a:ext cx="490775" cy="201168"/>
          </a:xfrm>
          <a:prstGeom prst="roundRect">
            <a:avLst>
              <a:gd name="adj" fmla="val 9091"/>
            </a:avLst>
          </a:prstGeom>
          <a:solidFill>
            <a:srgbClr val="0A1F3C"/>
          </a:solidFill>
          <a:ln/>
        </p:spPr>
        <p:txBody>
          <a:bodyPr/>
          <a:lstStyle/>
          <a:p>
            <a:endParaRPr lang="en-GB"/>
          </a:p>
        </p:txBody>
      </p:sp>
      <p:sp>
        <p:nvSpPr>
          <p:cNvPr id="45" name="Text 43"/>
          <p:cNvSpPr/>
          <p:nvPr/>
        </p:nvSpPr>
        <p:spPr>
          <a:xfrm>
            <a:off x="7193327" y="1819656"/>
            <a:ext cx="822960" cy="292608"/>
          </a:xfrm>
          <a:prstGeom prst="rect">
            <a:avLst/>
          </a:prstGeom>
          <a:noFill/>
          <a:ln/>
        </p:spPr>
        <p:txBody>
          <a:bodyPr wrap="square" lIns="0" tIns="0" rIns="0" bIns="0" rtlCol="0" anchor="ctr"/>
          <a:lstStyle/>
          <a:p>
            <a:pPr marL="0" indent="0">
              <a:buNone/>
            </a:pPr>
            <a:r>
              <a:rPr lang="en-US" sz="900" b="1" dirty="0">
                <a:solidFill>
                  <a:srgbClr val="5B6B82"/>
                </a:solidFill>
                <a:latin typeface="Courier New" pitchFamily="34" charset="0"/>
                <a:ea typeface="Courier New" pitchFamily="34" charset="-122"/>
                <a:cs typeface="Courier New" pitchFamily="34" charset="-120"/>
              </a:rPr>
              <a:t>1184 B</a:t>
            </a:r>
            <a:endParaRPr lang="en-US" sz="900" dirty="0"/>
          </a:p>
        </p:txBody>
      </p:sp>
      <p:sp>
        <p:nvSpPr>
          <p:cNvPr id="46" name="Text 44"/>
          <p:cNvSpPr/>
          <p:nvPr/>
        </p:nvSpPr>
        <p:spPr>
          <a:xfrm>
            <a:off x="4892040" y="2221992"/>
            <a:ext cx="1691640" cy="292608"/>
          </a:xfrm>
          <a:prstGeom prst="rect">
            <a:avLst/>
          </a:prstGeom>
          <a:noFill/>
          <a:ln/>
        </p:spPr>
        <p:txBody>
          <a:bodyPr wrap="square" lIns="0" tIns="0" rIns="0" bIns="0" rtlCol="0" anchor="ctr"/>
          <a:lstStyle/>
          <a:p>
            <a:pPr marL="0" indent="0">
              <a:buNone/>
            </a:pPr>
            <a:r>
              <a:rPr lang="en-US" sz="950" dirty="0">
                <a:solidFill>
                  <a:srgbClr val="17263D"/>
                </a:solidFill>
                <a:latin typeface="Calibri" pitchFamily="34" charset="0"/>
                <a:ea typeface="Calibri" pitchFamily="34" charset="-122"/>
                <a:cs typeface="Calibri" pitchFamily="34" charset="-120"/>
              </a:rPr>
              <a:t>Signatur Ed25519</a:t>
            </a:r>
            <a:endParaRPr lang="en-US" sz="950" dirty="0"/>
          </a:p>
        </p:txBody>
      </p:sp>
      <p:sp>
        <p:nvSpPr>
          <p:cNvPr id="47" name="Shape 45"/>
          <p:cNvSpPr/>
          <p:nvPr/>
        </p:nvSpPr>
        <p:spPr>
          <a:xfrm>
            <a:off x="6629400" y="2258568"/>
            <a:ext cx="45720" cy="201168"/>
          </a:xfrm>
          <a:prstGeom prst="roundRect">
            <a:avLst>
              <a:gd name="adj" fmla="val 40000"/>
            </a:avLst>
          </a:prstGeom>
          <a:solidFill>
            <a:srgbClr val="9DB2CC"/>
          </a:solidFill>
          <a:ln/>
        </p:spPr>
        <p:txBody>
          <a:bodyPr/>
          <a:lstStyle/>
          <a:p>
            <a:endParaRPr lang="en-GB"/>
          </a:p>
        </p:txBody>
      </p:sp>
      <p:sp>
        <p:nvSpPr>
          <p:cNvPr id="48" name="Text 46"/>
          <p:cNvSpPr/>
          <p:nvPr/>
        </p:nvSpPr>
        <p:spPr>
          <a:xfrm>
            <a:off x="6748272" y="2221992"/>
            <a:ext cx="822960" cy="292608"/>
          </a:xfrm>
          <a:prstGeom prst="rect">
            <a:avLst/>
          </a:prstGeom>
          <a:noFill/>
          <a:ln/>
        </p:spPr>
        <p:txBody>
          <a:bodyPr wrap="square" lIns="0" tIns="0" rIns="0" bIns="0" rtlCol="0" anchor="ctr"/>
          <a:lstStyle/>
          <a:p>
            <a:pPr marL="0" indent="0">
              <a:buNone/>
            </a:pPr>
            <a:r>
              <a:rPr lang="en-US" sz="900" b="1" dirty="0">
                <a:solidFill>
                  <a:srgbClr val="5B6B82"/>
                </a:solidFill>
                <a:latin typeface="Courier New" pitchFamily="34" charset="0"/>
                <a:ea typeface="Courier New" pitchFamily="34" charset="-122"/>
                <a:cs typeface="Courier New" pitchFamily="34" charset="-120"/>
              </a:rPr>
              <a:t>64 B</a:t>
            </a:r>
            <a:endParaRPr lang="en-US" sz="900" dirty="0"/>
          </a:p>
        </p:txBody>
      </p:sp>
      <p:sp>
        <p:nvSpPr>
          <p:cNvPr id="49" name="Text 47"/>
          <p:cNvSpPr/>
          <p:nvPr/>
        </p:nvSpPr>
        <p:spPr>
          <a:xfrm>
            <a:off x="4892040" y="2624328"/>
            <a:ext cx="1691640" cy="292608"/>
          </a:xfrm>
          <a:prstGeom prst="rect">
            <a:avLst/>
          </a:prstGeom>
          <a:noFill/>
          <a:ln/>
        </p:spPr>
        <p:txBody>
          <a:bodyPr wrap="square" lIns="0" tIns="0" rIns="0" bIns="0" rtlCol="0" anchor="ctr"/>
          <a:lstStyle/>
          <a:p>
            <a:pPr marL="0" indent="0">
              <a:buNone/>
            </a:pPr>
            <a:r>
              <a:rPr lang="en-US" sz="950" dirty="0">
                <a:solidFill>
                  <a:srgbClr val="17263D"/>
                </a:solidFill>
                <a:latin typeface="Calibri" pitchFamily="34" charset="0"/>
                <a:ea typeface="Calibri" pitchFamily="34" charset="-122"/>
                <a:cs typeface="Calibri" pitchFamily="34" charset="-120"/>
              </a:rPr>
              <a:t>Signatur ML-DSA-65</a:t>
            </a:r>
            <a:endParaRPr lang="en-US" sz="950" dirty="0"/>
          </a:p>
        </p:txBody>
      </p:sp>
      <p:sp>
        <p:nvSpPr>
          <p:cNvPr id="50" name="Shape 48"/>
          <p:cNvSpPr/>
          <p:nvPr/>
        </p:nvSpPr>
        <p:spPr>
          <a:xfrm>
            <a:off x="6629400" y="2660904"/>
            <a:ext cx="1371600" cy="201168"/>
          </a:xfrm>
          <a:prstGeom prst="roundRect">
            <a:avLst>
              <a:gd name="adj" fmla="val 9091"/>
            </a:avLst>
          </a:prstGeom>
          <a:solidFill>
            <a:srgbClr val="0E7A57"/>
          </a:solidFill>
          <a:ln/>
        </p:spPr>
        <p:txBody>
          <a:bodyPr/>
          <a:lstStyle/>
          <a:p>
            <a:endParaRPr lang="en-GB"/>
          </a:p>
        </p:txBody>
      </p:sp>
      <p:sp>
        <p:nvSpPr>
          <p:cNvPr id="51" name="Text 49"/>
          <p:cNvSpPr/>
          <p:nvPr/>
        </p:nvSpPr>
        <p:spPr>
          <a:xfrm>
            <a:off x="8074152" y="2624328"/>
            <a:ext cx="822960" cy="292608"/>
          </a:xfrm>
          <a:prstGeom prst="rect">
            <a:avLst/>
          </a:prstGeom>
          <a:noFill/>
          <a:ln/>
        </p:spPr>
        <p:txBody>
          <a:bodyPr wrap="square" lIns="0" tIns="0" rIns="0" bIns="0" rtlCol="0" anchor="ctr"/>
          <a:lstStyle/>
          <a:p>
            <a:pPr marL="0" indent="0">
              <a:buNone/>
            </a:pPr>
            <a:r>
              <a:rPr lang="en-US" sz="900" b="1" dirty="0">
                <a:solidFill>
                  <a:srgbClr val="5B6B82"/>
                </a:solidFill>
                <a:latin typeface="Courier New" pitchFamily="34" charset="0"/>
                <a:ea typeface="Courier New" pitchFamily="34" charset="-122"/>
                <a:cs typeface="Courier New" pitchFamily="34" charset="-120"/>
              </a:rPr>
              <a:t>3309 B</a:t>
            </a:r>
            <a:endParaRPr lang="en-US" sz="900" dirty="0"/>
          </a:p>
        </p:txBody>
      </p:sp>
      <p:sp>
        <p:nvSpPr>
          <p:cNvPr id="52" name="Shape 50"/>
          <p:cNvSpPr/>
          <p:nvPr/>
        </p:nvSpPr>
        <p:spPr>
          <a:xfrm>
            <a:off x="4663440" y="3337560"/>
            <a:ext cx="3931920" cy="960120"/>
          </a:xfrm>
          <a:prstGeom prst="roundRect">
            <a:avLst>
              <a:gd name="adj" fmla="val 9524"/>
            </a:avLst>
          </a:prstGeom>
          <a:solidFill>
            <a:srgbClr val="EAF7F1"/>
          </a:solidFill>
          <a:ln/>
          <a:effectLst>
            <a:outerShdw blurRad="101600" dist="38100" dir="2700000" algn="bl" rotWithShape="0">
              <a:srgbClr val="1A2A44">
                <a:alpha val="18000"/>
              </a:srgbClr>
            </a:outerShdw>
          </a:effectLst>
        </p:spPr>
        <p:txBody>
          <a:bodyPr/>
          <a:lstStyle/>
          <a:p>
            <a:endParaRPr lang="en-GB"/>
          </a:p>
        </p:txBody>
      </p:sp>
      <p:sp>
        <p:nvSpPr>
          <p:cNvPr id="53" name="Text 51"/>
          <p:cNvSpPr/>
          <p:nvPr/>
        </p:nvSpPr>
        <p:spPr>
          <a:xfrm>
            <a:off x="4892040" y="3456432"/>
            <a:ext cx="3474720" cy="777240"/>
          </a:xfrm>
          <a:prstGeom prst="rect">
            <a:avLst/>
          </a:prstGeom>
          <a:noFill/>
          <a:ln/>
        </p:spPr>
        <p:txBody>
          <a:bodyPr wrap="square" rtlCol="0" anchor="t"/>
          <a:lstStyle/>
          <a:p>
            <a:pPr marL="0" indent="0">
              <a:lnSpc>
                <a:spcPct val="110000"/>
              </a:lnSpc>
              <a:buNone/>
            </a:pPr>
            <a:r>
              <a:rPr lang="en-US" sz="1050" b="1" dirty="0">
                <a:solidFill>
                  <a:srgbClr val="0E7A57"/>
                </a:solidFill>
                <a:latin typeface="Calibri" pitchFamily="34" charset="0"/>
                <a:ea typeface="Calibri" pitchFamily="34" charset="-122"/>
                <a:cs typeface="Calibri" pitchFamily="34" charset="-120"/>
              </a:rPr>
              <a:t>Der Gewinn: Tempo bleibt.</a:t>
            </a:r>
            <a:endParaRPr lang="en-US" sz="1050" dirty="0"/>
          </a:p>
          <a:p>
            <a:pPr marL="0" indent="0">
              <a:lnSpc>
                <a:spcPct val="110000"/>
              </a:lnSpc>
              <a:buNone/>
            </a:pPr>
            <a:r>
              <a:rPr lang="en-US" sz="1050" dirty="0">
                <a:solidFill>
                  <a:srgbClr val="17263D"/>
                </a:solidFill>
                <a:latin typeface="Calibri" pitchFamily="34" charset="0"/>
                <a:ea typeface="Calibri" pitchFamily="34" charset="-122"/>
                <a:cs typeface="Calibri" pitchFamily="34" charset="-120"/>
              </a:rPr>
              <a:t>Alle PQ-Operationen unter 5 ms auf Server-Hardware (eigene Messungen, Folie 7). Kosten sind Bandbreite, nicht Rechenzeit.</a:t>
            </a:r>
            <a:endParaRPr lang="en-US" sz="1050" dirty="0"/>
          </a:p>
        </p:txBody>
      </p:sp>
      <p:sp>
        <p:nvSpPr>
          <p:cNvPr id="54" name="Text 52"/>
          <p:cNvSpPr/>
          <p:nvPr/>
        </p:nvSpPr>
        <p:spPr>
          <a:xfrm>
            <a:off x="548640" y="4526280"/>
            <a:ext cx="8046720" cy="274320"/>
          </a:xfrm>
          <a:prstGeom prst="rect">
            <a:avLst/>
          </a:prstGeom>
          <a:noFill/>
          <a:ln/>
        </p:spPr>
        <p:txBody>
          <a:bodyPr wrap="square" rtlCol="0" anchor="ctr"/>
          <a:lstStyle/>
          <a:p>
            <a:pPr marL="0" indent="0">
              <a:buNone/>
            </a:pPr>
            <a:r>
              <a:rPr lang="en-US" sz="900" i="1" dirty="0">
                <a:solidFill>
                  <a:srgbClr val="5B6B82"/>
                </a:solidFill>
                <a:latin typeface="Calibri" pitchFamily="34" charset="0"/>
                <a:ea typeface="Calibri" pitchFamily="34" charset="-122"/>
                <a:cs typeface="Calibri" pitchFamily="34" charset="-120"/>
              </a:rPr>
              <a:t>Quellen: NIST FIPS 203 (ML-KEM) und FIPS 204 (ML-DSA), August 2024. Groessen gemaess Standard-Spezifikation.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3713</Words>
  <Application>Microsoft Office PowerPoint</Application>
  <PresentationFormat>Bildschirmpräsentation (16:9)</PresentationFormat>
  <Paragraphs>232</Paragraphs>
  <Slides>14</Slides>
  <Notes>14</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14</vt:i4>
      </vt:variant>
    </vt:vector>
  </HeadingPairs>
  <TitlesOfParts>
    <vt:vector size="19" baseType="lpstr">
      <vt:lpstr>Arial</vt:lpstr>
      <vt:lpstr>Calibri</vt:lpstr>
      <vt:lpstr>Cambria</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Post-Quantum Cryptography</dc:title>
  <dc:subject>PptxGenJS Presentation</dc:subject>
  <dc:creator>Dodoe Ruminahui Mannale</dc:creator>
  <cp:lastModifiedBy>Mannale Dodoe</cp:lastModifiedBy>
  <cp:revision>4</cp:revision>
  <dcterms:created xsi:type="dcterms:W3CDTF">2026-07-08T05:47:17Z</dcterms:created>
  <dcterms:modified xsi:type="dcterms:W3CDTF">2026-07-08T08:55:44Z</dcterms:modified>
</cp:coreProperties>
</file>